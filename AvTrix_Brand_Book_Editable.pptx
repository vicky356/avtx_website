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4174b0bdce4e5d" /><Relationship Type="http://schemas.openxmlformats.org/officeDocument/2006/relationships/extended-properties" Target="/docProps/app.xml" Id="R308ffba510384f22" /><Relationship Type="http://schemas.openxmlformats.org/officeDocument/2006/relationships/officeDocument" Target="/ppt/presentation.xml" Id="R532c9904240a45d5" /></Relationships>
</file>

<file path=ppt/presentation.xml><?xml version="1.0" encoding="utf-8"?>
<p:presentation xmlns:p="http://schemas.openxmlformats.org/presentationml/2006/main">
  <p:sldMasterIdLst>
    <p:sldMasterId xmlns:r="http://schemas.openxmlformats.org/officeDocument/2006/relationships" id="2147483648" r:id="R95218ae7342b4023"/>
  </p:sldMasterIdLst>
  <p:notesMasterIdLst>
    <p:notesMasterId xmlns:r="http://schemas.openxmlformats.org/officeDocument/2006/relationships" r:id="Ree247f583ba2412e"/>
  </p:notesMasterIdLst>
  <p:sldIdLst>
    <p:sldId xmlns:r="http://schemas.openxmlformats.org/officeDocument/2006/relationships" id="256" r:id="Rd7be4b91a8bd4519"/>
    <p:sldId xmlns:r="http://schemas.openxmlformats.org/officeDocument/2006/relationships" id="257" r:id="Refa8ebcbcece483b"/>
    <p:sldId xmlns:r="http://schemas.openxmlformats.org/officeDocument/2006/relationships" id="258" r:id="R91c5349469904d2e"/>
    <p:sldId xmlns:r="http://schemas.openxmlformats.org/officeDocument/2006/relationships" id="259" r:id="R182eeea3ac7e4865"/>
    <p:sldId xmlns:r="http://schemas.openxmlformats.org/officeDocument/2006/relationships" id="260" r:id="Rf1dc24a3bd7c4d5c"/>
    <p:sldId xmlns:r="http://schemas.openxmlformats.org/officeDocument/2006/relationships" id="261" r:id="Rcf215939749f4262"/>
    <p:sldId xmlns:r="http://schemas.openxmlformats.org/officeDocument/2006/relationships" id="262" r:id="Rb88cde1d59534ed3"/>
    <p:sldId xmlns:r="http://schemas.openxmlformats.org/officeDocument/2006/relationships" id="263" r:id="R7cdf310a69d94402"/>
    <p:sldId xmlns:r="http://schemas.openxmlformats.org/officeDocument/2006/relationships" id="264" r:id="R967afdbf5c9041b6"/>
    <p:sldId xmlns:r="http://schemas.openxmlformats.org/officeDocument/2006/relationships" id="265" r:id="R7ffbe945e59c490d"/>
    <p:sldId xmlns:r="http://schemas.openxmlformats.org/officeDocument/2006/relationships" id="266" r:id="R4ceed94324df4c0f"/>
    <p:sldId xmlns:r="http://schemas.openxmlformats.org/officeDocument/2006/relationships" id="267" r:id="R0d73614d43eb470b"/>
    <p:sldId xmlns:r="http://schemas.openxmlformats.org/officeDocument/2006/relationships" id="268" r:id="Recdf69c6c0ce4f24"/>
    <p:sldId xmlns:r="http://schemas.openxmlformats.org/officeDocument/2006/relationships" id="269" r:id="R3fc165f12ef64a9d"/>
    <p:sldId xmlns:r="http://schemas.openxmlformats.org/officeDocument/2006/relationships" id="270" r:id="Ref56dcfd74144498"/>
    <p:sldId xmlns:r="http://schemas.openxmlformats.org/officeDocument/2006/relationships" id="271" r:id="R9b379ee4002148c2"/>
    <p:sldId xmlns:r="http://schemas.openxmlformats.org/officeDocument/2006/relationships" id="272" r:id="Rcd233cbb4eff41c3"/>
    <p:sldId xmlns:r="http://schemas.openxmlformats.org/officeDocument/2006/relationships" id="273" r:id="R6444665d6f574c18"/>
    <p:sldId xmlns:r="http://schemas.openxmlformats.org/officeDocument/2006/relationships" id="274" r:id="R06e903be5a344b2f"/>
    <p:sldId xmlns:r="http://schemas.openxmlformats.org/officeDocument/2006/relationships" id="275" r:id="R7e4c1af502864aff"/>
    <p:sldId xmlns:r="http://schemas.openxmlformats.org/officeDocument/2006/relationships" id="276" r:id="Rb65b2235000b4036"/>
    <p:sldId xmlns:r="http://schemas.openxmlformats.org/officeDocument/2006/relationships" id="277" r:id="R14f467ebf84c4d23"/>
    <p:sldId xmlns:r="http://schemas.openxmlformats.org/officeDocument/2006/relationships" id="278" r:id="Rcb33ccadfad5419a"/>
    <p:sldId xmlns:r="http://schemas.openxmlformats.org/officeDocument/2006/relationships" id="279" r:id="R0ee476fc7b144887"/>
    <p:sldId xmlns:r="http://schemas.openxmlformats.org/officeDocument/2006/relationships" id="280" r:id="Rab3b27142bcb4323"/>
    <p:sldId xmlns:r="http://schemas.openxmlformats.org/officeDocument/2006/relationships" id="281" r:id="R27bc190e1f104f35"/>
    <p:sldId xmlns:r="http://schemas.openxmlformats.org/officeDocument/2006/relationships" id="282" r:id="R4c4218521dc847df"/>
    <p:sldId xmlns:r="http://schemas.openxmlformats.org/officeDocument/2006/relationships" id="283" r:id="Rfffa7ff8ca1a4f7a"/>
    <p:sldId xmlns:r="http://schemas.openxmlformats.org/officeDocument/2006/relationships" id="284" r:id="R771a92c4931346b2"/>
    <p:sldId xmlns:r="http://schemas.openxmlformats.org/officeDocument/2006/relationships" id="285" r:id="Rd933930e5e6742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4f697f7f274a8f" /><Relationship Type="http://schemas.openxmlformats.org/officeDocument/2006/relationships/slideMaster" Target="/ppt/slideMasters/slideMaster1.xml" Id="R95218ae7342b4023" /><Relationship Type="http://schemas.openxmlformats.org/officeDocument/2006/relationships/notesMaster" Target="/ppt/notesMasters/notesMaster1.xml" Id="Ree247f583ba2412e" /><Relationship Type="http://schemas.openxmlformats.org/officeDocument/2006/relationships/presProps" Target="/ppt/presProps.xml" Id="R45d8dbc893d04d64" /><Relationship Type="http://schemas.openxmlformats.org/officeDocument/2006/relationships/tableStyles" Target="/ppt/tableStyles.xml" Id="Rd9bf1815b67c46f0" /><Relationship Type="http://schemas.openxmlformats.org/officeDocument/2006/relationships/slide" Target="/ppt/slides/slide1.xml" Id="Rd7be4b91a8bd4519" /><Relationship Type="http://schemas.openxmlformats.org/officeDocument/2006/relationships/slide" Target="/ppt/slides/slide2.xml" Id="Refa8ebcbcece483b" /><Relationship Type="http://schemas.openxmlformats.org/officeDocument/2006/relationships/slide" Target="/ppt/slides/slide3.xml" Id="R91c5349469904d2e" /><Relationship Type="http://schemas.openxmlformats.org/officeDocument/2006/relationships/slide" Target="/ppt/slides/slide4.xml" Id="R182eeea3ac7e4865" /><Relationship Type="http://schemas.openxmlformats.org/officeDocument/2006/relationships/slide" Target="/ppt/slides/slide5.xml" Id="Rf1dc24a3bd7c4d5c" /><Relationship Type="http://schemas.openxmlformats.org/officeDocument/2006/relationships/slide" Target="/ppt/slides/slide6.xml" Id="Rcf215939749f4262" /><Relationship Type="http://schemas.openxmlformats.org/officeDocument/2006/relationships/slide" Target="/ppt/slides/slide7.xml" Id="Rb88cde1d59534ed3" /><Relationship Type="http://schemas.openxmlformats.org/officeDocument/2006/relationships/slide" Target="/ppt/slides/slide8.xml" Id="R7cdf310a69d94402" /><Relationship Type="http://schemas.openxmlformats.org/officeDocument/2006/relationships/slide" Target="/ppt/slides/slide9.xml" Id="R967afdbf5c9041b6" /><Relationship Type="http://schemas.openxmlformats.org/officeDocument/2006/relationships/slide" Target="/ppt/slides/slide10.xml" Id="R7ffbe945e59c490d" /><Relationship Type="http://schemas.openxmlformats.org/officeDocument/2006/relationships/slide" Target="/ppt/slides/slide11.xml" Id="R4ceed94324df4c0f" /><Relationship Type="http://schemas.openxmlformats.org/officeDocument/2006/relationships/slide" Target="/ppt/slides/slide12.xml" Id="R0d73614d43eb470b" /><Relationship Type="http://schemas.openxmlformats.org/officeDocument/2006/relationships/slide" Target="/ppt/slides/slide13.xml" Id="Recdf69c6c0ce4f24" /><Relationship Type="http://schemas.openxmlformats.org/officeDocument/2006/relationships/slide" Target="/ppt/slides/slide14.xml" Id="R3fc165f12ef64a9d" /><Relationship Type="http://schemas.openxmlformats.org/officeDocument/2006/relationships/slide" Target="/ppt/slides/slide15.xml" Id="Ref56dcfd74144498" /><Relationship Type="http://schemas.openxmlformats.org/officeDocument/2006/relationships/slide" Target="/ppt/slides/slide16.xml" Id="R9b379ee4002148c2" /><Relationship Type="http://schemas.openxmlformats.org/officeDocument/2006/relationships/slide" Target="/ppt/slides/slide17.xml" Id="Rcd233cbb4eff41c3" /><Relationship Type="http://schemas.openxmlformats.org/officeDocument/2006/relationships/slide" Target="/ppt/slides/slide18.xml" Id="R6444665d6f574c18" /><Relationship Type="http://schemas.openxmlformats.org/officeDocument/2006/relationships/slide" Target="/ppt/slides/slide19.xml" Id="R06e903be5a344b2f" /><Relationship Type="http://schemas.openxmlformats.org/officeDocument/2006/relationships/slide" Target="/ppt/slides/slide20.xml" Id="R7e4c1af502864aff" /><Relationship Type="http://schemas.openxmlformats.org/officeDocument/2006/relationships/slide" Target="/ppt/slides/slide21.xml" Id="Rb65b2235000b4036" /><Relationship Type="http://schemas.openxmlformats.org/officeDocument/2006/relationships/slide" Target="/ppt/slides/slide22.xml" Id="R14f467ebf84c4d23" /><Relationship Type="http://schemas.openxmlformats.org/officeDocument/2006/relationships/slide" Target="/ppt/slides/slide23.xml" Id="Rcb33ccadfad5419a" /><Relationship Type="http://schemas.openxmlformats.org/officeDocument/2006/relationships/slide" Target="/ppt/slides/slide24.xml" Id="R0ee476fc7b144887" /><Relationship Type="http://schemas.openxmlformats.org/officeDocument/2006/relationships/slide" Target="/ppt/slides/slide25.xml" Id="Rab3b27142bcb4323" /><Relationship Type="http://schemas.openxmlformats.org/officeDocument/2006/relationships/slide" Target="/ppt/slides/slide26.xml" Id="R27bc190e1f104f35" /><Relationship Type="http://schemas.openxmlformats.org/officeDocument/2006/relationships/slide" Target="/ppt/slides/slide27.xml" Id="R4c4218521dc847df" /><Relationship Type="http://schemas.openxmlformats.org/officeDocument/2006/relationships/slide" Target="/ppt/slides/slide28.xml" Id="Rfffa7ff8ca1a4f7a" /><Relationship Type="http://schemas.openxmlformats.org/officeDocument/2006/relationships/slide" Target="/ppt/slides/slide29.xml" Id="R771a92c4931346b2" /><Relationship Type="http://schemas.openxmlformats.org/officeDocument/2006/relationships/slide" Target="/ppt/slides/slide30.xml" Id="Rd933930e5e67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4523bd1e0d42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e7a53814394bfd" /><Relationship Type="http://schemas.openxmlformats.org/officeDocument/2006/relationships/notesMaster" Target="/ppt/notesMasters/notesMaster1.xml" Id="R1ca7df3199a545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6b182c2f814a34" /><Relationship Type="http://schemas.openxmlformats.org/officeDocument/2006/relationships/notesMaster" Target="/ppt/notesMasters/notesMaster1.xml" Id="R113113ba683349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8a91111fc941f8" /><Relationship Type="http://schemas.openxmlformats.org/officeDocument/2006/relationships/notesMaster" Target="/ppt/notesMasters/notesMaster1.xml" Id="Rb2396501aa764b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da2effdefd4b58" /><Relationship Type="http://schemas.openxmlformats.org/officeDocument/2006/relationships/notesMaster" Target="/ppt/notesMasters/notesMaster1.xml" Id="R66592d9d57f343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d5286ba38b4364" /><Relationship Type="http://schemas.openxmlformats.org/officeDocument/2006/relationships/notesMaster" Target="/ppt/notesMasters/notesMaster1.xml" Id="R5e044e60e7b649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aa5550ec0f45d8" /><Relationship Type="http://schemas.openxmlformats.org/officeDocument/2006/relationships/notesMaster" Target="/ppt/notesMasters/notesMaster1.xml" Id="Rc54bff64085948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836bdf8d494ef5" /><Relationship Type="http://schemas.openxmlformats.org/officeDocument/2006/relationships/notesMaster" Target="/ppt/notesMasters/notesMaster1.xml" Id="R0f24f205c77244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52ac509a7f4ad1" /><Relationship Type="http://schemas.openxmlformats.org/officeDocument/2006/relationships/notesMaster" Target="/ppt/notesMasters/notesMaster1.xml" Id="R0bf8d9b39ca04b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f667a2ff444cd0" /><Relationship Type="http://schemas.openxmlformats.org/officeDocument/2006/relationships/notesMaster" Target="/ppt/notesMasters/notesMaster1.xml" Id="Rc7875bd9cbff4c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13ad8092944d93" /><Relationship Type="http://schemas.openxmlformats.org/officeDocument/2006/relationships/notesMaster" Target="/ppt/notesMasters/notesMaster1.xml" Id="R38d6c875053c48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3120fed0f74e6a" /><Relationship Type="http://schemas.openxmlformats.org/officeDocument/2006/relationships/notesMaster" Target="/ppt/notesMasters/notesMaster1.xml" Id="Rc6cead95e4574d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fbc82a0ac54d7b" /><Relationship Type="http://schemas.openxmlformats.org/officeDocument/2006/relationships/notesMaster" Target="/ppt/notesMasters/notesMaster1.xml" Id="R43956a29e11d41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d7770e89d24490" /><Relationship Type="http://schemas.openxmlformats.org/officeDocument/2006/relationships/notesMaster" Target="/ppt/notesMasters/notesMaster1.xml" Id="Rdab262ae2e6a46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5486013ea1413d" /><Relationship Type="http://schemas.openxmlformats.org/officeDocument/2006/relationships/notesMaster" Target="/ppt/notesMasters/notesMaster1.xml" Id="Rd2cb1de6f6004a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23508ef9cc4356" /><Relationship Type="http://schemas.openxmlformats.org/officeDocument/2006/relationships/notesMaster" Target="/ppt/notesMasters/notesMaster1.xml" Id="Ra1f8d15caa1345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e18b4365be4d1b" /><Relationship Type="http://schemas.openxmlformats.org/officeDocument/2006/relationships/notesMaster" Target="/ppt/notesMasters/notesMaster1.xml" Id="R48b71bd1f61e4b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b872fd02214e65" /><Relationship Type="http://schemas.openxmlformats.org/officeDocument/2006/relationships/notesMaster" Target="/ppt/notesMasters/notesMaster1.xml" Id="R15f394f94e2b4b1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5675a733584e46" /><Relationship Type="http://schemas.openxmlformats.org/officeDocument/2006/relationships/notesMaster" Target="/ppt/notesMasters/notesMaster1.xml" Id="R4b7e2d13f28341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b59873e38f47f7" /><Relationship Type="http://schemas.openxmlformats.org/officeDocument/2006/relationships/notesMaster" Target="/ppt/notesMasters/notesMaster1.xml" Id="R0f87702bf48d47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92bebcedb54b27" /><Relationship Type="http://schemas.openxmlformats.org/officeDocument/2006/relationships/notesMaster" Target="/ppt/notesMasters/notesMaster1.xml" Id="R0f88cc5587214d3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ff39c9a5331403c" /><Relationship Type="http://schemas.openxmlformats.org/officeDocument/2006/relationships/notesMaster" Target="/ppt/notesMasters/notesMaster1.xml" Id="R08dea3dde97d4b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81255e626246f3" /><Relationship Type="http://schemas.openxmlformats.org/officeDocument/2006/relationships/notesMaster" Target="/ppt/notesMasters/notesMaster1.xml" Id="R2930889b37eb43e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db7dfac8054578" /><Relationship Type="http://schemas.openxmlformats.org/officeDocument/2006/relationships/notesMaster" Target="/ppt/notesMasters/notesMaster1.xml" Id="R60178fbc5f1a45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b54e7e0f264947" /><Relationship Type="http://schemas.openxmlformats.org/officeDocument/2006/relationships/notesMaster" Target="/ppt/notesMasters/notesMaster1.xml" Id="R22942a6f68e9449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80f4e81d0a4795" /><Relationship Type="http://schemas.openxmlformats.org/officeDocument/2006/relationships/notesMaster" Target="/ppt/notesMasters/notesMaster1.xml" Id="R0e255dfd400b42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6717f2650a44f2" /><Relationship Type="http://schemas.openxmlformats.org/officeDocument/2006/relationships/notesMaster" Target="/ppt/notesMasters/notesMaster1.xml" Id="R6f86e60eeea14b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25ac3725c84091" /><Relationship Type="http://schemas.openxmlformats.org/officeDocument/2006/relationships/notesMaster" Target="/ppt/notesMasters/notesMaster1.xml" Id="R4eec218a7a034c7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9998cd0e1e432d" /><Relationship Type="http://schemas.openxmlformats.org/officeDocument/2006/relationships/notesMaster" Target="/ppt/notesMasters/notesMaster1.xml" Id="R40fc56cd4bc641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f0334225a44afa" /><Relationship Type="http://schemas.openxmlformats.org/officeDocument/2006/relationships/notesMaster" Target="/ppt/notesMasters/notesMaster1.xml" Id="R63b5e6384de14e6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f0cb6fa4c54ce3" /><Relationship Type="http://schemas.openxmlformats.org/officeDocument/2006/relationships/notesMaster" Target="/ppt/notesMasters/notesMaster1.xml" Id="Rc165630cda3647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photography is AI-generated for editorial direction. It is not the AvTrix logo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image is AI-generated editorial photography. Any technical claim must use verified source data in final client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image is AI-generated editorial photography and carries no airline 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ce7cc3c89847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9d8c9c0ead4348" /><Relationship Type="http://schemas.openxmlformats.org/officeDocument/2006/relationships/slideLayout" Target="/ppt/slideLayouts/slideLayout1.xml" Id="R6e98a5e7ac5840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98a5e7ac5840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15f95db27c4557" /><Relationship Type="http://schemas.openxmlformats.org/officeDocument/2006/relationships/image" Target="/ppt/media/image.png" Id="R111db34832db4105" /><Relationship Type="http://schemas.openxmlformats.org/officeDocument/2006/relationships/notesSlide" Target="/ppt/notesSlides/notesSlide1.xml" Id="R2c9668de64f742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56aaef21f74b42" /><Relationship Type="http://schemas.openxmlformats.org/officeDocument/2006/relationships/notesSlide" Target="/ppt/notesSlides/notesSlide2.xml" Id="R4b50822355444b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d933ce4bde4857" /><Relationship Type="http://schemas.openxmlformats.org/officeDocument/2006/relationships/notesSlide" Target="/ppt/notesSlides/notesSlide3.xml" Id="Rff17d1eefc3f4f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7e3623a2284e4c" /><Relationship Type="http://schemas.openxmlformats.org/officeDocument/2006/relationships/notesSlide" Target="/ppt/notesSlides/notesSlide4.xml" Id="R63f0a908daf94f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6b6c5389864482" /><Relationship Type="http://schemas.openxmlformats.org/officeDocument/2006/relationships/notesSlide" Target="/ppt/notesSlides/notesSlide5.xml" Id="R367a707bac9840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9de98b62d04922" /><Relationship Type="http://schemas.openxmlformats.org/officeDocument/2006/relationships/notesSlide" Target="/ppt/notesSlides/notesSlide6.xml" Id="R0065c7f0aacb42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ba37b49e8c41ca" /><Relationship Type="http://schemas.openxmlformats.org/officeDocument/2006/relationships/notesSlide" Target="/ppt/notesSlides/notesSlide7.xml" Id="Re83960143e724e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1ae0cade704bc8" /><Relationship Type="http://schemas.openxmlformats.org/officeDocument/2006/relationships/notesSlide" Target="/ppt/notesSlides/notesSlide8.xml" Id="Ra785013cccc24a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df1b7d19824dae" /><Relationship Type="http://schemas.openxmlformats.org/officeDocument/2006/relationships/notesSlide" Target="/ppt/notesSlides/notesSlide9.xml" Id="Rdcfe6ca2da4f40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191137546f44ee" /><Relationship Type="http://schemas.openxmlformats.org/officeDocument/2006/relationships/notesSlide" Target="/ppt/notesSlides/notesSlide10.xml" Id="R16585bc8dc4141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a69cfc2fb44fa5" /><Relationship Type="http://schemas.openxmlformats.org/officeDocument/2006/relationships/notesSlide" Target="/ppt/notesSlides/notesSlide11.xml" Id="R512043e147d642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2311b1dfda4de5" /><Relationship Type="http://schemas.openxmlformats.org/officeDocument/2006/relationships/notesSlide" Target="/ppt/notesSlides/notesSlide12.xml" Id="R4f79f2a9be7842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73bd12965642f4" /><Relationship Type="http://schemas.openxmlformats.org/officeDocument/2006/relationships/notesSlide" Target="/ppt/notesSlides/notesSlide13.xml" Id="Rebcd01c1ce9a40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103a8430ac4086" /><Relationship Type="http://schemas.openxmlformats.org/officeDocument/2006/relationships/notesSlide" Target="/ppt/notesSlides/notesSlide14.xml" Id="R85ec79b1041a41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42ffccc8cd43a3" /><Relationship Type="http://schemas.openxmlformats.org/officeDocument/2006/relationships/notesSlide" Target="/ppt/notesSlides/notesSlide15.xml" Id="R84b1cbfc326946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d2b31b63044de8" /><Relationship Type="http://schemas.openxmlformats.org/officeDocument/2006/relationships/notesSlide" Target="/ppt/notesSlides/notesSlide16.xml" Id="R36f0907d982e45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52d9a48b1e4b72" /><Relationship Type="http://schemas.openxmlformats.org/officeDocument/2006/relationships/notesSlide" Target="/ppt/notesSlides/notesSlide17.xml" Id="Rb7c306c40f074b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496e2808544460" /><Relationship Type="http://schemas.openxmlformats.org/officeDocument/2006/relationships/notesSlide" Target="/ppt/notesSlides/notesSlide18.xml" Id="Rd72c113f8eb744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58de7eabf549f9" /><Relationship Type="http://schemas.openxmlformats.org/officeDocument/2006/relationships/notesSlide" Target="/ppt/notesSlides/notesSlide19.xml" Id="Rc55943c259d344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4a3653e65434861" /><Relationship Type="http://schemas.openxmlformats.org/officeDocument/2006/relationships/notesSlide" Target="/ppt/notesSlides/notesSlide20.xml" Id="Rc7d08f1b7a634a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a541d02caeb4ea8" /><Relationship Type="http://schemas.openxmlformats.org/officeDocument/2006/relationships/notesSlide" Target="/ppt/notesSlides/notesSlide21.xml" Id="R4c28e0af307c48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a01e52e9eea46c1" /><Relationship Type="http://schemas.openxmlformats.org/officeDocument/2006/relationships/notesSlide" Target="/ppt/notesSlides/notesSlide22.xml" Id="R16b47dad3d7040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ac546c69b647c4" /><Relationship Type="http://schemas.openxmlformats.org/officeDocument/2006/relationships/notesSlide" Target="/ppt/notesSlides/notesSlide23.xml" Id="R4c4769b402d243f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65a20e8f5304d3b" /><Relationship Type="http://schemas.openxmlformats.org/officeDocument/2006/relationships/notesSlide" Target="/ppt/notesSlides/notesSlide24.xml" Id="R2e5331c6121744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7ce9959d0e4c60" /><Relationship Type="http://schemas.openxmlformats.org/officeDocument/2006/relationships/notesSlide" Target="/ppt/notesSlides/notesSlide25.xml" Id="R5f54b086798e41c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79ff6dbc69241cb" /><Relationship Type="http://schemas.openxmlformats.org/officeDocument/2006/relationships/image" Target="/ppt/media/image2.png" Id="R608ecdb0f32b4a4b" /><Relationship Type="http://schemas.openxmlformats.org/officeDocument/2006/relationships/notesSlide" Target="/ppt/notesSlides/notesSlide26.xml" Id="Rb87aa1581c7c4df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04452ad700c4abd" /><Relationship Type="http://schemas.openxmlformats.org/officeDocument/2006/relationships/notesSlide" Target="/ppt/notesSlides/notesSlide27.xml" Id="R97eda9520d91493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bdfb9098394649" /><Relationship Type="http://schemas.openxmlformats.org/officeDocument/2006/relationships/image" Target="/ppt/media/image3.png" Id="R08293028362e43ee" /><Relationship Type="http://schemas.openxmlformats.org/officeDocument/2006/relationships/notesSlide" Target="/ppt/notesSlides/notesSlide28.xml" Id="Rab0a2d9a94a2490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303fab283b74501" /><Relationship Type="http://schemas.openxmlformats.org/officeDocument/2006/relationships/notesSlide" Target="/ppt/notesSlides/notesSlide29.xml" Id="Raf6ff4990c10472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0a74a0d5c4f4350" /><Relationship Type="http://schemas.openxmlformats.org/officeDocument/2006/relationships/notesSlide" Target="/ppt/notesSlides/notesSlide30.xml" Id="Rd3b9484702584376" /></Relationships>
</file>

<file path=ppt/slides/slide1.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11db34832db410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DDB948-0FCA-4E49-A2DF-A1F6CC3562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01318">
                  <a:alpha val="96000"/>
                </a:srgbClr>
              </a:gs>
              <a:gs pos="42000">
                <a:srgbClr val="1A1F25">
                  <a:alpha val="84000"/>
                </a:srgbClr>
              </a:gs>
              <a:gs pos="77000">
                <a:srgbClr val="1A1F25">
                  <a:alpha val="18000"/>
                </a:srgbClr>
              </a:gs>
              <a:gs pos="100000">
                <a:srgbClr val="1A1F25">
                  <a:alpha val="8000"/>
                </a:srgbClr>
              </a:gs>
            </a:gsLst>
            <a:lin ang="54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35E635-D1DA-47BF-8983-F404CA5BDACF}"/>
              </a:ext>
            </a:extLst>
          </p:cNvPr>
          <p:cNvSpPr>
            <a:spLocks xmlns:a="http://schemas.openxmlformats.org/drawingml/2006/main" noGrp="1"/>
          </p:cNvSpPr>
          <p:nvPr/>
        </p:nvSpPr>
        <p:spPr>
          <a:xfrm xmlns:a="http://schemas.openxmlformats.org/drawingml/2006/main">
            <a:off x="704850" y="533400"/>
            <a:ext cx="2500313" cy="6200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3308" b="1">
                <a:solidFill>
                  <a:srgbClr val="FCFAF6"/>
                </a:solidFill>
                <a:latin typeface="Bahnschrift"/>
                <a:ea typeface="Bahnschrift"/>
                <a:cs typeface="Bahnschrift"/>
              </a:rPr>
              <a:t>AvTri</a:t>
            </a:r>
            <a:r>
              <a:rPr sz="3308" b="1">
                <a:solidFill>
                  <a:srgbClr val="CBA36A"/>
                </a:solidFill>
                <a:latin typeface="Bahnschrift"/>
                <a:ea typeface="Bahnschrift"/>
                <a:cs typeface="Bahnschrift"/>
              </a:rPr>
              <a:t>X</a:t>
            </a:r>
          </a:p>
        </p:txBody>
      </p:sp>
      <p:sp>
        <p:nvSpPr>
          <p:cNvPr id="4" name="">
            <a:extLst xmlns:a="http://schemas.openxmlformats.org/drawingml/2006/main">
              <a:ext uri="{FF2B5EF4-FFF2-40B4-BE49-F238E27FC236}">
                <a16:creationId xmlns:a16="http://schemas.microsoft.com/office/drawing/2014/main" id="{5997CDC7-76A4-47C5-8F2A-D65B2585D23D}"/>
              </a:ext>
            </a:extLst>
          </p:cNvPr>
          <p:cNvSpPr>
            <a:spLocks xmlns:a="http://schemas.openxmlformats.org/drawingml/2006/main" noGrp="1"/>
          </p:cNvSpPr>
          <p:nvPr/>
        </p:nvSpPr>
        <p:spPr>
          <a:xfrm xmlns:a="http://schemas.openxmlformats.org/drawingml/2006/main">
            <a:off x="723900" y="14287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BRAND BOOK  |  MASTER DIRECTION</a:t>
            </a:r>
          </a:p>
        </p:txBody>
      </p:sp>
      <p:sp>
        <p:nvSpPr>
          <p:cNvPr id="5" name="">
            <a:extLst xmlns:a="http://schemas.openxmlformats.org/drawingml/2006/main">
              <a:ext uri="{FF2B5EF4-FFF2-40B4-BE49-F238E27FC236}">
                <a16:creationId xmlns:a16="http://schemas.microsoft.com/office/drawing/2014/main" id="{57199CBC-A105-4295-AECD-EBF4F7798FDD}"/>
              </a:ext>
            </a:extLst>
          </p:cNvPr>
          <p:cNvSpPr>
            <a:spLocks xmlns:a="http://schemas.openxmlformats.org/drawingml/2006/main" noGrp="1"/>
          </p:cNvSpPr>
          <p:nvPr/>
        </p:nvSpPr>
        <p:spPr>
          <a:xfrm xmlns:a="http://schemas.openxmlformats.org/drawingml/2006/main">
            <a:off x="704850" y="2152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i="0">
                <a:solidFill>
                  <a:srgbClr val="FCFAF6"/>
                </a:solidFill>
                <a:latin typeface="Bahnschrift"/>
                <a:ea typeface="Bahnschrift"/>
                <a:cs typeface="Bahnschrift"/>
              </a:defRPr>
            </a:pPr>
            <a:r>
              <a:rPr sz="3900" b="1" i="0">
                <a:solidFill>
                  <a:srgbClr val="FCFAF6"/>
                </a:solidFill>
                <a:latin typeface="Bahnschrift"/>
                <a:ea typeface="Bahnschrift"/>
                <a:cs typeface="Bahnschrift"/>
              </a:rPr>
              <a:t>Born from the Aviatrix.</a:t>
            </a:r>
          </a:p>
        </p:txBody>
      </p:sp>
      <p:sp>
        <p:nvSpPr>
          <p:cNvPr id="6" name="">
            <a:extLst xmlns:a="http://schemas.openxmlformats.org/drawingml/2006/main">
              <a:ext uri="{FF2B5EF4-FFF2-40B4-BE49-F238E27FC236}">
                <a16:creationId xmlns:a16="http://schemas.microsoft.com/office/drawing/2014/main" id="{FB5F4106-0EF5-4D20-82D1-41E0BC878D80}"/>
              </a:ext>
            </a:extLst>
          </p:cNvPr>
          <p:cNvSpPr>
            <a:spLocks xmlns:a="http://schemas.openxmlformats.org/drawingml/2006/main" noGrp="1"/>
          </p:cNvSpPr>
          <p:nvPr/>
        </p:nvSpPr>
        <p:spPr>
          <a:xfrm xmlns:a="http://schemas.openxmlformats.org/drawingml/2006/main">
            <a:off x="704850" y="278130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i="0">
                <a:solidFill>
                  <a:srgbClr val="FCFAF6"/>
                </a:solidFill>
                <a:latin typeface="Bahnschrift"/>
                <a:ea typeface="Bahnschrift"/>
                <a:cs typeface="Bahnschrift"/>
              </a:defRPr>
            </a:pPr>
            <a:r>
              <a:rPr sz="3900" b="1" i="0">
                <a:solidFill>
                  <a:srgbClr val="FCFAF6"/>
                </a:solidFill>
                <a:latin typeface="Bahnschrift"/>
                <a:ea typeface="Bahnschrift"/>
                <a:cs typeface="Bahnschrift"/>
              </a:rPr>
              <a:t>Built on engineering.</a:t>
            </a:r>
          </a:p>
        </p:txBody>
      </p:sp>
      <p:sp>
        <p:nvSpPr>
          <p:cNvPr id="7" name="">
            <a:extLst xmlns:a="http://schemas.openxmlformats.org/drawingml/2006/main">
              <a:ext uri="{FF2B5EF4-FFF2-40B4-BE49-F238E27FC236}">
                <a16:creationId xmlns:a16="http://schemas.microsoft.com/office/drawing/2014/main" id="{99B8BF9D-EE52-4801-9EB1-E964320D1A76}"/>
              </a:ext>
            </a:extLst>
          </p:cNvPr>
          <p:cNvSpPr>
            <a:spLocks xmlns:a="http://schemas.openxmlformats.org/drawingml/2006/main" noGrp="1"/>
          </p:cNvSpPr>
          <p:nvPr/>
        </p:nvSpPr>
        <p:spPr>
          <a:xfrm xmlns:a="http://schemas.openxmlformats.org/drawingml/2006/main">
            <a:off x="704850" y="3409950"/>
            <a:ext cx="7524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i="0">
                <a:solidFill>
                  <a:srgbClr val="CBA36A"/>
                </a:solidFill>
                <a:latin typeface="Bahnschrift"/>
                <a:ea typeface="Bahnschrift"/>
                <a:cs typeface="Bahnschrift"/>
              </a:defRPr>
            </a:pPr>
            <a:r>
              <a:rPr sz="3900" b="1" i="0">
                <a:solidFill>
                  <a:srgbClr val="CBA36A"/>
                </a:solidFill>
                <a:latin typeface="Bahnschrift"/>
                <a:ea typeface="Bahnschrift"/>
                <a:cs typeface="Bahnschrift"/>
              </a:rPr>
              <a:t>Powered by intelligence.</a:t>
            </a:r>
          </a:p>
        </p:txBody>
      </p:sp>
      <p:sp>
        <p:nvSpPr>
          <p:cNvPr id="8" name="">
            <a:extLst xmlns:a="http://schemas.openxmlformats.org/drawingml/2006/main">
              <a:ext uri="{FF2B5EF4-FFF2-40B4-BE49-F238E27FC236}">
                <a16:creationId xmlns:a16="http://schemas.microsoft.com/office/drawing/2014/main" id="{F905EE1C-055F-4553-80DB-3C1CA9370464}"/>
              </a:ext>
            </a:extLst>
          </p:cNvPr>
          <p:cNvSpPr>
            <a:spLocks xmlns:a="http://schemas.openxmlformats.org/drawingml/2006/main" noGrp="1"/>
          </p:cNvSpPr>
          <p:nvPr/>
        </p:nvSpPr>
        <p:spPr>
          <a:xfrm xmlns:a="http://schemas.openxmlformats.org/drawingml/2006/main">
            <a:off x="723900" y="4410075"/>
            <a:ext cx="11049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A580BED-BE58-40B2-9149-E7E4FC1E5CC5}"/>
              </a:ext>
            </a:extLst>
          </p:cNvPr>
          <p:cNvSpPr>
            <a:spLocks xmlns:a="http://schemas.openxmlformats.org/drawingml/2006/main" noGrp="1"/>
          </p:cNvSpPr>
          <p:nvPr/>
        </p:nvSpPr>
        <p:spPr>
          <a:xfrm xmlns:a="http://schemas.openxmlformats.org/drawingml/2006/main">
            <a:off x="723900" y="468630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FCFAF6"/>
                </a:solidFill>
                <a:latin typeface="Bahnschrift"/>
                <a:ea typeface="Bahnschrift"/>
                <a:cs typeface="Bahnschrift"/>
              </a:defRPr>
            </a:pPr>
            <a:r>
              <a:rPr sz="1725" b="1" i="0">
                <a:solidFill>
                  <a:srgbClr val="FCFAF6"/>
                </a:solidFill>
                <a:latin typeface="Bahnschrift"/>
                <a:ea typeface="Bahnschrift"/>
                <a:cs typeface="Bahnschrift"/>
              </a:rPr>
              <a:t>Engineering Insight. Smarter Sourcing. Stronger Fleets.</a:t>
            </a:r>
          </a:p>
        </p:txBody>
      </p:sp>
      <p:sp>
        <p:nvSpPr>
          <p:cNvPr id="10" name="">
            <a:extLst xmlns:a="http://schemas.openxmlformats.org/drawingml/2006/main">
              <a:ext uri="{FF2B5EF4-FFF2-40B4-BE49-F238E27FC236}">
                <a16:creationId xmlns:a16="http://schemas.microsoft.com/office/drawing/2014/main" id="{8BA2B95E-9D54-47F7-931B-67981607EC84}"/>
              </a:ext>
            </a:extLst>
          </p:cNvPr>
          <p:cNvSpPr>
            <a:spLocks xmlns:a="http://schemas.openxmlformats.org/drawingml/2006/main" noGrp="1"/>
          </p:cNvSpPr>
          <p:nvPr/>
        </p:nvSpPr>
        <p:spPr>
          <a:xfrm xmlns:a="http://schemas.openxmlformats.org/drawingml/2006/main">
            <a:off x="723900" y="6067425"/>
            <a:ext cx="361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FCFAF6">
                    <a:alpha val="72000"/>
                  </a:srgbClr>
                </a:solidFill>
                <a:latin typeface="Bahnschrift"/>
                <a:ea typeface="Bahnschrift"/>
                <a:cs typeface="Bahnschrift"/>
              </a:defRPr>
            </a:pPr>
            <a:r>
              <a:rPr sz="975" b="1" i="0">
                <a:solidFill>
                  <a:srgbClr val="FCFAF6">
                    <a:alpha val="72000"/>
                  </a:srgbClr>
                </a:solidFill>
                <a:latin typeface="Bahnschrift"/>
                <a:ea typeface="Bahnschrift"/>
                <a:cs typeface="Bahnschrift"/>
              </a:rPr>
              <a:t>VERSION 1.0  |  OCTOBER 2026</a:t>
            </a:r>
          </a:p>
        </p:txBody>
      </p:sp>
    </p:spTree>
    <p:extLst>
      <p:ext uri="{BB962C8B-B14F-4D97-AF65-F5344CB8AC3E}">
        <p14:creationId xmlns:p14="http://schemas.microsoft.com/office/powerpoint/2010/main" val="1430563870"/>
      </p:ext>
    </p:extLst>
  </p:cSld>
</p:sld>
</file>

<file path=ppt/slides/slide2.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1BE9B71-8050-47A0-9FD0-D411941793CC}"/>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15257DCA-8947-4BE0-9026-1A048EB5BAA4}"/>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02</a:t>
            </a:r>
          </a:p>
        </p:txBody>
      </p:sp>
      <p:sp>
        <p:nvSpPr>
          <p:cNvPr id="3" name="">
            <a:extLst xmlns:a="http://schemas.openxmlformats.org/drawingml/2006/main">
              <a:ext uri="{FF2B5EF4-FFF2-40B4-BE49-F238E27FC236}">
                <a16:creationId xmlns:a16="http://schemas.microsoft.com/office/drawing/2014/main" id="{D2FA36B2-6C37-4B3A-BCD6-0AB56269A7D8}"/>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Using this book</a:t>
            </a:r>
          </a:p>
        </p:txBody>
      </p:sp>
      <p:sp>
        <p:nvSpPr>
          <p:cNvPr id="4" name="">
            <a:extLst xmlns:a="http://schemas.openxmlformats.org/drawingml/2006/main">
              <a:ext uri="{FF2B5EF4-FFF2-40B4-BE49-F238E27FC236}">
                <a16:creationId xmlns:a16="http://schemas.microsoft.com/office/drawing/2014/main" id="{4D96F590-3584-4060-B80B-BB0008BB3174}"/>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97A1B9-90AC-4F46-8E5F-609E87BD81AB}"/>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The source of truth for the current AvTrix direction</a:t>
            </a:r>
          </a:p>
        </p:txBody>
      </p:sp>
      <p:sp>
        <p:nvSpPr>
          <p:cNvPr id="6" name="">
            <a:extLst xmlns:a="http://schemas.openxmlformats.org/drawingml/2006/main">
              <a:ext uri="{FF2B5EF4-FFF2-40B4-BE49-F238E27FC236}">
                <a16:creationId xmlns:a16="http://schemas.microsoft.com/office/drawing/2014/main" id="{EBDCDEF8-DF50-4210-8B3E-36CFF1CED605}"/>
              </a:ext>
            </a:extLst>
          </p:cNvPr>
          <p:cNvSpPr>
            <a:spLocks xmlns:a="http://schemas.openxmlformats.org/drawingml/2006/main" noGrp="1"/>
          </p:cNvSpPr>
          <p:nvPr/>
        </p:nvSpPr>
        <p:spPr>
          <a:xfrm xmlns:a="http://schemas.openxmlformats.org/drawingml/2006/main">
            <a:off x="666750" y="16764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i="0">
                <a:solidFill>
                  <a:srgbClr val="1A1F25"/>
                </a:solidFill>
                <a:latin typeface="Georgia"/>
                <a:ea typeface="Georgia"/>
                <a:cs typeface="Georgia"/>
              </a:defRPr>
            </a:pPr>
            <a:r>
              <a:rPr sz="2025" b="0" i="0">
                <a:solidFill>
                  <a:srgbClr val="1A1F25"/>
                </a:solidFill>
                <a:latin typeface="Georgia"/>
                <a:ea typeface="Georgia"/>
                <a:cs typeface="Georgia"/>
              </a:rPr>
              <a:t>This guide protects the selected identity while turning it into a practical system for documents, digital products and commercial communication.</a:t>
            </a:r>
          </a:p>
        </p:txBody>
      </p:sp>
      <p:sp>
        <p:nvSpPr>
          <p:cNvPr id="7" name="">
            <a:extLst xmlns:a="http://schemas.openxmlformats.org/drawingml/2006/main">
              <a:ext uri="{FF2B5EF4-FFF2-40B4-BE49-F238E27FC236}">
                <a16:creationId xmlns:a16="http://schemas.microsoft.com/office/drawing/2014/main" id="{21DE0109-428B-447C-B0D2-666DCFBD9103}"/>
              </a:ext>
            </a:extLst>
          </p:cNvPr>
          <p:cNvSpPr>
            <a:spLocks xmlns:a="http://schemas.openxmlformats.org/drawingml/2006/main" noGrp="1"/>
          </p:cNvSpPr>
          <p:nvPr/>
        </p:nvSpPr>
        <p:spPr>
          <a:xfrm xmlns:a="http://schemas.openxmlformats.org/drawingml/2006/main">
            <a:off x="8134350" y="1619250"/>
            <a:ext cx="3390900" cy="4171950"/>
          </a:xfrm>
          <a:prstGeom xmlns:a="http://schemas.openxmlformats.org/drawingml/2006/main" prst="roundRect">
            <a:avLst>
              <a:gd name="adj" fmla="val 5056"/>
            </a:avLst>
          </a:prstGeom>
          <a:solidFill xmlns:a="http://schemas.openxmlformats.org/drawingml/2006/main">
            <a:srgbClr val="1A1F2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4EECD3-2EDC-4664-A1BE-B996058EA658}"/>
              </a:ext>
            </a:extLst>
          </p:cNvPr>
          <p:cNvSpPr>
            <a:spLocks xmlns:a="http://schemas.openxmlformats.org/drawingml/2006/main" noGrp="1"/>
          </p:cNvSpPr>
          <p:nvPr/>
        </p:nvSpPr>
        <p:spPr>
          <a:xfrm xmlns:a="http://schemas.openxmlformats.org/drawingml/2006/main">
            <a:off x="8439150" y="1924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IDENTITY STATUS</a:t>
            </a:r>
          </a:p>
        </p:txBody>
      </p:sp>
      <p:sp>
        <p:nvSpPr>
          <p:cNvPr id="9" name="">
            <a:extLst xmlns:a="http://schemas.openxmlformats.org/drawingml/2006/main">
              <a:ext uri="{FF2B5EF4-FFF2-40B4-BE49-F238E27FC236}">
                <a16:creationId xmlns:a16="http://schemas.microsoft.com/office/drawing/2014/main" id="{50E076ED-AC19-4062-B44B-18ADA2E6D127}"/>
              </a:ext>
            </a:extLst>
          </p:cNvPr>
          <p:cNvSpPr>
            <a:spLocks xmlns:a="http://schemas.openxmlformats.org/drawingml/2006/main" noGrp="1"/>
          </p:cNvSpPr>
          <p:nvPr/>
        </p:nvSpPr>
        <p:spPr>
          <a:xfrm xmlns:a="http://schemas.openxmlformats.org/drawingml/2006/main">
            <a:off x="8439150" y="23241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FCFAF6"/>
                </a:solidFill>
                <a:latin typeface="Bahnschrift"/>
                <a:ea typeface="Bahnschrift"/>
                <a:cs typeface="Bahnschrift"/>
              </a:defRPr>
            </a:pPr>
            <a:r>
              <a:rPr sz="2175" b="1" i="0">
                <a:solidFill>
                  <a:srgbClr val="FCFAF6"/>
                </a:solidFill>
                <a:latin typeface="Bahnschrift"/>
                <a:ea typeface="Bahnschrift"/>
                <a:cs typeface="Bahnschrift"/>
              </a:rPr>
              <a:t>Direction locked</a:t>
            </a:r>
          </a:p>
        </p:txBody>
      </p:sp>
      <p:sp>
        <p:nvSpPr>
          <p:cNvPr id="10" name="">
            <a:extLst xmlns:a="http://schemas.openxmlformats.org/drawingml/2006/main">
              <a:ext uri="{FF2B5EF4-FFF2-40B4-BE49-F238E27FC236}">
                <a16:creationId xmlns:a16="http://schemas.microsoft.com/office/drawing/2014/main" id="{6BB945DE-AD5C-4A4F-9A3B-796706093E51}"/>
              </a:ext>
            </a:extLst>
          </p:cNvPr>
          <p:cNvSpPr>
            <a:spLocks xmlns:a="http://schemas.openxmlformats.org/drawingml/2006/main" noGrp="1"/>
          </p:cNvSpPr>
          <p:nvPr/>
        </p:nvSpPr>
        <p:spPr>
          <a:xfrm xmlns:a="http://schemas.openxmlformats.org/drawingml/2006/main">
            <a:off x="8439150" y="2838450"/>
            <a:ext cx="2571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FCFAF6">
                    <a:alpha val="78000"/>
                  </a:srgbClr>
                </a:solidFill>
                <a:latin typeface="Bahnschrift"/>
                <a:ea typeface="Bahnschrift"/>
                <a:cs typeface="Bahnschrift"/>
              </a:defRPr>
            </a:pPr>
            <a:r>
              <a:rPr sz="1425" b="0" i="0">
                <a:solidFill>
                  <a:srgbClr val="FCFAF6">
                    <a:alpha val="78000"/>
                  </a:srgbClr>
                </a:solidFill>
                <a:latin typeface="Bahnschrift"/>
                <a:ea typeface="Bahnschrift"/>
                <a:cs typeface="Bahnschrift"/>
              </a:rPr>
              <a:t>The name, narrative, palette, three wings, flight path, X device and selected Aviatrix reference remain unchanged.</a:t>
            </a:r>
          </a:p>
        </p:txBody>
      </p:sp>
      <p:sp>
        <p:nvSpPr>
          <p:cNvPr id="11" name="">
            <a:extLst xmlns:a="http://schemas.openxmlformats.org/drawingml/2006/main">
              <a:ext uri="{FF2B5EF4-FFF2-40B4-BE49-F238E27FC236}">
                <a16:creationId xmlns:a16="http://schemas.microsoft.com/office/drawing/2014/main" id="{E8A9F9F0-838A-4E8F-867D-90126A7754A8}"/>
              </a:ext>
            </a:extLst>
          </p:cNvPr>
          <p:cNvSpPr>
            <a:spLocks xmlns:a="http://schemas.openxmlformats.org/drawingml/2006/main" noGrp="1"/>
          </p:cNvSpPr>
          <p:nvPr/>
        </p:nvSpPr>
        <p:spPr>
          <a:xfrm xmlns:a="http://schemas.openxmlformats.org/drawingml/2006/main">
            <a:off x="8439150" y="4114800"/>
            <a:ext cx="74295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A07725-8E1C-4EB5-B5DB-76E9A58AC356}"/>
              </a:ext>
            </a:extLst>
          </p:cNvPr>
          <p:cNvSpPr>
            <a:spLocks xmlns:a="http://schemas.openxmlformats.org/drawingml/2006/main" noGrp="1"/>
          </p:cNvSpPr>
          <p:nvPr/>
        </p:nvSpPr>
        <p:spPr>
          <a:xfrm xmlns:a="http://schemas.openxmlformats.org/drawingml/2006/main">
            <a:off x="8439150" y="4324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CBA36A"/>
                </a:solidFill>
                <a:latin typeface="Bahnschrift"/>
                <a:ea typeface="Bahnschrift"/>
                <a:cs typeface="Bahnschrift"/>
              </a:defRPr>
            </a:pPr>
            <a:r>
              <a:rPr sz="1725" b="1" i="0">
                <a:solidFill>
                  <a:srgbClr val="CBA36A"/>
                </a:solidFill>
                <a:latin typeface="Bahnschrift"/>
                <a:ea typeface="Bahnschrift"/>
                <a:cs typeface="Bahnschrift"/>
              </a:rPr>
              <a:t>Production pending</a:t>
            </a:r>
          </a:p>
        </p:txBody>
      </p:sp>
      <p:sp>
        <p:nvSpPr>
          <p:cNvPr id="13" name="">
            <a:extLst xmlns:a="http://schemas.openxmlformats.org/drawingml/2006/main">
              <a:ext uri="{FF2B5EF4-FFF2-40B4-BE49-F238E27FC236}">
                <a16:creationId xmlns:a16="http://schemas.microsoft.com/office/drawing/2014/main" id="{6C75D14E-5650-433A-8AE4-10360047849B}"/>
              </a:ext>
            </a:extLst>
          </p:cNvPr>
          <p:cNvSpPr>
            <a:spLocks xmlns:a="http://schemas.openxmlformats.org/drawingml/2006/main" noGrp="1"/>
          </p:cNvSpPr>
          <p:nvPr/>
        </p:nvSpPr>
        <p:spPr>
          <a:xfrm xmlns:a="http://schemas.openxmlformats.org/drawingml/2006/main">
            <a:off x="8439150" y="4705350"/>
            <a:ext cx="259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4000"/>
                  </a:srgbClr>
                </a:solidFill>
                <a:latin typeface="Bahnschrift"/>
                <a:ea typeface="Bahnschrift"/>
                <a:cs typeface="Bahnschrift"/>
              </a:defRPr>
            </a:pPr>
            <a:r>
              <a:rPr sz="1350" b="0" i="0">
                <a:solidFill>
                  <a:srgbClr val="FCFAF6">
                    <a:alpha val="74000"/>
                  </a:srgbClr>
                </a:solidFill>
                <a:latin typeface="Bahnschrift"/>
                <a:ea typeface="Bahnschrift"/>
                <a:cs typeface="Bahnschrift"/>
              </a:rPr>
              <a:t>Final vector master artwork is still required before manufacture, signage or trademark filing.</a:t>
            </a:r>
          </a:p>
        </p:txBody>
      </p:sp>
      <p:sp>
        <p:nvSpPr>
          <p:cNvPr id="14" name="">
            <a:extLst xmlns:a="http://schemas.openxmlformats.org/drawingml/2006/main">
              <a:ext uri="{FF2B5EF4-FFF2-40B4-BE49-F238E27FC236}">
                <a16:creationId xmlns:a16="http://schemas.microsoft.com/office/drawing/2014/main" id="{7CE0A1FF-ED46-4D50-9512-29B4B3F03FA9}"/>
              </a:ext>
            </a:extLst>
          </p:cNvPr>
          <p:cNvSpPr>
            <a:spLocks xmlns:a="http://schemas.openxmlformats.org/drawingml/2006/main" noGrp="1"/>
          </p:cNvSpPr>
          <p:nvPr/>
        </p:nvSpPr>
        <p:spPr>
          <a:xfrm xmlns:a="http://schemas.openxmlformats.org/drawingml/2006/main">
            <a:off x="666750" y="31623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01</a:t>
            </a:r>
          </a:p>
        </p:txBody>
      </p:sp>
      <p:sp>
        <p:nvSpPr>
          <p:cNvPr id="15" name="">
            <a:extLst xmlns:a="http://schemas.openxmlformats.org/drawingml/2006/main">
              <a:ext uri="{FF2B5EF4-FFF2-40B4-BE49-F238E27FC236}">
                <a16:creationId xmlns:a16="http://schemas.microsoft.com/office/drawing/2014/main" id="{45CC6662-6702-4691-9198-20B24365B9AF}"/>
              </a:ext>
            </a:extLst>
          </p:cNvPr>
          <p:cNvSpPr>
            <a:spLocks xmlns:a="http://schemas.openxmlformats.org/drawingml/2006/main" noGrp="1"/>
          </p:cNvSpPr>
          <p:nvPr/>
        </p:nvSpPr>
        <p:spPr>
          <a:xfrm xmlns:a="http://schemas.openxmlformats.org/drawingml/2006/main">
            <a:off x="1219200" y="3162300"/>
            <a:ext cx="611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A1F25"/>
                </a:solidFill>
                <a:latin typeface="Bahnschrift"/>
                <a:ea typeface="Bahnschrift"/>
                <a:cs typeface="Bahnschrift"/>
              </a:defRPr>
            </a:pPr>
            <a:r>
              <a:rPr sz="1875" b="1" i="0">
                <a:solidFill>
                  <a:srgbClr val="1A1F25"/>
                </a:solidFill>
                <a:latin typeface="Bahnschrift"/>
                <a:ea typeface="Bahnschrift"/>
                <a:cs typeface="Bahnschrift"/>
              </a:rPr>
              <a:t>Apply consistently</a:t>
            </a:r>
          </a:p>
        </p:txBody>
      </p:sp>
      <p:sp>
        <p:nvSpPr>
          <p:cNvPr id="16" name="">
            <a:extLst xmlns:a="http://schemas.openxmlformats.org/drawingml/2006/main">
              <a:ext uri="{FF2B5EF4-FFF2-40B4-BE49-F238E27FC236}">
                <a16:creationId xmlns:a16="http://schemas.microsoft.com/office/drawing/2014/main" id="{9B51DF4D-C2E4-4AB8-A806-3299D2D23540}"/>
              </a:ext>
            </a:extLst>
          </p:cNvPr>
          <p:cNvSpPr>
            <a:spLocks xmlns:a="http://schemas.openxmlformats.org/drawingml/2006/main" noGrp="1"/>
          </p:cNvSpPr>
          <p:nvPr/>
        </p:nvSpPr>
        <p:spPr>
          <a:xfrm xmlns:a="http://schemas.openxmlformats.org/drawingml/2006/main">
            <a:off x="1219200" y="3524250"/>
            <a:ext cx="6115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Use the rules as a connected system, not as isolated styling choices.</a:t>
            </a:r>
          </a:p>
        </p:txBody>
      </p:sp>
      <p:sp>
        <p:nvSpPr>
          <p:cNvPr id="17" name="">
            <a:extLst xmlns:a="http://schemas.openxmlformats.org/drawingml/2006/main">
              <a:ext uri="{FF2B5EF4-FFF2-40B4-BE49-F238E27FC236}">
                <a16:creationId xmlns:a16="http://schemas.microsoft.com/office/drawing/2014/main" id="{F632FA01-B50B-44FD-A3C1-4CE8D148E2E3}"/>
              </a:ext>
            </a:extLst>
          </p:cNvPr>
          <p:cNvSpPr>
            <a:spLocks xmlns:a="http://schemas.openxmlformats.org/drawingml/2006/main" noGrp="1"/>
          </p:cNvSpPr>
          <p:nvPr/>
        </p:nvSpPr>
        <p:spPr>
          <a:xfrm xmlns:a="http://schemas.openxmlformats.org/drawingml/2006/main">
            <a:off x="666750" y="43243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02</a:t>
            </a:r>
          </a:p>
        </p:txBody>
      </p:sp>
      <p:sp>
        <p:nvSpPr>
          <p:cNvPr id="18" name="">
            <a:extLst xmlns:a="http://schemas.openxmlformats.org/drawingml/2006/main">
              <a:ext uri="{FF2B5EF4-FFF2-40B4-BE49-F238E27FC236}">
                <a16:creationId xmlns:a16="http://schemas.microsoft.com/office/drawing/2014/main" id="{2C0A6124-2BC6-4D19-9D22-EE9D6E0F1A78}"/>
              </a:ext>
            </a:extLst>
          </p:cNvPr>
          <p:cNvSpPr>
            <a:spLocks xmlns:a="http://schemas.openxmlformats.org/drawingml/2006/main" noGrp="1"/>
          </p:cNvSpPr>
          <p:nvPr/>
        </p:nvSpPr>
        <p:spPr>
          <a:xfrm xmlns:a="http://schemas.openxmlformats.org/drawingml/2006/main">
            <a:off x="1219200" y="4324350"/>
            <a:ext cx="611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A1F25"/>
                </a:solidFill>
                <a:latin typeface="Bahnschrift"/>
                <a:ea typeface="Bahnschrift"/>
                <a:cs typeface="Bahnschrift"/>
              </a:defRPr>
            </a:pPr>
            <a:r>
              <a:rPr sz="1875" b="1" i="0">
                <a:solidFill>
                  <a:srgbClr val="1A1F25"/>
                </a:solidFill>
                <a:latin typeface="Bahnschrift"/>
                <a:ea typeface="Bahnschrift"/>
                <a:cs typeface="Bahnschrift"/>
              </a:rPr>
              <a:t>Keep copper selective</a:t>
            </a:r>
          </a:p>
        </p:txBody>
      </p:sp>
      <p:sp>
        <p:nvSpPr>
          <p:cNvPr id="19" name="">
            <a:extLst xmlns:a="http://schemas.openxmlformats.org/drawingml/2006/main">
              <a:ext uri="{FF2B5EF4-FFF2-40B4-BE49-F238E27FC236}">
                <a16:creationId xmlns:a16="http://schemas.microsoft.com/office/drawing/2014/main" id="{2CA2712E-4D5F-4BE9-AB74-3D334E33ACEE}"/>
              </a:ext>
            </a:extLst>
          </p:cNvPr>
          <p:cNvSpPr>
            <a:spLocks xmlns:a="http://schemas.openxmlformats.org/drawingml/2006/main" noGrp="1"/>
          </p:cNvSpPr>
          <p:nvPr/>
        </p:nvSpPr>
        <p:spPr>
          <a:xfrm xmlns:a="http://schemas.openxmlformats.org/drawingml/2006/main">
            <a:off x="1219200" y="4686300"/>
            <a:ext cx="6115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Copper signals insight, value and decision points. Navy carries the brand.</a:t>
            </a:r>
          </a:p>
        </p:txBody>
      </p:sp>
      <p:sp>
        <p:nvSpPr>
          <p:cNvPr id="20" name="">
            <a:extLst xmlns:a="http://schemas.openxmlformats.org/drawingml/2006/main">
              <a:ext uri="{FF2B5EF4-FFF2-40B4-BE49-F238E27FC236}">
                <a16:creationId xmlns:a16="http://schemas.microsoft.com/office/drawing/2014/main" id="{2F9E6F49-A4C9-4607-AC45-1B04995BFB2C}"/>
              </a:ext>
            </a:extLst>
          </p:cNvPr>
          <p:cNvSpPr>
            <a:spLocks xmlns:a="http://schemas.openxmlformats.org/drawingml/2006/main" noGrp="1"/>
          </p:cNvSpPr>
          <p:nvPr/>
        </p:nvSpPr>
        <p:spPr>
          <a:xfrm xmlns:a="http://schemas.openxmlformats.org/drawingml/2006/main">
            <a:off x="666750" y="54864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03</a:t>
            </a:r>
          </a:p>
        </p:txBody>
      </p:sp>
      <p:sp>
        <p:nvSpPr>
          <p:cNvPr id="21" name="">
            <a:extLst xmlns:a="http://schemas.openxmlformats.org/drawingml/2006/main">
              <a:ext uri="{FF2B5EF4-FFF2-40B4-BE49-F238E27FC236}">
                <a16:creationId xmlns:a16="http://schemas.microsoft.com/office/drawing/2014/main" id="{093D52DF-0167-439B-B1EF-FC157E5F091F}"/>
              </a:ext>
            </a:extLst>
          </p:cNvPr>
          <p:cNvSpPr>
            <a:spLocks xmlns:a="http://schemas.openxmlformats.org/drawingml/2006/main" noGrp="1"/>
          </p:cNvSpPr>
          <p:nvPr/>
        </p:nvSpPr>
        <p:spPr>
          <a:xfrm xmlns:a="http://schemas.openxmlformats.org/drawingml/2006/main">
            <a:off x="1219200" y="5486400"/>
            <a:ext cx="611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1A1F25"/>
                </a:solidFill>
                <a:latin typeface="Bahnschrift"/>
                <a:ea typeface="Bahnschrift"/>
                <a:cs typeface="Bahnschrift"/>
              </a:defRPr>
            </a:pPr>
            <a:r>
              <a:rPr sz="1875" b="1" i="0">
                <a:solidFill>
                  <a:srgbClr val="1A1F25"/>
                </a:solidFill>
                <a:latin typeface="Bahnschrift"/>
                <a:ea typeface="Bahnschrift"/>
                <a:cs typeface="Bahnschrift"/>
              </a:rPr>
              <a:t>Escalate exceptions</a:t>
            </a:r>
          </a:p>
        </p:txBody>
      </p:sp>
      <p:sp>
        <p:nvSpPr>
          <p:cNvPr id="22" name="">
            <a:extLst xmlns:a="http://schemas.openxmlformats.org/drawingml/2006/main">
              <a:ext uri="{FF2B5EF4-FFF2-40B4-BE49-F238E27FC236}">
                <a16:creationId xmlns:a16="http://schemas.microsoft.com/office/drawing/2014/main" id="{C87FE60E-8318-4B2C-8216-F16D1D6EB50B}"/>
              </a:ext>
            </a:extLst>
          </p:cNvPr>
          <p:cNvSpPr>
            <a:spLocks xmlns:a="http://schemas.openxmlformats.org/drawingml/2006/main" noGrp="1"/>
          </p:cNvSpPr>
          <p:nvPr/>
        </p:nvSpPr>
        <p:spPr>
          <a:xfrm xmlns:a="http://schemas.openxmlformats.org/drawingml/2006/main">
            <a:off x="1219200" y="5848350"/>
            <a:ext cx="6115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When a use case falls outside this guide, return to the core narrative and production master.</a:t>
            </a:r>
          </a:p>
        </p:txBody>
      </p:sp>
    </p:spTree>
    <p:extLst>
      <p:ext uri="{BB962C8B-B14F-4D97-AF65-F5344CB8AC3E}">
        <p14:creationId xmlns:p14="http://schemas.microsoft.com/office/powerpoint/2010/main" val="26341740"/>
      </p:ext>
    </p:extLst>
  </p:cSld>
</p:sld>
</file>

<file path=ppt/slides/slide3.xml><?xml version="1.0" encoding="utf-8"?>
<p:sld xmlns:p="http://schemas.openxmlformats.org/presentationml/2006/main">
  <p:cSld>
    <p:bg>
      <p:bgPr>
        <a:gradFill xmlns:a="http://schemas.openxmlformats.org/drawingml/2006/main">
          <a:gsLst>
            <a:gs pos="0">
              <a:srgbClr val="101318"/>
            </a:gs>
            <a:gs pos="58000">
              <a:srgbClr val="1A1F25"/>
            </a:gs>
            <a:gs pos="100000">
              <a:srgbClr val="2B333C"/>
            </a:gs>
          </a:gsLst>
          <a:lin ang="81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839D08-FB8E-45C4-AD34-2897277EEE9E}"/>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33CE75A9-F8C7-4C0F-A1F0-A49CAEFD69CA}"/>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03</a:t>
            </a:r>
          </a:p>
        </p:txBody>
      </p:sp>
      <p:sp>
        <p:nvSpPr>
          <p:cNvPr id="3" name="">
            <a:extLst xmlns:a="http://schemas.openxmlformats.org/drawingml/2006/main">
              <a:ext uri="{FF2B5EF4-FFF2-40B4-BE49-F238E27FC236}">
                <a16:creationId xmlns:a16="http://schemas.microsoft.com/office/drawing/2014/main" id="{FDFC71E8-DD6C-43AA-9676-62D1259E86D8}"/>
              </a:ext>
            </a:extLst>
          </p:cNvPr>
          <p:cNvSpPr>
            <a:spLocks xmlns:a="http://schemas.openxmlformats.org/drawingml/2006/main" noGrp="1"/>
          </p:cNvSpPr>
          <p:nvPr/>
        </p:nvSpPr>
        <p:spPr>
          <a:xfrm xmlns:a="http://schemas.openxmlformats.org/drawingml/2006/main">
            <a:off x="685800" y="685800"/>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i="0">
                <a:solidFill>
                  <a:srgbClr val="CBA36A"/>
                </a:solidFill>
                <a:latin typeface="Bahnschrift"/>
                <a:ea typeface="Bahnschrift"/>
                <a:cs typeface="Bahnschrift"/>
              </a:defRPr>
            </a:pPr>
            <a:r>
              <a:rPr sz="6150" b="1" i="0">
                <a:solidFill>
                  <a:srgbClr val="CBA36A"/>
                </a:solidFill>
                <a:latin typeface="Bahnschrift"/>
                <a:ea typeface="Bahnschrift"/>
                <a:cs typeface="Bahnschrift"/>
              </a:rPr>
              <a:t>03</a:t>
            </a:r>
          </a:p>
        </p:txBody>
      </p:sp>
      <p:sp>
        <p:nvSpPr>
          <p:cNvPr id="4" name="">
            <a:extLst xmlns:a="http://schemas.openxmlformats.org/drawingml/2006/main">
              <a:ext uri="{FF2B5EF4-FFF2-40B4-BE49-F238E27FC236}">
                <a16:creationId xmlns:a16="http://schemas.microsoft.com/office/drawing/2014/main" id="{003E0425-3E83-4939-B705-5DC7C7A5E1AA}"/>
              </a:ext>
            </a:extLst>
          </p:cNvPr>
          <p:cNvSpPr>
            <a:spLocks xmlns:a="http://schemas.openxmlformats.org/drawingml/2006/main" noGrp="1"/>
          </p:cNvSpPr>
          <p:nvPr/>
        </p:nvSpPr>
        <p:spPr>
          <a:xfrm xmlns:a="http://schemas.openxmlformats.org/drawingml/2006/main">
            <a:off x="714375" y="1838325"/>
            <a:ext cx="1143000" cy="47625"/>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A9E9F7-22E5-465E-8B3E-7A20097FAADA}"/>
              </a:ext>
            </a:extLst>
          </p:cNvPr>
          <p:cNvSpPr>
            <a:spLocks xmlns:a="http://schemas.openxmlformats.org/drawingml/2006/main" noGrp="1"/>
          </p:cNvSpPr>
          <p:nvPr/>
        </p:nvSpPr>
        <p:spPr>
          <a:xfrm xmlns:a="http://schemas.openxmlformats.org/drawingml/2006/main">
            <a:off x="704850" y="21717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i="0">
                <a:solidFill>
                  <a:srgbClr val="FCFAF6"/>
                </a:solidFill>
                <a:latin typeface="Bahnschrift"/>
                <a:ea typeface="Bahnschrift"/>
                <a:cs typeface="Bahnschrift"/>
              </a:defRPr>
            </a:pPr>
            <a:r>
              <a:rPr sz="4650" b="1" i="0">
                <a:solidFill>
                  <a:srgbClr val="FCFAF6"/>
                </a:solidFill>
                <a:latin typeface="Bahnschrift"/>
                <a:ea typeface="Bahnschrift"/>
                <a:cs typeface="Bahnschrift"/>
              </a:rPr>
              <a:t>Brand foundation</a:t>
            </a:r>
          </a:p>
        </p:txBody>
      </p:sp>
      <p:sp>
        <p:nvSpPr>
          <p:cNvPr id="6" name="">
            <a:extLst xmlns:a="http://schemas.openxmlformats.org/drawingml/2006/main">
              <a:ext uri="{FF2B5EF4-FFF2-40B4-BE49-F238E27FC236}">
                <a16:creationId xmlns:a16="http://schemas.microsoft.com/office/drawing/2014/main" id="{27C8DB8C-9F73-4590-8B77-C90F41C4F6B8}"/>
              </a:ext>
            </a:extLst>
          </p:cNvPr>
          <p:cNvSpPr>
            <a:spLocks xmlns:a="http://schemas.openxmlformats.org/drawingml/2006/main" noGrp="1"/>
          </p:cNvSpPr>
          <p:nvPr/>
        </p:nvSpPr>
        <p:spPr>
          <a:xfrm xmlns:a="http://schemas.openxmlformats.org/drawingml/2006/main">
            <a:off x="723900" y="329565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i="1">
                <a:solidFill>
                  <a:srgbClr val="FCFAF6">
                    <a:alpha val="72000"/>
                  </a:srgbClr>
                </a:solidFill>
                <a:latin typeface="Georgia"/>
                <a:ea typeface="Georgia"/>
                <a:cs typeface="Georgia"/>
              </a:defRPr>
            </a:pPr>
            <a:r>
              <a:rPr sz="1950" b="0" i="1">
                <a:solidFill>
                  <a:srgbClr val="FCFAF6">
                    <a:alpha val="72000"/>
                  </a:srgbClr>
                </a:solidFill>
                <a:latin typeface="Georgia"/>
                <a:ea typeface="Georgia"/>
                <a:cs typeface="Georgia"/>
              </a:rPr>
              <a:t>A clear story gives every visual and verbal choice a reason.</a:t>
            </a:r>
          </a:p>
        </p:txBody>
      </p:sp>
      <p:sp>
        <p:nvSpPr>
          <p:cNvPr id="7" name="">
            <a:extLst xmlns:a="http://schemas.openxmlformats.org/drawingml/2006/main">
              <a:ext uri="{FF2B5EF4-FFF2-40B4-BE49-F238E27FC236}">
                <a16:creationId xmlns:a16="http://schemas.microsoft.com/office/drawing/2014/main" id="{59A4C0C5-C032-4F5D-8EC7-8CFFC57DA30B}"/>
              </a:ext>
            </a:extLst>
          </p:cNvPr>
          <p:cNvSpPr>
            <a:spLocks xmlns:a="http://schemas.openxmlformats.org/drawingml/2006/main" noGrp="1"/>
          </p:cNvSpPr>
          <p:nvPr/>
        </p:nvSpPr>
        <p:spPr>
          <a:xfrm xmlns:a="http://schemas.openxmlformats.org/drawingml/2006/main">
            <a:off x="723900" y="5676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CBA36A"/>
                </a:solidFill>
                <a:latin typeface="Bahnschrift"/>
                <a:ea typeface="Bahnschrift"/>
                <a:cs typeface="Bahnschrift"/>
              </a:defRPr>
            </a:pPr>
            <a:r>
              <a:rPr sz="1500" b="1" i="0">
                <a:solidFill>
                  <a:srgbClr val="CBA36A"/>
                </a:solidFill>
                <a:latin typeface="Bahnschrift"/>
                <a:ea typeface="Bahnschrift"/>
                <a:cs typeface="Bahnschrift"/>
              </a:rPr>
              <a:t>Born from the Aviatrix. Built on engineering. Powered by intelligence.</a:t>
            </a:r>
          </a:p>
        </p:txBody>
      </p:sp>
    </p:spTree>
    <p:extLst>
      <p:ext uri="{BB962C8B-B14F-4D97-AF65-F5344CB8AC3E}">
        <p14:creationId xmlns:p14="http://schemas.microsoft.com/office/powerpoint/2010/main" val="794017014"/>
      </p:ext>
    </p:extLst>
  </p:cSld>
</p:sld>
</file>

<file path=ppt/slides/slide4.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A1EFE4-B434-4C0E-A4FC-50F3D961A082}"/>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06A20C1C-9E09-4AEF-AEDC-0F35EBFA4E3F}"/>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04</a:t>
            </a:r>
          </a:p>
        </p:txBody>
      </p:sp>
      <p:sp>
        <p:nvSpPr>
          <p:cNvPr id="3" name="">
            <a:extLst xmlns:a="http://schemas.openxmlformats.org/drawingml/2006/main">
              <a:ext uri="{FF2B5EF4-FFF2-40B4-BE49-F238E27FC236}">
                <a16:creationId xmlns:a16="http://schemas.microsoft.com/office/drawing/2014/main" id="{81AB4B4A-B192-455E-B24B-8F808C7F616F}"/>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The brand idea</a:t>
            </a:r>
          </a:p>
        </p:txBody>
      </p:sp>
      <p:sp>
        <p:nvSpPr>
          <p:cNvPr id="4" name="">
            <a:extLst xmlns:a="http://schemas.openxmlformats.org/drawingml/2006/main">
              <a:ext uri="{FF2B5EF4-FFF2-40B4-BE49-F238E27FC236}">
                <a16:creationId xmlns:a16="http://schemas.microsoft.com/office/drawing/2014/main" id="{E7274F60-AF0F-4831-80CD-A41B28760A9D}"/>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66EE44-FE5E-4FE7-B461-CDFB9D79C322}"/>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One narrative, one commercial promise</a:t>
            </a:r>
          </a:p>
        </p:txBody>
      </p:sp>
      <p:sp>
        <p:nvSpPr>
          <p:cNvPr id="6" name="">
            <a:extLst xmlns:a="http://schemas.openxmlformats.org/drawingml/2006/main">
              <a:ext uri="{FF2B5EF4-FFF2-40B4-BE49-F238E27FC236}">
                <a16:creationId xmlns:a16="http://schemas.microsoft.com/office/drawing/2014/main" id="{51FC5468-DB00-4A03-9AE3-912D79105593}"/>
              </a:ext>
            </a:extLst>
          </p:cNvPr>
          <p:cNvSpPr>
            <a:spLocks xmlns:a="http://schemas.openxmlformats.org/drawingml/2006/main" noGrp="1"/>
          </p:cNvSpPr>
          <p:nvPr/>
        </p:nvSpPr>
        <p:spPr>
          <a:xfrm xmlns:a="http://schemas.openxmlformats.org/drawingml/2006/main">
            <a:off x="666750" y="171450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1A1F25"/>
                </a:solidFill>
                <a:latin typeface="Bahnschrift"/>
                <a:ea typeface="Bahnschrift"/>
                <a:cs typeface="Bahnschrift"/>
              </a:defRPr>
            </a:pPr>
            <a:r>
              <a:rPr sz="4050" b="1" i="0">
                <a:solidFill>
                  <a:srgbClr val="1A1F25"/>
                </a:solidFill>
                <a:latin typeface="Bahnschrift"/>
                <a:ea typeface="Bahnschrift"/>
                <a:cs typeface="Bahnschrift"/>
              </a:rPr>
              <a:t>Born from the Aviatrix.</a:t>
            </a:r>
          </a:p>
        </p:txBody>
      </p:sp>
      <p:sp>
        <p:nvSpPr>
          <p:cNvPr id="7" name="">
            <a:extLst xmlns:a="http://schemas.openxmlformats.org/drawingml/2006/main">
              <a:ext uri="{FF2B5EF4-FFF2-40B4-BE49-F238E27FC236}">
                <a16:creationId xmlns:a16="http://schemas.microsoft.com/office/drawing/2014/main" id="{C832BAA5-3C92-4FE3-8CB0-80EFE0C0C58B}"/>
              </a:ext>
            </a:extLst>
          </p:cNvPr>
          <p:cNvSpPr>
            <a:spLocks xmlns:a="http://schemas.openxmlformats.org/drawingml/2006/main" noGrp="1"/>
          </p:cNvSpPr>
          <p:nvPr/>
        </p:nvSpPr>
        <p:spPr>
          <a:xfrm xmlns:a="http://schemas.openxmlformats.org/drawingml/2006/main">
            <a:off x="666750" y="239077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1A1F25"/>
                </a:solidFill>
                <a:latin typeface="Bahnschrift"/>
                <a:ea typeface="Bahnschrift"/>
                <a:cs typeface="Bahnschrift"/>
              </a:defRPr>
            </a:pPr>
            <a:r>
              <a:rPr sz="4050" b="1" i="0">
                <a:solidFill>
                  <a:srgbClr val="1A1F25"/>
                </a:solidFill>
                <a:latin typeface="Bahnschrift"/>
                <a:ea typeface="Bahnschrift"/>
                <a:cs typeface="Bahnschrift"/>
              </a:rPr>
              <a:t>Built on engineering.</a:t>
            </a:r>
          </a:p>
        </p:txBody>
      </p:sp>
      <p:sp>
        <p:nvSpPr>
          <p:cNvPr id="8" name="">
            <a:extLst xmlns:a="http://schemas.openxmlformats.org/drawingml/2006/main">
              <a:ext uri="{FF2B5EF4-FFF2-40B4-BE49-F238E27FC236}">
                <a16:creationId xmlns:a16="http://schemas.microsoft.com/office/drawing/2014/main" id="{5B3A51F2-1EFB-4C08-B350-174CD7D42AE3}"/>
              </a:ext>
            </a:extLst>
          </p:cNvPr>
          <p:cNvSpPr>
            <a:spLocks xmlns:a="http://schemas.openxmlformats.org/drawingml/2006/main" noGrp="1"/>
          </p:cNvSpPr>
          <p:nvPr/>
        </p:nvSpPr>
        <p:spPr>
          <a:xfrm xmlns:a="http://schemas.openxmlformats.org/drawingml/2006/main">
            <a:off x="666750" y="30670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B8864F"/>
                </a:solidFill>
                <a:latin typeface="Bahnschrift"/>
                <a:ea typeface="Bahnschrift"/>
                <a:cs typeface="Bahnschrift"/>
              </a:defRPr>
            </a:pPr>
            <a:r>
              <a:rPr sz="4050" b="1" i="0">
                <a:solidFill>
                  <a:srgbClr val="B8864F"/>
                </a:solidFill>
                <a:latin typeface="Bahnschrift"/>
                <a:ea typeface="Bahnschrift"/>
                <a:cs typeface="Bahnschrift"/>
              </a:rPr>
              <a:t>Powered by intelligence.</a:t>
            </a:r>
          </a:p>
        </p:txBody>
      </p:sp>
      <p:sp>
        <p:nvSpPr>
          <p:cNvPr id="9" name="">
            <a:extLst xmlns:a="http://schemas.openxmlformats.org/drawingml/2006/main">
              <a:ext uri="{FF2B5EF4-FFF2-40B4-BE49-F238E27FC236}">
                <a16:creationId xmlns:a16="http://schemas.microsoft.com/office/drawing/2014/main" id="{AB646B60-23A4-4E8C-8AE5-8A833494B416}"/>
              </a:ext>
            </a:extLst>
          </p:cNvPr>
          <p:cNvSpPr>
            <a:spLocks xmlns:a="http://schemas.openxmlformats.org/drawingml/2006/main" noGrp="1"/>
          </p:cNvSpPr>
          <p:nvPr/>
        </p:nvSpPr>
        <p:spPr>
          <a:xfrm xmlns:a="http://schemas.openxmlformats.org/drawingml/2006/main">
            <a:off x="666750" y="4114800"/>
            <a:ext cx="10572750" cy="19050"/>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035EB9-9B0A-403C-8C3B-69F405E6D7CC}"/>
              </a:ext>
            </a:extLst>
          </p:cNvPr>
          <p:cNvSpPr>
            <a:spLocks xmlns:a="http://schemas.openxmlformats.org/drawingml/2006/main" noGrp="1"/>
          </p:cNvSpPr>
          <p:nvPr/>
        </p:nvSpPr>
        <p:spPr>
          <a:xfrm xmlns:a="http://schemas.openxmlformats.org/drawingml/2006/main">
            <a:off x="666750" y="44386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COMMERCIAL PROMISE</a:t>
            </a:r>
          </a:p>
        </p:txBody>
      </p:sp>
      <p:sp>
        <p:nvSpPr>
          <p:cNvPr id="11" name="">
            <a:extLst xmlns:a="http://schemas.openxmlformats.org/drawingml/2006/main">
              <a:ext uri="{FF2B5EF4-FFF2-40B4-BE49-F238E27FC236}">
                <a16:creationId xmlns:a16="http://schemas.microsoft.com/office/drawing/2014/main" id="{A4E7DEE2-D051-4E94-92A3-A991D3CC8182}"/>
              </a:ext>
            </a:extLst>
          </p:cNvPr>
          <p:cNvSpPr>
            <a:spLocks xmlns:a="http://schemas.openxmlformats.org/drawingml/2006/main" noGrp="1"/>
          </p:cNvSpPr>
          <p:nvPr/>
        </p:nvSpPr>
        <p:spPr>
          <a:xfrm xmlns:a="http://schemas.openxmlformats.org/drawingml/2006/main">
            <a:off x="666750" y="480060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i="0">
                <a:solidFill>
                  <a:srgbClr val="1A1F25"/>
                </a:solidFill>
                <a:latin typeface="Bahnschrift"/>
                <a:ea typeface="Bahnschrift"/>
                <a:cs typeface="Bahnschrift"/>
              </a:defRPr>
            </a:pPr>
            <a:r>
              <a:rPr sz="2550" b="1" i="0">
                <a:solidFill>
                  <a:srgbClr val="1A1F25"/>
                </a:solidFill>
                <a:latin typeface="Bahnschrift"/>
                <a:ea typeface="Bahnschrift"/>
                <a:cs typeface="Bahnschrift"/>
              </a:rPr>
              <a:t>Engineering Insight. Smarter Sourcing. Stronger Fleets.</a:t>
            </a:r>
          </a:p>
        </p:txBody>
      </p:sp>
      <p:sp>
        <p:nvSpPr>
          <p:cNvPr id="12" name="">
            <a:extLst xmlns:a="http://schemas.openxmlformats.org/drawingml/2006/main">
              <a:ext uri="{FF2B5EF4-FFF2-40B4-BE49-F238E27FC236}">
                <a16:creationId xmlns:a16="http://schemas.microsoft.com/office/drawing/2014/main" id="{0C67483A-E31C-44E7-B975-191FC8D83913}"/>
              </a:ext>
            </a:extLst>
          </p:cNvPr>
          <p:cNvSpPr>
            <a:spLocks xmlns:a="http://schemas.openxmlformats.org/drawingml/2006/main" noGrp="1"/>
          </p:cNvSpPr>
          <p:nvPr/>
        </p:nvSpPr>
        <p:spPr>
          <a:xfrm xmlns:a="http://schemas.openxmlformats.org/drawingml/2006/main">
            <a:off x="666750" y="56007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EDITORIAL LINE</a:t>
            </a:r>
          </a:p>
        </p:txBody>
      </p:sp>
      <p:sp>
        <p:nvSpPr>
          <p:cNvPr id="13" name="">
            <a:extLst xmlns:a="http://schemas.openxmlformats.org/drawingml/2006/main">
              <a:ext uri="{FF2B5EF4-FFF2-40B4-BE49-F238E27FC236}">
                <a16:creationId xmlns:a16="http://schemas.microsoft.com/office/drawing/2014/main" id="{83E81114-97AB-4E26-BC55-F3EB56776AAC}"/>
              </a:ext>
            </a:extLst>
          </p:cNvPr>
          <p:cNvSpPr>
            <a:spLocks xmlns:a="http://schemas.openxmlformats.org/drawingml/2006/main" noGrp="1"/>
          </p:cNvSpPr>
          <p:nvPr/>
        </p:nvSpPr>
        <p:spPr>
          <a:xfrm xmlns:a="http://schemas.openxmlformats.org/drawingml/2006/main">
            <a:off x="2571750" y="5524500"/>
            <a:ext cx="571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i="1">
                <a:solidFill>
                  <a:srgbClr val="6C737A"/>
                </a:solidFill>
                <a:latin typeface="Georgia"/>
                <a:ea typeface="Georgia"/>
                <a:cs typeface="Georgia"/>
              </a:defRPr>
            </a:pPr>
            <a:r>
              <a:rPr sz="2025" b="0" i="1">
                <a:solidFill>
                  <a:srgbClr val="6C737A"/>
                </a:solidFill>
                <a:latin typeface="Georgia"/>
                <a:ea typeface="Georgia"/>
                <a:cs typeface="Georgia"/>
              </a:rPr>
              <a:t>Insight informed by experience.</a:t>
            </a:r>
          </a:p>
        </p:txBody>
      </p:sp>
    </p:spTree>
    <p:extLst>
      <p:ext uri="{BB962C8B-B14F-4D97-AF65-F5344CB8AC3E}">
        <p14:creationId xmlns:p14="http://schemas.microsoft.com/office/powerpoint/2010/main" val="600881177"/>
      </p:ext>
    </p:extLst>
  </p:cSld>
</p:sld>
</file>

<file path=ppt/slides/slide5.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8D0F754-DD5E-48D1-863E-7E3CB27CA21C}"/>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4C64A2DA-77FE-4D4D-89B9-1533257E8974}"/>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05</a:t>
            </a:r>
          </a:p>
        </p:txBody>
      </p:sp>
      <p:sp>
        <p:nvSpPr>
          <p:cNvPr id="3" name="">
            <a:extLst xmlns:a="http://schemas.openxmlformats.org/drawingml/2006/main">
              <a:ext uri="{FF2B5EF4-FFF2-40B4-BE49-F238E27FC236}">
                <a16:creationId xmlns:a16="http://schemas.microsoft.com/office/drawing/2014/main" id="{DD77A1FC-E54A-4561-AB12-7DC00D69474E}"/>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The AvTrix name</a:t>
            </a:r>
          </a:p>
        </p:txBody>
      </p:sp>
      <p:sp>
        <p:nvSpPr>
          <p:cNvPr id="4" name="">
            <a:extLst xmlns:a="http://schemas.openxmlformats.org/drawingml/2006/main">
              <a:ext uri="{FF2B5EF4-FFF2-40B4-BE49-F238E27FC236}">
                <a16:creationId xmlns:a16="http://schemas.microsoft.com/office/drawing/2014/main" id="{A50A25E7-52A6-4C05-8E79-C46482E71959}"/>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3B72D1-FE0F-4CB4-9610-BE51E71D6B68}"/>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Derived from Aviatrix: a woman who flies</a:t>
            </a:r>
          </a:p>
        </p:txBody>
      </p:sp>
      <p:sp>
        <p:nvSpPr>
          <p:cNvPr id="6" name="">
            <a:extLst xmlns:a="http://schemas.openxmlformats.org/drawingml/2006/main">
              <a:ext uri="{FF2B5EF4-FFF2-40B4-BE49-F238E27FC236}">
                <a16:creationId xmlns:a16="http://schemas.microsoft.com/office/drawing/2014/main" id="{3444DB16-C976-4E2E-80CB-2B88F0275011}"/>
              </a:ext>
            </a:extLst>
          </p:cNvPr>
          <p:cNvSpPr>
            <a:spLocks xmlns:a="http://schemas.openxmlformats.org/drawingml/2006/main" noGrp="1"/>
          </p:cNvSpPr>
          <p:nvPr/>
        </p:nvSpPr>
        <p:spPr>
          <a:xfrm xmlns:a="http://schemas.openxmlformats.org/drawingml/2006/main">
            <a:off x="647700" y="1790700"/>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i="0">
                <a:solidFill>
                  <a:srgbClr val="1A1F25"/>
                </a:solidFill>
                <a:latin typeface="Bahnschrift"/>
                <a:ea typeface="Bahnschrift"/>
                <a:cs typeface="Bahnschrift"/>
              </a:defRPr>
            </a:pPr>
            <a:r>
              <a:rPr sz="5400" b="1" i="0">
                <a:solidFill>
                  <a:srgbClr val="1A1F25"/>
                </a:solidFill>
                <a:latin typeface="Bahnschrift"/>
                <a:ea typeface="Bahnschrift"/>
                <a:cs typeface="Bahnschrift"/>
              </a:rPr>
              <a:t>AVIATRIX</a:t>
            </a:r>
          </a:p>
        </p:txBody>
      </p:sp>
      <p:sp>
        <p:nvSpPr>
          <p:cNvPr id="7" name="">
            <a:extLst xmlns:a="http://schemas.openxmlformats.org/drawingml/2006/main">
              <a:ext uri="{FF2B5EF4-FFF2-40B4-BE49-F238E27FC236}">
                <a16:creationId xmlns:a16="http://schemas.microsoft.com/office/drawing/2014/main" id="{BE13D5FF-63AC-4F1B-B179-2F6737C23A06}"/>
              </a:ext>
            </a:extLst>
          </p:cNvPr>
          <p:cNvSpPr>
            <a:spLocks xmlns:a="http://schemas.openxmlformats.org/drawingml/2006/main" noGrp="1"/>
          </p:cNvSpPr>
          <p:nvPr/>
        </p:nvSpPr>
        <p:spPr>
          <a:xfrm xmlns:a="http://schemas.openxmlformats.org/drawingml/2006/main">
            <a:off x="647700" y="2876550"/>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i="0">
                <a:solidFill>
                  <a:srgbClr val="B8864F"/>
                </a:solidFill>
                <a:latin typeface="Bahnschrift"/>
                <a:ea typeface="Bahnschrift"/>
                <a:cs typeface="Bahnschrift"/>
              </a:defRPr>
            </a:pPr>
            <a:r>
              <a:rPr sz="5400" b="1" i="0">
                <a:solidFill>
                  <a:srgbClr val="B8864F"/>
                </a:solidFill>
                <a:latin typeface="Bahnschrift"/>
                <a:ea typeface="Bahnschrift"/>
                <a:cs typeface="Bahnschrift"/>
              </a:rPr>
              <a:t>AVTRIX</a:t>
            </a:r>
          </a:p>
        </p:txBody>
      </p:sp>
      <p:sp>
        <p:nvSpPr>
          <p:cNvPr id="8" name="">
            <a:extLst xmlns:a="http://schemas.openxmlformats.org/drawingml/2006/main">
              <a:ext uri="{FF2B5EF4-FFF2-40B4-BE49-F238E27FC236}">
                <a16:creationId xmlns:a16="http://schemas.microsoft.com/office/drawing/2014/main" id="{7EC6D04B-85C6-42F8-84BA-F72B040E8611}"/>
              </a:ext>
            </a:extLst>
          </p:cNvPr>
          <p:cNvSpPr>
            <a:spLocks xmlns:a="http://schemas.openxmlformats.org/drawingml/2006/main" noGrp="1"/>
          </p:cNvSpPr>
          <p:nvPr/>
        </p:nvSpPr>
        <p:spPr>
          <a:xfrm xmlns:a="http://schemas.openxmlformats.org/drawingml/2006/main">
            <a:off x="666750" y="3981450"/>
            <a:ext cx="5048250" cy="47625"/>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A4BB1D-B9E5-48CC-911E-A28272A18797}"/>
              </a:ext>
            </a:extLst>
          </p:cNvPr>
          <p:cNvSpPr>
            <a:spLocks xmlns:a="http://schemas.openxmlformats.org/drawingml/2006/main" noGrp="1"/>
          </p:cNvSpPr>
          <p:nvPr/>
        </p:nvSpPr>
        <p:spPr>
          <a:xfrm xmlns:a="http://schemas.openxmlformats.org/drawingml/2006/main">
            <a:off x="666750" y="4324350"/>
            <a:ext cx="5238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i="0">
                <a:solidFill>
                  <a:srgbClr val="1A1F25"/>
                </a:solidFill>
                <a:latin typeface="Georgia"/>
                <a:ea typeface="Georgia"/>
                <a:cs typeface="Georgia"/>
              </a:defRPr>
            </a:pPr>
            <a:r>
              <a:rPr sz="1800" b="0" i="0">
                <a:solidFill>
                  <a:srgbClr val="1A1F25"/>
                </a:solidFill>
                <a:latin typeface="Georgia"/>
                <a:ea typeface="Georgia"/>
                <a:cs typeface="Georgia"/>
              </a:rPr>
              <a:t>The shortened name keeps the spirit of the original word while creating a sharper, contemporary form suited to engineering, procurement and intelligence.</a:t>
            </a:r>
          </a:p>
        </p:txBody>
      </p:sp>
      <p:sp>
        <p:nvSpPr>
          <p:cNvPr id="10" name="">
            <a:extLst xmlns:a="http://schemas.openxmlformats.org/drawingml/2006/main">
              <a:ext uri="{FF2B5EF4-FFF2-40B4-BE49-F238E27FC236}">
                <a16:creationId xmlns:a16="http://schemas.microsoft.com/office/drawing/2014/main" id="{9812024C-8043-4985-9CD9-1FDE088D45C5}"/>
              </a:ext>
            </a:extLst>
          </p:cNvPr>
          <p:cNvSpPr>
            <a:spLocks xmlns:a="http://schemas.openxmlformats.org/drawingml/2006/main" noGrp="1"/>
          </p:cNvSpPr>
          <p:nvPr/>
        </p:nvSpPr>
        <p:spPr>
          <a:xfrm xmlns:a="http://schemas.openxmlformats.org/drawingml/2006/main">
            <a:off x="6762750" y="1657350"/>
            <a:ext cx="4762500" cy="4343400"/>
          </a:xfrm>
          <a:prstGeom xmlns:a="http://schemas.openxmlformats.org/drawingml/2006/main" prst="roundRect">
            <a:avLst>
              <a:gd name="adj" fmla="val 3947"/>
            </a:avLst>
          </a:prstGeom>
          <a:solidFill xmlns:a="http://schemas.openxmlformats.org/drawingml/2006/main">
            <a:srgbClr val="1A1F2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3CB052-0FE4-4EF0-8CC1-6E85A4FB6521}"/>
              </a:ext>
            </a:extLst>
          </p:cNvPr>
          <p:cNvSpPr>
            <a:spLocks xmlns:a="http://schemas.openxmlformats.org/drawingml/2006/main" noGrp="1"/>
          </p:cNvSpPr>
          <p:nvPr/>
        </p:nvSpPr>
        <p:spPr>
          <a:xfrm xmlns:a="http://schemas.openxmlformats.org/drawingml/2006/main">
            <a:off x="7105650" y="20002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NAME PRINCIPLES</a:t>
            </a:r>
          </a:p>
        </p:txBody>
      </p:sp>
      <p:sp>
        <p:nvSpPr>
          <p:cNvPr id="12" name="">
            <a:extLst xmlns:a="http://schemas.openxmlformats.org/drawingml/2006/main">
              <a:ext uri="{FF2B5EF4-FFF2-40B4-BE49-F238E27FC236}">
                <a16:creationId xmlns:a16="http://schemas.microsoft.com/office/drawing/2014/main" id="{1B58035F-C7F6-42A9-9288-437AFF2695B1}"/>
              </a:ext>
            </a:extLst>
          </p:cNvPr>
          <p:cNvSpPr>
            <a:spLocks xmlns:a="http://schemas.openxmlformats.org/drawingml/2006/main" noGrp="1"/>
          </p:cNvSpPr>
          <p:nvPr/>
        </p:nvSpPr>
        <p:spPr>
          <a:xfrm xmlns:a="http://schemas.openxmlformats.org/drawingml/2006/main">
            <a:off x="7105650" y="2457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01</a:t>
            </a:r>
          </a:p>
        </p:txBody>
      </p:sp>
      <p:sp>
        <p:nvSpPr>
          <p:cNvPr id="13" name="">
            <a:extLst xmlns:a="http://schemas.openxmlformats.org/drawingml/2006/main">
              <a:ext uri="{FF2B5EF4-FFF2-40B4-BE49-F238E27FC236}">
                <a16:creationId xmlns:a16="http://schemas.microsoft.com/office/drawing/2014/main" id="{0BEE616F-E5D5-4BD4-9CAA-0B6FB9B1A88A}"/>
              </a:ext>
            </a:extLst>
          </p:cNvPr>
          <p:cNvSpPr>
            <a:spLocks xmlns:a="http://schemas.openxmlformats.org/drawingml/2006/main" noGrp="1"/>
          </p:cNvSpPr>
          <p:nvPr/>
        </p:nvSpPr>
        <p:spPr>
          <a:xfrm xmlns:a="http://schemas.openxmlformats.org/drawingml/2006/main">
            <a:off x="7658100" y="24574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Say it with confidence</a:t>
            </a:r>
          </a:p>
        </p:txBody>
      </p:sp>
      <p:sp>
        <p:nvSpPr>
          <p:cNvPr id="14" name="">
            <a:extLst xmlns:a="http://schemas.openxmlformats.org/drawingml/2006/main">
              <a:ext uri="{FF2B5EF4-FFF2-40B4-BE49-F238E27FC236}">
                <a16:creationId xmlns:a16="http://schemas.microsoft.com/office/drawing/2014/main" id="{67A54828-C424-4A45-8C3D-911C7F7A598D}"/>
              </a:ext>
            </a:extLst>
          </p:cNvPr>
          <p:cNvSpPr>
            <a:spLocks xmlns:a="http://schemas.openxmlformats.org/drawingml/2006/main" noGrp="1"/>
          </p:cNvSpPr>
          <p:nvPr/>
        </p:nvSpPr>
        <p:spPr>
          <a:xfrm xmlns:a="http://schemas.openxmlformats.org/drawingml/2006/main">
            <a:off x="7658100" y="2819400"/>
            <a:ext cx="335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Pronounce AvTrix as a single name. The Aviatrix origin can be introduced in brand storytelling.</a:t>
            </a:r>
          </a:p>
        </p:txBody>
      </p:sp>
      <p:sp>
        <p:nvSpPr>
          <p:cNvPr id="15" name="">
            <a:extLst xmlns:a="http://schemas.openxmlformats.org/drawingml/2006/main">
              <a:ext uri="{FF2B5EF4-FFF2-40B4-BE49-F238E27FC236}">
                <a16:creationId xmlns:a16="http://schemas.microsoft.com/office/drawing/2014/main" id="{0BFEB9C3-2077-4059-81C4-C23A7E362BB5}"/>
              </a:ext>
            </a:extLst>
          </p:cNvPr>
          <p:cNvSpPr>
            <a:spLocks xmlns:a="http://schemas.openxmlformats.org/drawingml/2006/main" noGrp="1"/>
          </p:cNvSpPr>
          <p:nvPr/>
        </p:nvSpPr>
        <p:spPr>
          <a:xfrm xmlns:a="http://schemas.openxmlformats.org/drawingml/2006/main">
            <a:off x="7105650" y="3600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02</a:t>
            </a:r>
          </a:p>
        </p:txBody>
      </p:sp>
      <p:sp>
        <p:nvSpPr>
          <p:cNvPr id="16" name="">
            <a:extLst xmlns:a="http://schemas.openxmlformats.org/drawingml/2006/main">
              <a:ext uri="{FF2B5EF4-FFF2-40B4-BE49-F238E27FC236}">
                <a16:creationId xmlns:a16="http://schemas.microsoft.com/office/drawing/2014/main" id="{3ABCB5DC-F0D3-4334-8F76-5DCCDE9BC24A}"/>
              </a:ext>
            </a:extLst>
          </p:cNvPr>
          <p:cNvSpPr>
            <a:spLocks xmlns:a="http://schemas.openxmlformats.org/drawingml/2006/main" noGrp="1"/>
          </p:cNvSpPr>
          <p:nvPr/>
        </p:nvSpPr>
        <p:spPr>
          <a:xfrm xmlns:a="http://schemas.openxmlformats.org/drawingml/2006/main">
            <a:off x="7658100" y="36004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Protect the capital T and X</a:t>
            </a:r>
          </a:p>
        </p:txBody>
      </p:sp>
      <p:sp>
        <p:nvSpPr>
          <p:cNvPr id="17" name="">
            <a:extLst xmlns:a="http://schemas.openxmlformats.org/drawingml/2006/main">
              <a:ext uri="{FF2B5EF4-FFF2-40B4-BE49-F238E27FC236}">
                <a16:creationId xmlns:a16="http://schemas.microsoft.com/office/drawing/2014/main" id="{DAAD22CA-AA7E-481B-B888-070AE6639A2B}"/>
              </a:ext>
            </a:extLst>
          </p:cNvPr>
          <p:cNvSpPr>
            <a:spLocks xmlns:a="http://schemas.openxmlformats.org/drawingml/2006/main" noGrp="1"/>
          </p:cNvSpPr>
          <p:nvPr/>
        </p:nvSpPr>
        <p:spPr>
          <a:xfrm xmlns:a="http://schemas.openxmlformats.org/drawingml/2006/main">
            <a:off x="7658100" y="3962400"/>
            <a:ext cx="335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Use AvTrix in prose and lockups. The X may carry copper emphasis in display settings.</a:t>
            </a:r>
          </a:p>
        </p:txBody>
      </p:sp>
      <p:sp>
        <p:nvSpPr>
          <p:cNvPr id="18" name="">
            <a:extLst xmlns:a="http://schemas.openxmlformats.org/drawingml/2006/main">
              <a:ext uri="{FF2B5EF4-FFF2-40B4-BE49-F238E27FC236}">
                <a16:creationId xmlns:a16="http://schemas.microsoft.com/office/drawing/2014/main" id="{559B8638-A597-4D4F-BDAA-B401F4728A32}"/>
              </a:ext>
            </a:extLst>
          </p:cNvPr>
          <p:cNvSpPr>
            <a:spLocks xmlns:a="http://schemas.openxmlformats.org/drawingml/2006/main" noGrp="1"/>
          </p:cNvSpPr>
          <p:nvPr/>
        </p:nvSpPr>
        <p:spPr>
          <a:xfrm xmlns:a="http://schemas.openxmlformats.org/drawingml/2006/main">
            <a:off x="7105650" y="47434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03</a:t>
            </a:r>
          </a:p>
        </p:txBody>
      </p:sp>
      <p:sp>
        <p:nvSpPr>
          <p:cNvPr id="19" name="">
            <a:extLst xmlns:a="http://schemas.openxmlformats.org/drawingml/2006/main">
              <a:ext uri="{FF2B5EF4-FFF2-40B4-BE49-F238E27FC236}">
                <a16:creationId xmlns:a16="http://schemas.microsoft.com/office/drawing/2014/main" id="{7B150B69-5CC9-48E1-960B-E94255958481}"/>
              </a:ext>
            </a:extLst>
          </p:cNvPr>
          <p:cNvSpPr>
            <a:spLocks xmlns:a="http://schemas.openxmlformats.org/drawingml/2006/main" noGrp="1"/>
          </p:cNvSpPr>
          <p:nvPr/>
        </p:nvSpPr>
        <p:spPr>
          <a:xfrm xmlns:a="http://schemas.openxmlformats.org/drawingml/2006/main">
            <a:off x="7658100" y="47434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Avoid invented acronyms</a:t>
            </a:r>
          </a:p>
        </p:txBody>
      </p:sp>
      <p:sp>
        <p:nvSpPr>
          <p:cNvPr id="20" name="">
            <a:extLst xmlns:a="http://schemas.openxmlformats.org/drawingml/2006/main">
              <a:ext uri="{FF2B5EF4-FFF2-40B4-BE49-F238E27FC236}">
                <a16:creationId xmlns:a16="http://schemas.microsoft.com/office/drawing/2014/main" id="{DB743062-8788-4BEE-B7EE-4F8A71C4E8D7}"/>
              </a:ext>
            </a:extLst>
          </p:cNvPr>
          <p:cNvSpPr>
            <a:spLocks xmlns:a="http://schemas.openxmlformats.org/drawingml/2006/main" noGrp="1"/>
          </p:cNvSpPr>
          <p:nvPr/>
        </p:nvSpPr>
        <p:spPr>
          <a:xfrm xmlns:a="http://schemas.openxmlformats.org/drawingml/2006/main">
            <a:off x="7658100" y="5105400"/>
            <a:ext cx="335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The meaning is authentic and human. Do not retrofit the letters into a technical acronym.</a:t>
            </a:r>
          </a:p>
        </p:txBody>
      </p:sp>
    </p:spTree>
    <p:extLst>
      <p:ext uri="{BB962C8B-B14F-4D97-AF65-F5344CB8AC3E}">
        <p14:creationId xmlns:p14="http://schemas.microsoft.com/office/powerpoint/2010/main" val="1449170357"/>
      </p:ext>
    </p:extLst>
  </p:cSld>
</p:sld>
</file>

<file path=ppt/slides/slide6.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5248A08-BC81-461F-A589-B4BE8166DCEE}"/>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E8661C75-8EC9-492C-9B46-E16F307B0BFF}"/>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06</a:t>
            </a:r>
          </a:p>
        </p:txBody>
      </p:sp>
      <p:sp>
        <p:nvSpPr>
          <p:cNvPr id="3" name="">
            <a:extLst xmlns:a="http://schemas.openxmlformats.org/drawingml/2006/main">
              <a:ext uri="{FF2B5EF4-FFF2-40B4-BE49-F238E27FC236}">
                <a16:creationId xmlns:a16="http://schemas.microsoft.com/office/drawing/2014/main" id="{64D75BA8-D3D6-492E-AE61-3B7EDC894816}"/>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Brand story</a:t>
            </a:r>
          </a:p>
        </p:txBody>
      </p:sp>
      <p:sp>
        <p:nvSpPr>
          <p:cNvPr id="4" name="">
            <a:extLst xmlns:a="http://schemas.openxmlformats.org/drawingml/2006/main">
              <a:ext uri="{FF2B5EF4-FFF2-40B4-BE49-F238E27FC236}">
                <a16:creationId xmlns:a16="http://schemas.microsoft.com/office/drawing/2014/main" id="{A80715F0-1C84-47B0-B929-6AD0C95C936C}"/>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006479-346A-48A4-9864-9CB05F21F5AF}"/>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Experience in flight becomes intelligence on the ground</a:t>
            </a:r>
          </a:p>
        </p:txBody>
      </p:sp>
      <p:sp>
        <p:nvSpPr>
          <p:cNvPr id="6" name="">
            <a:extLst xmlns:a="http://schemas.openxmlformats.org/drawingml/2006/main">
              <a:ext uri="{FF2B5EF4-FFF2-40B4-BE49-F238E27FC236}">
                <a16:creationId xmlns:a16="http://schemas.microsoft.com/office/drawing/2014/main" id="{25766A6C-35CD-41AB-A0B7-971332BAD7DC}"/>
              </a:ext>
            </a:extLst>
          </p:cNvPr>
          <p:cNvSpPr>
            <a:spLocks xmlns:a="http://schemas.openxmlformats.org/drawingml/2006/main" noGrp="1"/>
          </p:cNvSpPr>
          <p:nvPr/>
        </p:nvSpPr>
        <p:spPr>
          <a:xfrm xmlns:a="http://schemas.openxmlformats.org/drawingml/2006/main">
            <a:off x="685800" y="18859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70A9EF9D-7285-40B7-84A2-7C27CF6C8156}"/>
              </a:ext>
            </a:extLst>
          </p:cNvPr>
          <p:cNvSpPr>
            <a:spLocks xmlns:a="http://schemas.openxmlformats.org/drawingml/2006/main" noGrp="1"/>
          </p:cNvSpPr>
          <p:nvPr/>
        </p:nvSpPr>
        <p:spPr>
          <a:xfrm xmlns:a="http://schemas.openxmlformats.org/drawingml/2006/main">
            <a:off x="1238250" y="1885950"/>
            <a:ext cx="935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The Aviatrix</a:t>
            </a:r>
          </a:p>
        </p:txBody>
      </p:sp>
      <p:sp>
        <p:nvSpPr>
          <p:cNvPr id="8" name="">
            <a:extLst xmlns:a="http://schemas.openxmlformats.org/drawingml/2006/main">
              <a:ext uri="{FF2B5EF4-FFF2-40B4-BE49-F238E27FC236}">
                <a16:creationId xmlns:a16="http://schemas.microsoft.com/office/drawing/2014/main" id="{7F23FB61-CD11-4CC7-8E14-6702075EC8CC}"/>
              </a:ext>
            </a:extLst>
          </p:cNvPr>
          <p:cNvSpPr>
            <a:spLocks xmlns:a="http://schemas.openxmlformats.org/drawingml/2006/main" noGrp="1"/>
          </p:cNvSpPr>
          <p:nvPr/>
        </p:nvSpPr>
        <p:spPr>
          <a:xfrm xmlns:a="http://schemas.openxmlformats.org/drawingml/2006/main">
            <a:off x="1238250" y="2247900"/>
            <a:ext cx="9353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The name begins with capability, resolve and a direct relationship with flight.</a:t>
            </a:r>
          </a:p>
        </p:txBody>
      </p:sp>
      <p:sp>
        <p:nvSpPr>
          <p:cNvPr id="9" name="">
            <a:extLst xmlns:a="http://schemas.openxmlformats.org/drawingml/2006/main">
              <a:ext uri="{FF2B5EF4-FFF2-40B4-BE49-F238E27FC236}">
                <a16:creationId xmlns:a16="http://schemas.microsoft.com/office/drawing/2014/main" id="{D26A2C71-E8F6-476C-B0DA-2F7C2509C4DA}"/>
              </a:ext>
            </a:extLst>
          </p:cNvPr>
          <p:cNvSpPr>
            <a:spLocks xmlns:a="http://schemas.openxmlformats.org/drawingml/2006/main" noGrp="1"/>
          </p:cNvSpPr>
          <p:nvPr/>
        </p:nvSpPr>
        <p:spPr>
          <a:xfrm xmlns:a="http://schemas.openxmlformats.org/drawingml/2006/main">
            <a:off x="685800" y="31623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02</a:t>
            </a:r>
          </a:p>
        </p:txBody>
      </p:sp>
      <p:sp>
        <p:nvSpPr>
          <p:cNvPr id="10" name="">
            <a:extLst xmlns:a="http://schemas.openxmlformats.org/drawingml/2006/main">
              <a:ext uri="{FF2B5EF4-FFF2-40B4-BE49-F238E27FC236}">
                <a16:creationId xmlns:a16="http://schemas.microsoft.com/office/drawing/2014/main" id="{43996A7C-5DA3-4D90-8CF4-8506A2BB0F30}"/>
              </a:ext>
            </a:extLst>
          </p:cNvPr>
          <p:cNvSpPr>
            <a:spLocks xmlns:a="http://schemas.openxmlformats.org/drawingml/2006/main" noGrp="1"/>
          </p:cNvSpPr>
          <p:nvPr/>
        </p:nvSpPr>
        <p:spPr>
          <a:xfrm xmlns:a="http://schemas.openxmlformats.org/drawingml/2006/main">
            <a:off x="1238250" y="3162300"/>
            <a:ext cx="935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Engineering judgement</a:t>
            </a:r>
          </a:p>
        </p:txBody>
      </p:sp>
      <p:sp>
        <p:nvSpPr>
          <p:cNvPr id="11" name="">
            <a:extLst xmlns:a="http://schemas.openxmlformats.org/drawingml/2006/main">
              <a:ext uri="{FF2B5EF4-FFF2-40B4-BE49-F238E27FC236}">
                <a16:creationId xmlns:a16="http://schemas.microsoft.com/office/drawing/2014/main" id="{B32A3470-1D36-4E43-B9DC-BF90A00E555D}"/>
              </a:ext>
            </a:extLst>
          </p:cNvPr>
          <p:cNvSpPr>
            <a:spLocks xmlns:a="http://schemas.openxmlformats.org/drawingml/2006/main" noGrp="1"/>
          </p:cNvSpPr>
          <p:nvPr/>
        </p:nvSpPr>
        <p:spPr>
          <a:xfrm xmlns:a="http://schemas.openxmlformats.org/drawingml/2006/main">
            <a:off x="1238250" y="3524250"/>
            <a:ext cx="9353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Technical understanding turns part numbers, records and constraints into dependable decisions.</a:t>
            </a:r>
          </a:p>
        </p:txBody>
      </p:sp>
      <p:sp>
        <p:nvSpPr>
          <p:cNvPr id="12" name="">
            <a:extLst xmlns:a="http://schemas.openxmlformats.org/drawingml/2006/main">
              <a:ext uri="{FF2B5EF4-FFF2-40B4-BE49-F238E27FC236}">
                <a16:creationId xmlns:a16="http://schemas.microsoft.com/office/drawing/2014/main" id="{E13D535E-76EE-40FC-B3C8-5D971A14A037}"/>
              </a:ext>
            </a:extLst>
          </p:cNvPr>
          <p:cNvSpPr>
            <a:spLocks xmlns:a="http://schemas.openxmlformats.org/drawingml/2006/main" noGrp="1"/>
          </p:cNvSpPr>
          <p:nvPr/>
        </p:nvSpPr>
        <p:spPr>
          <a:xfrm xmlns:a="http://schemas.openxmlformats.org/drawingml/2006/main">
            <a:off x="685800" y="443865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CDEB771B-3696-4D54-A2A3-5602B573941A}"/>
              </a:ext>
            </a:extLst>
          </p:cNvPr>
          <p:cNvSpPr>
            <a:spLocks xmlns:a="http://schemas.openxmlformats.org/drawingml/2006/main" noGrp="1"/>
          </p:cNvSpPr>
          <p:nvPr/>
        </p:nvSpPr>
        <p:spPr>
          <a:xfrm xmlns:a="http://schemas.openxmlformats.org/drawingml/2006/main">
            <a:off x="1238250" y="4438650"/>
            <a:ext cx="935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Commercial intelligence</a:t>
            </a:r>
          </a:p>
        </p:txBody>
      </p:sp>
      <p:sp>
        <p:nvSpPr>
          <p:cNvPr id="14" name="">
            <a:extLst xmlns:a="http://schemas.openxmlformats.org/drawingml/2006/main">
              <a:ext uri="{FF2B5EF4-FFF2-40B4-BE49-F238E27FC236}">
                <a16:creationId xmlns:a16="http://schemas.microsoft.com/office/drawing/2014/main" id="{0325C844-61FB-446E-9576-5EE603C02068}"/>
              </a:ext>
            </a:extLst>
          </p:cNvPr>
          <p:cNvSpPr>
            <a:spLocks xmlns:a="http://schemas.openxmlformats.org/drawingml/2006/main" noGrp="1"/>
          </p:cNvSpPr>
          <p:nvPr/>
        </p:nvSpPr>
        <p:spPr>
          <a:xfrm xmlns:a="http://schemas.openxmlformats.org/drawingml/2006/main">
            <a:off x="1238250" y="4800600"/>
            <a:ext cx="9353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Market knowledge and evidence improve sourcing choices and support stronger fleet outcomes.</a:t>
            </a:r>
          </a:p>
        </p:txBody>
      </p:sp>
      <p:sp>
        <p:nvSpPr>
          <p:cNvPr id="15" name="">
            <a:extLst xmlns:a="http://schemas.openxmlformats.org/drawingml/2006/main">
              <a:ext uri="{FF2B5EF4-FFF2-40B4-BE49-F238E27FC236}">
                <a16:creationId xmlns:a16="http://schemas.microsoft.com/office/drawing/2014/main" id="{A4885BEB-C928-482C-ABCE-2418592D9250}"/>
              </a:ext>
            </a:extLst>
          </p:cNvPr>
          <p:cNvSpPr>
            <a:spLocks xmlns:a="http://schemas.openxmlformats.org/drawingml/2006/main" noGrp="1"/>
          </p:cNvSpPr>
          <p:nvPr/>
        </p:nvSpPr>
        <p:spPr>
          <a:xfrm xmlns:a="http://schemas.openxmlformats.org/drawingml/2006/main">
            <a:off x="10287000" y="1809750"/>
            <a:ext cx="876300" cy="3667125"/>
          </a:xfrm>
          <a:prstGeom xmlns:a="http://schemas.openxmlformats.org/drawingml/2006/main" prst="roundRect">
            <a:avLst>
              <a:gd name="adj" fmla="val 50000"/>
            </a:avLst>
          </a:prstGeom>
          <a:gradFill xmlns:a="http://schemas.openxmlformats.org/drawingml/2006/main">
            <a:gsLst>
              <a:gs pos="0">
                <a:srgbClr val="B8864F"/>
              </a:gs>
              <a:gs pos="55000">
                <a:srgbClr val="CBA36A"/>
              </a:gs>
              <a:gs pos="100000">
                <a:srgbClr val="F5EDDF"/>
              </a:gs>
            </a:gsLst>
            <a:lin ang="1080000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6091E5-0FCE-4049-BCB6-E9F2F5314F7C}"/>
              </a:ext>
            </a:extLst>
          </p:cNvPr>
          <p:cNvSpPr>
            <a:spLocks xmlns:a="http://schemas.openxmlformats.org/drawingml/2006/main" noGrp="1"/>
          </p:cNvSpPr>
          <p:nvPr/>
        </p:nvSpPr>
        <p:spPr>
          <a:xfrm xmlns:a="http://schemas.openxmlformats.org/drawingml/2006/main">
            <a:off x="10448925" y="3200400"/>
            <a:ext cx="619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i="0">
                <a:solidFill>
                  <a:srgbClr val="1A1F25"/>
                </a:solidFill>
                <a:latin typeface="Bahnschrift"/>
                <a:ea typeface="Bahnschrift"/>
                <a:cs typeface="Bahnschrift"/>
              </a:defRPr>
            </a:pPr>
            <a:r>
              <a:rPr sz="4050" b="1" i="0">
                <a:solidFill>
                  <a:srgbClr val="1A1F25"/>
                </a:solidFill>
                <a:latin typeface="Bahnschrift"/>
                <a:ea typeface="Bahnschrift"/>
                <a:cs typeface="Bahnschrift"/>
              </a:rPr>
              <a:t>X</a:t>
            </a:r>
          </a:p>
        </p:txBody>
      </p:sp>
    </p:spTree>
    <p:extLst>
      <p:ext uri="{BB962C8B-B14F-4D97-AF65-F5344CB8AC3E}">
        <p14:creationId xmlns:p14="http://schemas.microsoft.com/office/powerpoint/2010/main" val="749455537"/>
      </p:ext>
    </p:extLst>
  </p:cSld>
</p:sld>
</file>

<file path=ppt/slides/slide7.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46EB62-1514-4BDF-9D6D-24B866FC7DF3}"/>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65DFDFF9-D9F0-4BA3-8D77-E4753D4E91CD}"/>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07</a:t>
            </a:r>
          </a:p>
        </p:txBody>
      </p:sp>
      <p:sp>
        <p:nvSpPr>
          <p:cNvPr id="3" name="">
            <a:extLst xmlns:a="http://schemas.openxmlformats.org/drawingml/2006/main">
              <a:ext uri="{FF2B5EF4-FFF2-40B4-BE49-F238E27FC236}">
                <a16:creationId xmlns:a16="http://schemas.microsoft.com/office/drawing/2014/main" id="{1C8922C9-85C2-4453-963F-563140FD3E43}"/>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Positioning</a:t>
            </a:r>
          </a:p>
        </p:txBody>
      </p:sp>
      <p:sp>
        <p:nvSpPr>
          <p:cNvPr id="4" name="">
            <a:extLst xmlns:a="http://schemas.openxmlformats.org/drawingml/2006/main">
              <a:ext uri="{FF2B5EF4-FFF2-40B4-BE49-F238E27FC236}">
                <a16:creationId xmlns:a16="http://schemas.microsoft.com/office/drawing/2014/main" id="{63583DF6-2A39-4D83-906C-73FEA9875983}"/>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74FE0E-9DBF-4BB9-B732-EBAAF09EDC4B}"/>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Engineering-led aviation procurement and fleet intelligence</a:t>
            </a:r>
          </a:p>
        </p:txBody>
      </p:sp>
      <p:sp>
        <p:nvSpPr>
          <p:cNvPr id="6" name="">
            <a:extLst xmlns:a="http://schemas.openxmlformats.org/drawingml/2006/main">
              <a:ext uri="{FF2B5EF4-FFF2-40B4-BE49-F238E27FC236}">
                <a16:creationId xmlns:a16="http://schemas.microsoft.com/office/drawing/2014/main" id="{87CA4930-2324-44C4-B3A6-2CC0391C8004}"/>
              </a:ext>
            </a:extLst>
          </p:cNvPr>
          <p:cNvSpPr>
            <a:spLocks xmlns:a="http://schemas.openxmlformats.org/drawingml/2006/main" noGrp="1"/>
          </p:cNvSpPr>
          <p:nvPr/>
        </p:nvSpPr>
        <p:spPr>
          <a:xfrm xmlns:a="http://schemas.openxmlformats.org/drawingml/2006/main">
            <a:off x="666750" y="167640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i="0">
                <a:solidFill>
                  <a:srgbClr val="1A1F25"/>
                </a:solidFill>
                <a:latin typeface="Georgia"/>
                <a:ea typeface="Georgia"/>
                <a:cs typeface="Georgia"/>
              </a:defRPr>
            </a:pPr>
            <a:r>
              <a:rPr sz="2250" b="0" i="0">
                <a:solidFill>
                  <a:srgbClr val="1A1F25"/>
                </a:solidFill>
                <a:latin typeface="Georgia"/>
                <a:ea typeface="Georgia"/>
                <a:cs typeface="Georgia"/>
              </a:rPr>
              <a:t>AvTrix brings engineering judgement into aviation sourcing and fleet decisions, helping operators, asset owners and supply partners act with better context and greater confidence.</a:t>
            </a:r>
          </a:p>
        </p:txBody>
      </p:sp>
      <p:sp>
        <p:nvSpPr>
          <p:cNvPr id="7" name="">
            <a:extLst xmlns:a="http://schemas.openxmlformats.org/drawingml/2006/main">
              <a:ext uri="{FF2B5EF4-FFF2-40B4-BE49-F238E27FC236}">
                <a16:creationId xmlns:a16="http://schemas.microsoft.com/office/drawing/2014/main" id="{69F30D31-DA00-4AB4-BA18-0EA1247BEC8D}"/>
              </a:ext>
            </a:extLst>
          </p:cNvPr>
          <p:cNvSpPr>
            <a:spLocks xmlns:a="http://schemas.openxmlformats.org/drawingml/2006/main" noGrp="1"/>
          </p:cNvSpPr>
          <p:nvPr/>
        </p:nvSpPr>
        <p:spPr>
          <a:xfrm xmlns:a="http://schemas.openxmlformats.org/drawingml/2006/main">
            <a:off x="666750" y="3219450"/>
            <a:ext cx="28194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D83180E-8203-4C45-BBFF-FE489D813203}"/>
              </a:ext>
            </a:extLst>
          </p:cNvPr>
          <p:cNvSpPr>
            <a:spLocks xmlns:a="http://schemas.openxmlformats.org/drawingml/2006/main" noGrp="1"/>
          </p:cNvSpPr>
          <p:nvPr/>
        </p:nvSpPr>
        <p:spPr>
          <a:xfrm xmlns:a="http://schemas.openxmlformats.org/drawingml/2006/main">
            <a:off x="666750" y="34480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1A1F25"/>
                </a:solidFill>
                <a:latin typeface="Bahnschrift"/>
                <a:ea typeface="Bahnschrift"/>
                <a:cs typeface="Bahnschrift"/>
              </a:defRPr>
            </a:pPr>
            <a:r>
              <a:rPr sz="1950" b="1" i="0">
                <a:solidFill>
                  <a:srgbClr val="1A1F25"/>
                </a:solidFill>
                <a:latin typeface="Bahnschrift"/>
                <a:ea typeface="Bahnschrift"/>
                <a:cs typeface="Bahnschrift"/>
              </a:rPr>
              <a:t>Where we play</a:t>
            </a:r>
          </a:p>
        </p:txBody>
      </p:sp>
      <p:sp>
        <p:nvSpPr>
          <p:cNvPr id="9" name="">
            <a:extLst xmlns:a="http://schemas.openxmlformats.org/drawingml/2006/main">
              <a:ext uri="{FF2B5EF4-FFF2-40B4-BE49-F238E27FC236}">
                <a16:creationId xmlns:a16="http://schemas.microsoft.com/office/drawing/2014/main" id="{AB01FAEA-384B-4B92-B717-1C833B98C028}"/>
              </a:ext>
            </a:extLst>
          </p:cNvPr>
          <p:cNvSpPr>
            <a:spLocks xmlns:a="http://schemas.openxmlformats.org/drawingml/2006/main" noGrp="1"/>
          </p:cNvSpPr>
          <p:nvPr/>
        </p:nvSpPr>
        <p:spPr>
          <a:xfrm xmlns:a="http://schemas.openxmlformats.org/drawingml/2006/main">
            <a:off x="666750" y="3962400"/>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Components, technical records, supplier intelligence, procurement analysis and fleet-level decision support.</a:t>
            </a:r>
          </a:p>
        </p:txBody>
      </p:sp>
      <p:sp>
        <p:nvSpPr>
          <p:cNvPr id="10" name="">
            <a:extLst xmlns:a="http://schemas.openxmlformats.org/drawingml/2006/main">
              <a:ext uri="{FF2B5EF4-FFF2-40B4-BE49-F238E27FC236}">
                <a16:creationId xmlns:a16="http://schemas.microsoft.com/office/drawing/2014/main" id="{3BC1ABCD-EC07-46E9-BDF3-14B7A631B5C4}"/>
              </a:ext>
            </a:extLst>
          </p:cNvPr>
          <p:cNvSpPr>
            <a:spLocks xmlns:a="http://schemas.openxmlformats.org/drawingml/2006/main" noGrp="1"/>
          </p:cNvSpPr>
          <p:nvPr/>
        </p:nvSpPr>
        <p:spPr>
          <a:xfrm xmlns:a="http://schemas.openxmlformats.org/drawingml/2006/main">
            <a:off x="4114800" y="3219450"/>
            <a:ext cx="28194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F0D800-6497-4841-8801-B2790CFC777E}"/>
              </a:ext>
            </a:extLst>
          </p:cNvPr>
          <p:cNvSpPr>
            <a:spLocks xmlns:a="http://schemas.openxmlformats.org/drawingml/2006/main" noGrp="1"/>
          </p:cNvSpPr>
          <p:nvPr/>
        </p:nvSpPr>
        <p:spPr>
          <a:xfrm xmlns:a="http://schemas.openxmlformats.org/drawingml/2006/main">
            <a:off x="4114800" y="34480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1A1F25"/>
                </a:solidFill>
                <a:latin typeface="Bahnschrift"/>
                <a:ea typeface="Bahnschrift"/>
                <a:cs typeface="Bahnschrift"/>
              </a:defRPr>
            </a:pPr>
            <a:r>
              <a:rPr sz="1950" b="1" i="0">
                <a:solidFill>
                  <a:srgbClr val="1A1F25"/>
                </a:solidFill>
                <a:latin typeface="Bahnschrift"/>
                <a:ea typeface="Bahnschrift"/>
                <a:cs typeface="Bahnschrift"/>
              </a:rPr>
              <a:t>How we win</a:t>
            </a:r>
          </a:p>
        </p:txBody>
      </p:sp>
      <p:sp>
        <p:nvSpPr>
          <p:cNvPr id="12" name="">
            <a:extLst xmlns:a="http://schemas.openxmlformats.org/drawingml/2006/main">
              <a:ext uri="{FF2B5EF4-FFF2-40B4-BE49-F238E27FC236}">
                <a16:creationId xmlns:a16="http://schemas.microsoft.com/office/drawing/2014/main" id="{123828E9-E0A6-434A-A84C-6B6D37DC2E4E}"/>
              </a:ext>
            </a:extLst>
          </p:cNvPr>
          <p:cNvSpPr>
            <a:spLocks xmlns:a="http://schemas.openxmlformats.org/drawingml/2006/main" noGrp="1"/>
          </p:cNvSpPr>
          <p:nvPr/>
        </p:nvSpPr>
        <p:spPr>
          <a:xfrm xmlns:a="http://schemas.openxmlformats.org/drawingml/2006/main">
            <a:off x="4114800" y="3962400"/>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Evidence, engineering literacy, disciplined sourcing and clear communication that connects technical detail to commercial action.</a:t>
            </a:r>
          </a:p>
        </p:txBody>
      </p:sp>
      <p:sp>
        <p:nvSpPr>
          <p:cNvPr id="13" name="">
            <a:extLst xmlns:a="http://schemas.openxmlformats.org/drawingml/2006/main">
              <a:ext uri="{FF2B5EF4-FFF2-40B4-BE49-F238E27FC236}">
                <a16:creationId xmlns:a16="http://schemas.microsoft.com/office/drawing/2014/main" id="{69850FD8-BA9C-48B7-BC7F-E0430594E87A}"/>
              </a:ext>
            </a:extLst>
          </p:cNvPr>
          <p:cNvSpPr>
            <a:spLocks xmlns:a="http://schemas.openxmlformats.org/drawingml/2006/main" noGrp="1"/>
          </p:cNvSpPr>
          <p:nvPr/>
        </p:nvSpPr>
        <p:spPr>
          <a:xfrm xmlns:a="http://schemas.openxmlformats.org/drawingml/2006/main">
            <a:off x="7562850" y="3219450"/>
            <a:ext cx="2819400" cy="38100"/>
          </a:xfrm>
          <a:prstGeom xmlns:a="http://schemas.openxmlformats.org/drawingml/2006/main" prst="rect">
            <a:avLst/>
          </a:prstGeom>
          <a:solidFill xmlns:a="http://schemas.openxmlformats.org/drawingml/2006/main">
            <a:srgbClr val="6C737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2E0F22-6614-463D-BB2C-71DEF62089AC}"/>
              </a:ext>
            </a:extLst>
          </p:cNvPr>
          <p:cNvSpPr>
            <a:spLocks xmlns:a="http://schemas.openxmlformats.org/drawingml/2006/main" noGrp="1"/>
          </p:cNvSpPr>
          <p:nvPr/>
        </p:nvSpPr>
        <p:spPr>
          <a:xfrm xmlns:a="http://schemas.openxmlformats.org/drawingml/2006/main">
            <a:off x="7562850" y="34480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1A1F25"/>
                </a:solidFill>
                <a:latin typeface="Bahnschrift"/>
                <a:ea typeface="Bahnschrift"/>
                <a:cs typeface="Bahnschrift"/>
              </a:defRPr>
            </a:pPr>
            <a:r>
              <a:rPr sz="1950" b="1" i="0">
                <a:solidFill>
                  <a:srgbClr val="1A1F25"/>
                </a:solidFill>
                <a:latin typeface="Bahnschrift"/>
                <a:ea typeface="Bahnschrift"/>
                <a:cs typeface="Bahnschrift"/>
              </a:rPr>
              <a:t>What we avoid</a:t>
            </a:r>
          </a:p>
        </p:txBody>
      </p:sp>
      <p:sp>
        <p:nvSpPr>
          <p:cNvPr id="15" name="">
            <a:extLst xmlns:a="http://schemas.openxmlformats.org/drawingml/2006/main">
              <a:ext uri="{FF2B5EF4-FFF2-40B4-BE49-F238E27FC236}">
                <a16:creationId xmlns:a16="http://schemas.microsoft.com/office/drawing/2014/main" id="{1C5C0D8B-FBA5-486A-9BCB-4E985B2D8025}"/>
              </a:ext>
            </a:extLst>
          </p:cNvPr>
          <p:cNvSpPr>
            <a:spLocks xmlns:a="http://schemas.openxmlformats.org/drawingml/2006/main" noGrp="1"/>
          </p:cNvSpPr>
          <p:nvPr/>
        </p:nvSpPr>
        <p:spPr>
          <a:xfrm xmlns:a="http://schemas.openxmlformats.org/drawingml/2006/main">
            <a:off x="7562850" y="3962400"/>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Commodity-broker language, vague innovation claims, decorative aviation clichés and intelligence without traceable judgement.</a:t>
            </a:r>
          </a:p>
        </p:txBody>
      </p:sp>
    </p:spTree>
    <p:extLst>
      <p:ext uri="{BB962C8B-B14F-4D97-AF65-F5344CB8AC3E}">
        <p14:creationId xmlns:p14="http://schemas.microsoft.com/office/powerpoint/2010/main" val="150580196"/>
      </p:ext>
    </p:extLst>
  </p:cSld>
</p:sld>
</file>

<file path=ppt/slides/slide8.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6F3CB7-EB04-4BAF-8DC6-AF1F31A4ABDE}"/>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A20D74CD-865D-4C32-905A-79FC2A0A5FC7}"/>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08</a:t>
            </a:r>
          </a:p>
        </p:txBody>
      </p:sp>
      <p:sp>
        <p:nvSpPr>
          <p:cNvPr id="3" name="">
            <a:extLst xmlns:a="http://schemas.openxmlformats.org/drawingml/2006/main">
              <a:ext uri="{FF2B5EF4-FFF2-40B4-BE49-F238E27FC236}">
                <a16:creationId xmlns:a16="http://schemas.microsoft.com/office/drawing/2014/main" id="{0CC6590F-5754-471F-B922-CDF4739593DC}"/>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Purpose and promise</a:t>
            </a:r>
          </a:p>
        </p:txBody>
      </p:sp>
      <p:sp>
        <p:nvSpPr>
          <p:cNvPr id="4" name="">
            <a:extLst xmlns:a="http://schemas.openxmlformats.org/drawingml/2006/main">
              <a:ext uri="{FF2B5EF4-FFF2-40B4-BE49-F238E27FC236}">
                <a16:creationId xmlns:a16="http://schemas.microsoft.com/office/drawing/2014/main" id="{8BCE08EA-C75F-44E8-A095-E862EA966C42}"/>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69F373-EC23-45FB-8CFE-11DB0BA73E8F}"/>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Why AvTrix exists and what clients should expect</a:t>
            </a:r>
          </a:p>
        </p:txBody>
      </p:sp>
      <p:sp>
        <p:nvSpPr>
          <p:cNvPr id="6" name="">
            <a:extLst xmlns:a="http://schemas.openxmlformats.org/drawingml/2006/main">
              <a:ext uri="{FF2B5EF4-FFF2-40B4-BE49-F238E27FC236}">
                <a16:creationId xmlns:a16="http://schemas.microsoft.com/office/drawing/2014/main" id="{99D026C9-E3A8-4B7F-949D-CC1D84AC62B6}"/>
              </a:ext>
            </a:extLst>
          </p:cNvPr>
          <p:cNvSpPr>
            <a:spLocks xmlns:a="http://schemas.openxmlformats.org/drawingml/2006/main" noGrp="1"/>
          </p:cNvSpPr>
          <p:nvPr/>
        </p:nvSpPr>
        <p:spPr>
          <a:xfrm xmlns:a="http://schemas.openxmlformats.org/drawingml/2006/main">
            <a:off x="666750" y="18097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PURPOSE</a:t>
            </a:r>
          </a:p>
        </p:txBody>
      </p:sp>
      <p:sp>
        <p:nvSpPr>
          <p:cNvPr id="7" name="">
            <a:extLst xmlns:a="http://schemas.openxmlformats.org/drawingml/2006/main">
              <a:ext uri="{FF2B5EF4-FFF2-40B4-BE49-F238E27FC236}">
                <a16:creationId xmlns:a16="http://schemas.microsoft.com/office/drawing/2014/main" id="{3346A1C1-14D9-4BCB-B121-B80ABFDC00B7}"/>
              </a:ext>
            </a:extLst>
          </p:cNvPr>
          <p:cNvSpPr>
            <a:spLocks xmlns:a="http://schemas.openxmlformats.org/drawingml/2006/main" noGrp="1"/>
          </p:cNvSpPr>
          <p:nvPr/>
        </p:nvSpPr>
        <p:spPr>
          <a:xfrm xmlns:a="http://schemas.openxmlformats.org/drawingml/2006/main">
            <a:off x="666750" y="2171700"/>
            <a:ext cx="4810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0">
                <a:solidFill>
                  <a:srgbClr val="1A1F25"/>
                </a:solidFill>
                <a:latin typeface="Georgia"/>
                <a:ea typeface="Georgia"/>
                <a:cs typeface="Georgia"/>
              </a:defRPr>
            </a:pPr>
            <a:r>
              <a:rPr sz="2325" b="0" i="0">
                <a:solidFill>
                  <a:srgbClr val="1A1F25"/>
                </a:solidFill>
                <a:latin typeface="Georgia"/>
                <a:ea typeface="Georgia"/>
                <a:cs typeface="Georgia"/>
              </a:rPr>
              <a:t>To make aviation decisions stronger by connecting technical understanding with commercial intelligence.</a:t>
            </a:r>
          </a:p>
        </p:txBody>
      </p:sp>
      <p:sp>
        <p:nvSpPr>
          <p:cNvPr id="8" name="">
            <a:extLst xmlns:a="http://schemas.openxmlformats.org/drawingml/2006/main">
              <a:ext uri="{FF2B5EF4-FFF2-40B4-BE49-F238E27FC236}">
                <a16:creationId xmlns:a16="http://schemas.microsoft.com/office/drawing/2014/main" id="{D7D358C7-6BEA-4F63-8BFC-47DE086B6FF3}"/>
              </a:ext>
            </a:extLst>
          </p:cNvPr>
          <p:cNvSpPr>
            <a:spLocks xmlns:a="http://schemas.openxmlformats.org/drawingml/2006/main" noGrp="1"/>
          </p:cNvSpPr>
          <p:nvPr/>
        </p:nvSpPr>
        <p:spPr>
          <a:xfrm xmlns:a="http://schemas.openxmlformats.org/drawingml/2006/main">
            <a:off x="5905500" y="1771650"/>
            <a:ext cx="38100" cy="0"/>
          </a:xfrm>
          <a:prstGeom xmlns:a="http://schemas.openxmlformats.org/drawingml/2006/main" prst="rect">
            <a:avLst/>
          </a:prstGeom>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7624BF-0DB5-49AA-8FB8-48E97930A4E9}"/>
              </a:ext>
            </a:extLst>
          </p:cNvPr>
          <p:cNvSpPr>
            <a:spLocks xmlns:a="http://schemas.openxmlformats.org/drawingml/2006/main" noGrp="1"/>
          </p:cNvSpPr>
          <p:nvPr/>
        </p:nvSpPr>
        <p:spPr>
          <a:xfrm xmlns:a="http://schemas.openxmlformats.org/drawingml/2006/main">
            <a:off x="6477000" y="180975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PROMISE</a:t>
            </a:r>
          </a:p>
        </p:txBody>
      </p:sp>
      <p:sp>
        <p:nvSpPr>
          <p:cNvPr id="10" name="">
            <a:extLst xmlns:a="http://schemas.openxmlformats.org/drawingml/2006/main">
              <a:ext uri="{FF2B5EF4-FFF2-40B4-BE49-F238E27FC236}">
                <a16:creationId xmlns:a16="http://schemas.microsoft.com/office/drawing/2014/main" id="{23ACF564-3980-4613-8142-7B3422779059}"/>
              </a:ext>
            </a:extLst>
          </p:cNvPr>
          <p:cNvSpPr>
            <a:spLocks xmlns:a="http://schemas.openxmlformats.org/drawingml/2006/main" noGrp="1"/>
          </p:cNvSpPr>
          <p:nvPr/>
        </p:nvSpPr>
        <p:spPr>
          <a:xfrm xmlns:a="http://schemas.openxmlformats.org/drawingml/2006/main">
            <a:off x="6477000" y="2171700"/>
            <a:ext cx="457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i="0">
                <a:solidFill>
                  <a:srgbClr val="1A1F25"/>
                </a:solidFill>
                <a:latin typeface="Bahnschrift"/>
                <a:ea typeface="Bahnschrift"/>
                <a:cs typeface="Bahnschrift"/>
              </a:defRPr>
            </a:pPr>
            <a:r>
              <a:rPr sz="2700" b="1" i="0">
                <a:solidFill>
                  <a:srgbClr val="1A1F25"/>
                </a:solidFill>
                <a:latin typeface="Bahnschrift"/>
                <a:ea typeface="Bahnschrift"/>
                <a:cs typeface="Bahnschrift"/>
              </a:rPr>
              <a:t>Engineering Insight.</a:t>
            </a:r>
          </a:p>
          <a:p xmlns:a="http://schemas.openxmlformats.org/drawingml/2006/main">
            <a:pPr>
              <a:defRPr sz="2700" b="1" i="0">
                <a:solidFill>
                  <a:srgbClr val="1A1F25"/>
                </a:solidFill>
                <a:latin typeface="Bahnschrift"/>
                <a:ea typeface="Bahnschrift"/>
                <a:cs typeface="Bahnschrift"/>
              </a:defRPr>
            </a:pPr>
            <a:r>
              <a:rPr sz="2700" b="1" i="0">
                <a:solidFill>
                  <a:srgbClr val="1A1F25"/>
                </a:solidFill>
                <a:latin typeface="Bahnschrift"/>
                <a:ea typeface="Bahnschrift"/>
                <a:cs typeface="Bahnschrift"/>
              </a:rPr>
              <a:t>Smarter Sourcing.</a:t>
            </a:r>
          </a:p>
          <a:p xmlns:a="http://schemas.openxmlformats.org/drawingml/2006/main">
            <a:pPr>
              <a:defRPr sz="2700" b="1" i="0">
                <a:solidFill>
                  <a:srgbClr val="1A1F25"/>
                </a:solidFill>
                <a:latin typeface="Bahnschrift"/>
                <a:ea typeface="Bahnschrift"/>
                <a:cs typeface="Bahnschrift"/>
              </a:defRPr>
            </a:pPr>
            <a:r>
              <a:rPr sz="2700" b="1" i="0">
                <a:solidFill>
                  <a:srgbClr val="1A1F25"/>
                </a:solidFill>
                <a:latin typeface="Bahnschrift"/>
                <a:ea typeface="Bahnschrift"/>
                <a:cs typeface="Bahnschrift"/>
              </a:rPr>
              <a:t>Stronger Fleets.</a:t>
            </a:r>
          </a:p>
        </p:txBody>
      </p:sp>
      <p:sp>
        <p:nvSpPr>
          <p:cNvPr id="11" name="">
            <a:extLst xmlns:a="http://schemas.openxmlformats.org/drawingml/2006/main">
              <a:ext uri="{FF2B5EF4-FFF2-40B4-BE49-F238E27FC236}">
                <a16:creationId xmlns:a16="http://schemas.microsoft.com/office/drawing/2014/main" id="{DC9A7661-8AF3-4C42-B34A-221C93A99C20}"/>
              </a:ext>
            </a:extLst>
          </p:cNvPr>
          <p:cNvSpPr>
            <a:spLocks xmlns:a="http://schemas.openxmlformats.org/drawingml/2006/main" noGrp="1"/>
          </p:cNvSpPr>
          <p:nvPr/>
        </p:nvSpPr>
        <p:spPr>
          <a:xfrm xmlns:a="http://schemas.openxmlformats.org/drawingml/2006/main">
            <a:off x="6477000" y="4114800"/>
            <a:ext cx="4476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6C737A"/>
                </a:solidFill>
                <a:latin typeface="Bahnschrift"/>
                <a:ea typeface="Bahnschrift"/>
                <a:cs typeface="Bahnschrift"/>
              </a:defRPr>
            </a:pPr>
            <a:r>
              <a:rPr sz="1650" b="0" i="0">
                <a:solidFill>
                  <a:srgbClr val="6C737A"/>
                </a:solidFill>
                <a:latin typeface="Bahnschrift"/>
                <a:ea typeface="Bahnschrift"/>
                <a:cs typeface="Bahnschrift"/>
              </a:rPr>
              <a:t>Every engagement should make the decision clearer, the sourcing route better informed or the fleet position more resilient.</a:t>
            </a:r>
          </a:p>
        </p:txBody>
      </p:sp>
    </p:spTree>
    <p:extLst>
      <p:ext uri="{BB962C8B-B14F-4D97-AF65-F5344CB8AC3E}">
        <p14:creationId xmlns:p14="http://schemas.microsoft.com/office/powerpoint/2010/main" val="545607433"/>
      </p:ext>
    </p:extLst>
  </p:cSld>
</p:sld>
</file>

<file path=ppt/slides/slide9.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60A1EEB-193B-4A82-AD51-BED8D65AAAC9}"/>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DF4AD785-1778-4401-BF44-0BE5419219A6}"/>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09</a:t>
            </a:r>
          </a:p>
        </p:txBody>
      </p:sp>
      <p:sp>
        <p:nvSpPr>
          <p:cNvPr id="3" name="">
            <a:extLst xmlns:a="http://schemas.openxmlformats.org/drawingml/2006/main">
              <a:ext uri="{FF2B5EF4-FFF2-40B4-BE49-F238E27FC236}">
                <a16:creationId xmlns:a16="http://schemas.microsoft.com/office/drawing/2014/main" id="{772F5D4D-B9D4-4889-A621-952E1AF98CC0}"/>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Values</a:t>
            </a:r>
          </a:p>
        </p:txBody>
      </p:sp>
      <p:sp>
        <p:nvSpPr>
          <p:cNvPr id="4" name="">
            <a:extLst xmlns:a="http://schemas.openxmlformats.org/drawingml/2006/main">
              <a:ext uri="{FF2B5EF4-FFF2-40B4-BE49-F238E27FC236}">
                <a16:creationId xmlns:a16="http://schemas.microsoft.com/office/drawing/2014/main" id="{F7CF6F28-867C-43B0-A6BE-6A7F39EBDA6C}"/>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E2F11A-71F3-4342-98CC-0E59B794818B}"/>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Standards that shape the work</a:t>
            </a:r>
          </a:p>
        </p:txBody>
      </p:sp>
      <p:sp>
        <p:nvSpPr>
          <p:cNvPr id="6" name="">
            <a:extLst xmlns:a="http://schemas.openxmlformats.org/drawingml/2006/main">
              <a:ext uri="{FF2B5EF4-FFF2-40B4-BE49-F238E27FC236}">
                <a16:creationId xmlns:a16="http://schemas.microsoft.com/office/drawing/2014/main" id="{E3A3CEF5-0D77-4D78-94CC-23A57D77951F}"/>
              </a:ext>
            </a:extLst>
          </p:cNvPr>
          <p:cNvSpPr>
            <a:spLocks xmlns:a="http://schemas.openxmlformats.org/drawingml/2006/main" noGrp="1"/>
          </p:cNvSpPr>
          <p:nvPr/>
        </p:nvSpPr>
        <p:spPr>
          <a:xfrm xmlns:a="http://schemas.openxmlformats.org/drawingml/2006/main">
            <a:off x="685800" y="16573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2DDD2CCB-B110-43AB-A76C-B28BC2840CD2}"/>
              </a:ext>
            </a:extLst>
          </p:cNvPr>
          <p:cNvSpPr>
            <a:spLocks xmlns:a="http://schemas.openxmlformats.org/drawingml/2006/main" noGrp="1"/>
          </p:cNvSpPr>
          <p:nvPr/>
        </p:nvSpPr>
        <p:spPr>
          <a:xfrm xmlns:a="http://schemas.openxmlformats.org/drawingml/2006/main">
            <a:off x="1295400" y="16573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Technical integrity</a:t>
            </a:r>
          </a:p>
        </p:txBody>
      </p:sp>
      <p:sp>
        <p:nvSpPr>
          <p:cNvPr id="8" name="">
            <a:extLst xmlns:a="http://schemas.openxmlformats.org/drawingml/2006/main">
              <a:ext uri="{FF2B5EF4-FFF2-40B4-BE49-F238E27FC236}">
                <a16:creationId xmlns:a16="http://schemas.microsoft.com/office/drawing/2014/main" id="{DE73D213-8B0A-4C8D-ACDC-33560D3D4830}"/>
              </a:ext>
            </a:extLst>
          </p:cNvPr>
          <p:cNvSpPr>
            <a:spLocks xmlns:a="http://schemas.openxmlformats.org/drawingml/2006/main" noGrp="1"/>
          </p:cNvSpPr>
          <p:nvPr/>
        </p:nvSpPr>
        <p:spPr>
          <a:xfrm xmlns:a="http://schemas.openxmlformats.org/drawingml/2006/main">
            <a:off x="4476750" y="165735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We respect the engineering facts and make uncertainty visible.</a:t>
            </a:r>
          </a:p>
        </p:txBody>
      </p:sp>
      <p:sp>
        <p:nvSpPr>
          <p:cNvPr id="9" name="">
            <a:extLst xmlns:a="http://schemas.openxmlformats.org/drawingml/2006/main">
              <a:ext uri="{FF2B5EF4-FFF2-40B4-BE49-F238E27FC236}">
                <a16:creationId xmlns:a16="http://schemas.microsoft.com/office/drawing/2014/main" id="{5F584310-B47C-48FC-9047-3E0BF8F6BF26}"/>
              </a:ext>
            </a:extLst>
          </p:cNvPr>
          <p:cNvSpPr>
            <a:spLocks xmlns:a="http://schemas.openxmlformats.org/drawingml/2006/main" noGrp="1"/>
          </p:cNvSpPr>
          <p:nvPr/>
        </p:nvSpPr>
        <p:spPr>
          <a:xfrm xmlns:a="http://schemas.openxmlformats.org/drawingml/2006/main">
            <a:off x="1295400" y="2286000"/>
            <a:ext cx="9486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3656FA-68D6-467D-BF68-16520247D192}"/>
              </a:ext>
            </a:extLst>
          </p:cNvPr>
          <p:cNvSpPr>
            <a:spLocks xmlns:a="http://schemas.openxmlformats.org/drawingml/2006/main" noGrp="1"/>
          </p:cNvSpPr>
          <p:nvPr/>
        </p:nvSpPr>
        <p:spPr>
          <a:xfrm xmlns:a="http://schemas.openxmlformats.org/drawingml/2006/main">
            <a:off x="685800" y="25336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3B285DC9-8FAC-4A5B-9577-B7AEFE0B3898}"/>
              </a:ext>
            </a:extLst>
          </p:cNvPr>
          <p:cNvSpPr>
            <a:spLocks xmlns:a="http://schemas.openxmlformats.org/drawingml/2006/main" noGrp="1"/>
          </p:cNvSpPr>
          <p:nvPr/>
        </p:nvSpPr>
        <p:spPr>
          <a:xfrm xmlns:a="http://schemas.openxmlformats.org/drawingml/2006/main">
            <a:off x="1295400" y="25336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Informed judgement</a:t>
            </a:r>
          </a:p>
        </p:txBody>
      </p:sp>
      <p:sp>
        <p:nvSpPr>
          <p:cNvPr id="12" name="">
            <a:extLst xmlns:a="http://schemas.openxmlformats.org/drawingml/2006/main">
              <a:ext uri="{FF2B5EF4-FFF2-40B4-BE49-F238E27FC236}">
                <a16:creationId xmlns:a16="http://schemas.microsoft.com/office/drawing/2014/main" id="{EDFE3F9F-D5C0-4A90-8FCB-5F66727DB53E}"/>
              </a:ext>
            </a:extLst>
          </p:cNvPr>
          <p:cNvSpPr>
            <a:spLocks xmlns:a="http://schemas.openxmlformats.org/drawingml/2006/main" noGrp="1"/>
          </p:cNvSpPr>
          <p:nvPr/>
        </p:nvSpPr>
        <p:spPr>
          <a:xfrm xmlns:a="http://schemas.openxmlformats.org/drawingml/2006/main">
            <a:off x="4476750" y="253365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Experience gives context to data and discipline to recommendations.</a:t>
            </a:r>
          </a:p>
        </p:txBody>
      </p:sp>
      <p:sp>
        <p:nvSpPr>
          <p:cNvPr id="13" name="">
            <a:extLst xmlns:a="http://schemas.openxmlformats.org/drawingml/2006/main">
              <a:ext uri="{FF2B5EF4-FFF2-40B4-BE49-F238E27FC236}">
                <a16:creationId xmlns:a16="http://schemas.microsoft.com/office/drawing/2014/main" id="{897958C5-2E92-44D4-858D-AD175BE9F2B5}"/>
              </a:ext>
            </a:extLst>
          </p:cNvPr>
          <p:cNvSpPr>
            <a:spLocks xmlns:a="http://schemas.openxmlformats.org/drawingml/2006/main" noGrp="1"/>
          </p:cNvSpPr>
          <p:nvPr/>
        </p:nvSpPr>
        <p:spPr>
          <a:xfrm xmlns:a="http://schemas.openxmlformats.org/drawingml/2006/main">
            <a:off x="1295400" y="3162300"/>
            <a:ext cx="9486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2A6AA38-9887-423C-A426-97E64CF95548}"/>
              </a:ext>
            </a:extLst>
          </p:cNvPr>
          <p:cNvSpPr>
            <a:spLocks xmlns:a="http://schemas.openxmlformats.org/drawingml/2006/main" noGrp="1"/>
          </p:cNvSpPr>
          <p:nvPr/>
        </p:nvSpPr>
        <p:spPr>
          <a:xfrm xmlns:a="http://schemas.openxmlformats.org/drawingml/2006/main">
            <a:off x="685800" y="34099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BCD84BE8-80CC-453F-BB49-B48841647FF0}"/>
              </a:ext>
            </a:extLst>
          </p:cNvPr>
          <p:cNvSpPr>
            <a:spLocks xmlns:a="http://schemas.openxmlformats.org/drawingml/2006/main" noGrp="1"/>
          </p:cNvSpPr>
          <p:nvPr/>
        </p:nvSpPr>
        <p:spPr>
          <a:xfrm xmlns:a="http://schemas.openxmlformats.org/drawingml/2006/main">
            <a:off x="1295400" y="34099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Commercial clarity</a:t>
            </a:r>
          </a:p>
        </p:txBody>
      </p:sp>
      <p:sp>
        <p:nvSpPr>
          <p:cNvPr id="16" name="">
            <a:extLst xmlns:a="http://schemas.openxmlformats.org/drawingml/2006/main">
              <a:ext uri="{FF2B5EF4-FFF2-40B4-BE49-F238E27FC236}">
                <a16:creationId xmlns:a16="http://schemas.microsoft.com/office/drawing/2014/main" id="{2C8A3D75-C5A5-43D2-A963-FFB228CD91DB}"/>
              </a:ext>
            </a:extLst>
          </p:cNvPr>
          <p:cNvSpPr>
            <a:spLocks xmlns:a="http://schemas.openxmlformats.org/drawingml/2006/main" noGrp="1"/>
          </p:cNvSpPr>
          <p:nvPr/>
        </p:nvSpPr>
        <p:spPr>
          <a:xfrm xmlns:a="http://schemas.openxmlformats.org/drawingml/2006/main">
            <a:off x="4476750" y="340995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We make sourcing choices understandable, comparable and actionable.</a:t>
            </a:r>
          </a:p>
        </p:txBody>
      </p:sp>
      <p:sp>
        <p:nvSpPr>
          <p:cNvPr id="17" name="">
            <a:extLst xmlns:a="http://schemas.openxmlformats.org/drawingml/2006/main">
              <a:ext uri="{FF2B5EF4-FFF2-40B4-BE49-F238E27FC236}">
                <a16:creationId xmlns:a16="http://schemas.microsoft.com/office/drawing/2014/main" id="{C00CDB25-F9C8-4FD1-9785-209E36EBCBC1}"/>
              </a:ext>
            </a:extLst>
          </p:cNvPr>
          <p:cNvSpPr>
            <a:spLocks xmlns:a="http://schemas.openxmlformats.org/drawingml/2006/main" noGrp="1"/>
          </p:cNvSpPr>
          <p:nvPr/>
        </p:nvSpPr>
        <p:spPr>
          <a:xfrm xmlns:a="http://schemas.openxmlformats.org/drawingml/2006/main">
            <a:off x="1295400" y="4038600"/>
            <a:ext cx="9486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978C85B-F89E-4223-84C4-604019E3593E}"/>
              </a:ext>
            </a:extLst>
          </p:cNvPr>
          <p:cNvSpPr>
            <a:spLocks xmlns:a="http://schemas.openxmlformats.org/drawingml/2006/main" noGrp="1"/>
          </p:cNvSpPr>
          <p:nvPr/>
        </p:nvSpPr>
        <p:spPr>
          <a:xfrm xmlns:a="http://schemas.openxmlformats.org/drawingml/2006/main">
            <a:off x="685800" y="428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04</a:t>
            </a:r>
          </a:p>
        </p:txBody>
      </p:sp>
      <p:sp>
        <p:nvSpPr>
          <p:cNvPr id="19" name="">
            <a:extLst xmlns:a="http://schemas.openxmlformats.org/drawingml/2006/main">
              <a:ext uri="{FF2B5EF4-FFF2-40B4-BE49-F238E27FC236}">
                <a16:creationId xmlns:a16="http://schemas.microsoft.com/office/drawing/2014/main" id="{963F63E2-E7DA-432F-9470-8F075588E9F5}"/>
              </a:ext>
            </a:extLst>
          </p:cNvPr>
          <p:cNvSpPr>
            <a:spLocks xmlns:a="http://schemas.openxmlformats.org/drawingml/2006/main" noGrp="1"/>
          </p:cNvSpPr>
          <p:nvPr/>
        </p:nvSpPr>
        <p:spPr>
          <a:xfrm xmlns:a="http://schemas.openxmlformats.org/drawingml/2006/main">
            <a:off x="1295400" y="42862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Responsible pace</a:t>
            </a:r>
          </a:p>
        </p:txBody>
      </p:sp>
      <p:sp>
        <p:nvSpPr>
          <p:cNvPr id="20" name="">
            <a:extLst xmlns:a="http://schemas.openxmlformats.org/drawingml/2006/main">
              <a:ext uri="{FF2B5EF4-FFF2-40B4-BE49-F238E27FC236}">
                <a16:creationId xmlns:a16="http://schemas.microsoft.com/office/drawing/2014/main" id="{37C79C2F-FF73-434A-99B5-56E6841F6770}"/>
              </a:ext>
            </a:extLst>
          </p:cNvPr>
          <p:cNvSpPr>
            <a:spLocks xmlns:a="http://schemas.openxmlformats.org/drawingml/2006/main" noGrp="1"/>
          </p:cNvSpPr>
          <p:nvPr/>
        </p:nvSpPr>
        <p:spPr>
          <a:xfrm xmlns:a="http://schemas.openxmlformats.org/drawingml/2006/main">
            <a:off x="4476750" y="428625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Urgency never replaces verification, traceability or sound judgement.</a:t>
            </a:r>
          </a:p>
        </p:txBody>
      </p:sp>
      <p:sp>
        <p:nvSpPr>
          <p:cNvPr id="21" name="">
            <a:extLst xmlns:a="http://schemas.openxmlformats.org/drawingml/2006/main">
              <a:ext uri="{FF2B5EF4-FFF2-40B4-BE49-F238E27FC236}">
                <a16:creationId xmlns:a16="http://schemas.microsoft.com/office/drawing/2014/main" id="{7783594B-5425-48B3-A06C-D4522B44680A}"/>
              </a:ext>
            </a:extLst>
          </p:cNvPr>
          <p:cNvSpPr>
            <a:spLocks xmlns:a="http://schemas.openxmlformats.org/drawingml/2006/main" noGrp="1"/>
          </p:cNvSpPr>
          <p:nvPr/>
        </p:nvSpPr>
        <p:spPr>
          <a:xfrm xmlns:a="http://schemas.openxmlformats.org/drawingml/2006/main">
            <a:off x="1295400" y="4914900"/>
            <a:ext cx="9486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96486F4-1649-4310-9C46-67215D4CDB7E}"/>
              </a:ext>
            </a:extLst>
          </p:cNvPr>
          <p:cNvSpPr>
            <a:spLocks xmlns:a="http://schemas.openxmlformats.org/drawingml/2006/main" noGrp="1"/>
          </p:cNvSpPr>
          <p:nvPr/>
        </p:nvSpPr>
        <p:spPr>
          <a:xfrm xmlns:a="http://schemas.openxmlformats.org/drawingml/2006/main">
            <a:off x="685800" y="51625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05</a:t>
            </a:r>
          </a:p>
        </p:txBody>
      </p:sp>
      <p:sp>
        <p:nvSpPr>
          <p:cNvPr id="23" name="">
            <a:extLst xmlns:a="http://schemas.openxmlformats.org/drawingml/2006/main">
              <a:ext uri="{FF2B5EF4-FFF2-40B4-BE49-F238E27FC236}">
                <a16:creationId xmlns:a16="http://schemas.microsoft.com/office/drawing/2014/main" id="{32422781-D994-4F20-A912-8A916EB017AC}"/>
              </a:ext>
            </a:extLst>
          </p:cNvPr>
          <p:cNvSpPr>
            <a:spLocks xmlns:a="http://schemas.openxmlformats.org/drawingml/2006/main" noGrp="1"/>
          </p:cNvSpPr>
          <p:nvPr/>
        </p:nvSpPr>
        <p:spPr>
          <a:xfrm xmlns:a="http://schemas.openxmlformats.org/drawingml/2006/main">
            <a:off x="1295400" y="51625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Independent thinking</a:t>
            </a:r>
          </a:p>
        </p:txBody>
      </p:sp>
      <p:sp>
        <p:nvSpPr>
          <p:cNvPr id="24" name="">
            <a:extLst xmlns:a="http://schemas.openxmlformats.org/drawingml/2006/main">
              <a:ext uri="{FF2B5EF4-FFF2-40B4-BE49-F238E27FC236}">
                <a16:creationId xmlns:a16="http://schemas.microsoft.com/office/drawing/2014/main" id="{3A0AAF5C-B03A-4BA1-B1F3-74F53ADFF269}"/>
              </a:ext>
            </a:extLst>
          </p:cNvPr>
          <p:cNvSpPr>
            <a:spLocks xmlns:a="http://schemas.openxmlformats.org/drawingml/2006/main" noGrp="1"/>
          </p:cNvSpPr>
          <p:nvPr/>
        </p:nvSpPr>
        <p:spPr>
          <a:xfrm xmlns:a="http://schemas.openxmlformats.org/drawingml/2006/main">
            <a:off x="4476750" y="5162550"/>
            <a:ext cx="628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We challenge assumptions and follow the evidence to the right answer.</a:t>
            </a:r>
          </a:p>
        </p:txBody>
      </p:sp>
    </p:spTree>
    <p:extLst>
      <p:ext uri="{BB962C8B-B14F-4D97-AF65-F5344CB8AC3E}">
        <p14:creationId xmlns:p14="http://schemas.microsoft.com/office/powerpoint/2010/main" val="999258663"/>
      </p:ext>
    </p:extLst>
  </p:cSld>
</p:sld>
</file>

<file path=ppt/slides/slide10.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DE3D8A2-BF89-46F9-89EA-9F09A7C1BFD6}"/>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8EE0E26D-EC92-4CED-A607-F5B51F20C37F}"/>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10</a:t>
            </a:r>
          </a:p>
        </p:txBody>
      </p:sp>
      <p:sp>
        <p:nvSpPr>
          <p:cNvPr id="3" name="">
            <a:extLst xmlns:a="http://schemas.openxmlformats.org/drawingml/2006/main">
              <a:ext uri="{FF2B5EF4-FFF2-40B4-BE49-F238E27FC236}">
                <a16:creationId xmlns:a16="http://schemas.microsoft.com/office/drawing/2014/main" id="{1261E1C9-9D62-40DC-8CDE-4BC4E2CC1422}"/>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Core audiences</a:t>
            </a:r>
          </a:p>
        </p:txBody>
      </p:sp>
      <p:sp>
        <p:nvSpPr>
          <p:cNvPr id="4" name="">
            <a:extLst xmlns:a="http://schemas.openxmlformats.org/drawingml/2006/main">
              <a:ext uri="{FF2B5EF4-FFF2-40B4-BE49-F238E27FC236}">
                <a16:creationId xmlns:a16="http://schemas.microsoft.com/office/drawing/2014/main" id="{4D944C7D-1686-4889-9C1B-FC5DF60F4DD4}"/>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E0C2FE-3106-4786-822F-12BEC53AF918}"/>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Technical and commercial decision-makers across aviation</a:t>
            </a:r>
          </a:p>
        </p:txBody>
      </p:sp>
      <p:sp>
        <p:nvSpPr>
          <p:cNvPr id="6" name="">
            <a:extLst xmlns:a="http://schemas.openxmlformats.org/drawingml/2006/main">
              <a:ext uri="{FF2B5EF4-FFF2-40B4-BE49-F238E27FC236}">
                <a16:creationId xmlns:a16="http://schemas.microsoft.com/office/drawing/2014/main" id="{3CE7DEAF-B1DB-487A-AF9C-08FE0432ED1A}"/>
              </a:ext>
            </a:extLst>
          </p:cNvPr>
          <p:cNvSpPr>
            <a:spLocks xmlns:a="http://schemas.openxmlformats.org/drawingml/2006/main" noGrp="1"/>
          </p:cNvSpPr>
          <p:nvPr/>
        </p:nvSpPr>
        <p:spPr>
          <a:xfrm xmlns:a="http://schemas.openxmlformats.org/drawingml/2006/main">
            <a:off x="666750" y="1714500"/>
            <a:ext cx="4953000" cy="1676400"/>
          </a:xfrm>
          <a:prstGeom xmlns:a="http://schemas.openxmlformats.org/drawingml/2006/main" prst="roundRect">
            <a:avLst>
              <a:gd name="adj" fmla="val 9091"/>
            </a:avLst>
          </a:prstGeom>
          <a:solidFill xmlns:a="http://schemas.openxmlformats.org/drawingml/2006/main">
            <a:srgbClr val="FCFAF6">
              <a:alpha val="8000"/>
            </a:srgbClr>
          </a:solidFill>
          <a:ln xmlns:a="http://schemas.openxmlformats.org/drawingml/2006/main" w="9525">
            <a:solidFill>
              <a:srgbClr val="FCFAF6">
                <a:alpha val="16000"/>
              </a:srgbClr>
            </a:solidFill>
            <a:prstDash val="solid"/>
          </a:ln>
        </p:spPr>
      </p:sp>
      <p:sp>
        <p:nvSpPr>
          <p:cNvPr id="7" name="">
            <a:extLst xmlns:a="http://schemas.openxmlformats.org/drawingml/2006/main">
              <a:ext uri="{FF2B5EF4-FFF2-40B4-BE49-F238E27FC236}">
                <a16:creationId xmlns:a16="http://schemas.microsoft.com/office/drawing/2014/main" id="{617252F9-6954-4C66-86A0-860998EF0BEF}"/>
              </a:ext>
            </a:extLst>
          </p:cNvPr>
          <p:cNvSpPr>
            <a:spLocks xmlns:a="http://schemas.openxmlformats.org/drawingml/2006/main" noGrp="1"/>
          </p:cNvSpPr>
          <p:nvPr/>
        </p:nvSpPr>
        <p:spPr>
          <a:xfrm xmlns:a="http://schemas.openxmlformats.org/drawingml/2006/main">
            <a:off x="933450" y="1971675"/>
            <a:ext cx="430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FCFAF6"/>
                </a:solidFill>
                <a:latin typeface="Bahnschrift"/>
                <a:ea typeface="Bahnschrift"/>
                <a:cs typeface="Bahnschrift"/>
              </a:defRPr>
            </a:pPr>
            <a:r>
              <a:rPr sz="2025" b="1" i="0">
                <a:solidFill>
                  <a:srgbClr val="FCFAF6"/>
                </a:solidFill>
                <a:latin typeface="Bahnschrift"/>
                <a:ea typeface="Bahnschrift"/>
                <a:cs typeface="Bahnschrift"/>
              </a:rPr>
              <a:t>Operators and airlines</a:t>
            </a:r>
          </a:p>
        </p:txBody>
      </p:sp>
      <p:sp>
        <p:nvSpPr>
          <p:cNvPr id="8" name="">
            <a:extLst xmlns:a="http://schemas.openxmlformats.org/drawingml/2006/main">
              <a:ext uri="{FF2B5EF4-FFF2-40B4-BE49-F238E27FC236}">
                <a16:creationId xmlns:a16="http://schemas.microsoft.com/office/drawing/2014/main" id="{B38FC92B-5585-42FB-9FFC-B1F6B2E3705F}"/>
              </a:ext>
            </a:extLst>
          </p:cNvPr>
          <p:cNvSpPr>
            <a:spLocks xmlns:a="http://schemas.openxmlformats.org/drawingml/2006/main" noGrp="1"/>
          </p:cNvSpPr>
          <p:nvPr/>
        </p:nvSpPr>
        <p:spPr>
          <a:xfrm xmlns:a="http://schemas.openxmlformats.org/drawingml/2006/main">
            <a:off x="933450" y="2447925"/>
            <a:ext cx="6858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90468A-C699-416B-9EB0-105C8AB0B457}"/>
              </a:ext>
            </a:extLst>
          </p:cNvPr>
          <p:cNvSpPr>
            <a:spLocks xmlns:a="http://schemas.openxmlformats.org/drawingml/2006/main" noGrp="1"/>
          </p:cNvSpPr>
          <p:nvPr/>
        </p:nvSpPr>
        <p:spPr>
          <a:xfrm xmlns:a="http://schemas.openxmlformats.org/drawingml/2006/main">
            <a:off x="933450" y="2628900"/>
            <a:ext cx="430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FCFAF6">
                    <a:alpha val="74000"/>
                  </a:srgbClr>
                </a:solidFill>
                <a:latin typeface="Bahnschrift"/>
                <a:ea typeface="Bahnschrift"/>
                <a:cs typeface="Bahnschrift"/>
              </a:defRPr>
            </a:pPr>
            <a:r>
              <a:rPr sz="1425" b="0" i="0">
                <a:solidFill>
                  <a:srgbClr val="FCFAF6">
                    <a:alpha val="74000"/>
                  </a:srgbClr>
                </a:solidFill>
                <a:latin typeface="Bahnschrift"/>
                <a:ea typeface="Bahnschrift"/>
                <a:cs typeface="Bahnschrift"/>
              </a:rPr>
              <a:t>Need dependable component, supplier and fleet insight under operational pressure.</a:t>
            </a:r>
          </a:p>
        </p:txBody>
      </p:sp>
      <p:sp>
        <p:nvSpPr>
          <p:cNvPr id="10" name="">
            <a:extLst xmlns:a="http://schemas.openxmlformats.org/drawingml/2006/main">
              <a:ext uri="{FF2B5EF4-FFF2-40B4-BE49-F238E27FC236}">
                <a16:creationId xmlns:a16="http://schemas.microsoft.com/office/drawing/2014/main" id="{F905EC49-95C4-4457-8F53-5B6B2FCEF3A5}"/>
              </a:ext>
            </a:extLst>
          </p:cNvPr>
          <p:cNvSpPr>
            <a:spLocks xmlns:a="http://schemas.openxmlformats.org/drawingml/2006/main" noGrp="1"/>
          </p:cNvSpPr>
          <p:nvPr/>
        </p:nvSpPr>
        <p:spPr>
          <a:xfrm xmlns:a="http://schemas.openxmlformats.org/drawingml/2006/main">
            <a:off x="6096000" y="1714500"/>
            <a:ext cx="4953000" cy="1676400"/>
          </a:xfrm>
          <a:prstGeom xmlns:a="http://schemas.openxmlformats.org/drawingml/2006/main" prst="roundRect">
            <a:avLst>
              <a:gd name="adj" fmla="val 9091"/>
            </a:avLst>
          </a:prstGeom>
          <a:solidFill xmlns:a="http://schemas.openxmlformats.org/drawingml/2006/main">
            <a:srgbClr val="FCFAF6">
              <a:alpha val="5000"/>
            </a:srgbClr>
          </a:solidFill>
          <a:ln xmlns:a="http://schemas.openxmlformats.org/drawingml/2006/main" w="9525">
            <a:solidFill>
              <a:srgbClr val="FCFAF6">
                <a:alpha val="16000"/>
              </a:srgbClr>
            </a:solidFill>
            <a:prstDash val="solid"/>
          </a:ln>
        </p:spPr>
      </p:sp>
      <p:sp>
        <p:nvSpPr>
          <p:cNvPr id="11" name="">
            <a:extLst xmlns:a="http://schemas.openxmlformats.org/drawingml/2006/main">
              <a:ext uri="{FF2B5EF4-FFF2-40B4-BE49-F238E27FC236}">
                <a16:creationId xmlns:a16="http://schemas.microsoft.com/office/drawing/2014/main" id="{96B4301B-31FD-49A8-90CF-4A7E9BC37718}"/>
              </a:ext>
            </a:extLst>
          </p:cNvPr>
          <p:cNvSpPr>
            <a:spLocks xmlns:a="http://schemas.openxmlformats.org/drawingml/2006/main" noGrp="1"/>
          </p:cNvSpPr>
          <p:nvPr/>
        </p:nvSpPr>
        <p:spPr>
          <a:xfrm xmlns:a="http://schemas.openxmlformats.org/drawingml/2006/main">
            <a:off x="6362700" y="1971675"/>
            <a:ext cx="430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FCFAF6"/>
                </a:solidFill>
                <a:latin typeface="Bahnschrift"/>
                <a:ea typeface="Bahnschrift"/>
                <a:cs typeface="Bahnschrift"/>
              </a:defRPr>
            </a:pPr>
            <a:r>
              <a:rPr sz="2025" b="1" i="0">
                <a:solidFill>
                  <a:srgbClr val="FCFAF6"/>
                </a:solidFill>
                <a:latin typeface="Bahnschrift"/>
                <a:ea typeface="Bahnschrift"/>
                <a:cs typeface="Bahnschrift"/>
              </a:rPr>
              <a:t>Lessors and asset owners</a:t>
            </a:r>
          </a:p>
        </p:txBody>
      </p:sp>
      <p:sp>
        <p:nvSpPr>
          <p:cNvPr id="12" name="">
            <a:extLst xmlns:a="http://schemas.openxmlformats.org/drawingml/2006/main">
              <a:ext uri="{FF2B5EF4-FFF2-40B4-BE49-F238E27FC236}">
                <a16:creationId xmlns:a16="http://schemas.microsoft.com/office/drawing/2014/main" id="{F58DCF2A-59D4-4776-A1C6-CAB3448218D0}"/>
              </a:ext>
            </a:extLst>
          </p:cNvPr>
          <p:cNvSpPr>
            <a:spLocks xmlns:a="http://schemas.openxmlformats.org/drawingml/2006/main" noGrp="1"/>
          </p:cNvSpPr>
          <p:nvPr/>
        </p:nvSpPr>
        <p:spPr>
          <a:xfrm xmlns:a="http://schemas.openxmlformats.org/drawingml/2006/main">
            <a:off x="6362700" y="2447925"/>
            <a:ext cx="6858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662F6E-C491-4222-BABC-5B9B5F7BD68C}"/>
              </a:ext>
            </a:extLst>
          </p:cNvPr>
          <p:cNvSpPr>
            <a:spLocks xmlns:a="http://schemas.openxmlformats.org/drawingml/2006/main" noGrp="1"/>
          </p:cNvSpPr>
          <p:nvPr/>
        </p:nvSpPr>
        <p:spPr>
          <a:xfrm xmlns:a="http://schemas.openxmlformats.org/drawingml/2006/main">
            <a:off x="6362700" y="2628900"/>
            <a:ext cx="430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FCFAF6">
                    <a:alpha val="74000"/>
                  </a:srgbClr>
                </a:solidFill>
                <a:latin typeface="Bahnschrift"/>
                <a:ea typeface="Bahnschrift"/>
                <a:cs typeface="Bahnschrift"/>
              </a:defRPr>
            </a:pPr>
            <a:r>
              <a:rPr sz="1425" b="0" i="0">
                <a:solidFill>
                  <a:srgbClr val="FCFAF6">
                    <a:alpha val="74000"/>
                  </a:srgbClr>
                </a:solidFill>
                <a:latin typeface="Bahnschrift"/>
                <a:ea typeface="Bahnschrift"/>
                <a:cs typeface="Bahnschrift"/>
              </a:rPr>
              <a:t>Need technical context that protects asset value and improves portfolio decisions.</a:t>
            </a:r>
          </a:p>
        </p:txBody>
      </p:sp>
      <p:sp>
        <p:nvSpPr>
          <p:cNvPr id="14" name="">
            <a:extLst xmlns:a="http://schemas.openxmlformats.org/drawingml/2006/main">
              <a:ext uri="{FF2B5EF4-FFF2-40B4-BE49-F238E27FC236}">
                <a16:creationId xmlns:a16="http://schemas.microsoft.com/office/drawing/2014/main" id="{B437CEC1-829C-41E0-8B66-CC364C317FFE}"/>
              </a:ext>
            </a:extLst>
          </p:cNvPr>
          <p:cNvSpPr>
            <a:spLocks xmlns:a="http://schemas.openxmlformats.org/drawingml/2006/main" noGrp="1"/>
          </p:cNvSpPr>
          <p:nvPr/>
        </p:nvSpPr>
        <p:spPr>
          <a:xfrm xmlns:a="http://schemas.openxmlformats.org/drawingml/2006/main">
            <a:off x="666750" y="3752850"/>
            <a:ext cx="4953000" cy="1676400"/>
          </a:xfrm>
          <a:prstGeom xmlns:a="http://schemas.openxmlformats.org/drawingml/2006/main" prst="roundRect">
            <a:avLst>
              <a:gd name="adj" fmla="val 9091"/>
            </a:avLst>
          </a:prstGeom>
          <a:solidFill xmlns:a="http://schemas.openxmlformats.org/drawingml/2006/main">
            <a:srgbClr val="FCFAF6">
              <a:alpha val="5000"/>
            </a:srgbClr>
          </a:solidFill>
          <a:ln xmlns:a="http://schemas.openxmlformats.org/drawingml/2006/main" w="9525">
            <a:solidFill>
              <a:srgbClr val="FCFAF6">
                <a:alpha val="16000"/>
              </a:srgbClr>
            </a:solidFill>
            <a:prstDash val="solid"/>
          </a:ln>
        </p:spPr>
      </p:sp>
      <p:sp>
        <p:nvSpPr>
          <p:cNvPr id="15" name="">
            <a:extLst xmlns:a="http://schemas.openxmlformats.org/drawingml/2006/main">
              <a:ext uri="{FF2B5EF4-FFF2-40B4-BE49-F238E27FC236}">
                <a16:creationId xmlns:a16="http://schemas.microsoft.com/office/drawing/2014/main" id="{66CEB808-963F-44BB-84D5-62FABBF3C360}"/>
              </a:ext>
            </a:extLst>
          </p:cNvPr>
          <p:cNvSpPr>
            <a:spLocks xmlns:a="http://schemas.openxmlformats.org/drawingml/2006/main" noGrp="1"/>
          </p:cNvSpPr>
          <p:nvPr/>
        </p:nvSpPr>
        <p:spPr>
          <a:xfrm xmlns:a="http://schemas.openxmlformats.org/drawingml/2006/main">
            <a:off x="933450" y="4010025"/>
            <a:ext cx="430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FCFAF6"/>
                </a:solidFill>
                <a:latin typeface="Bahnschrift"/>
                <a:ea typeface="Bahnschrift"/>
                <a:cs typeface="Bahnschrift"/>
              </a:defRPr>
            </a:pPr>
            <a:r>
              <a:rPr sz="2025" b="1" i="0">
                <a:solidFill>
                  <a:srgbClr val="FCFAF6"/>
                </a:solidFill>
                <a:latin typeface="Bahnschrift"/>
                <a:ea typeface="Bahnschrift"/>
                <a:cs typeface="Bahnschrift"/>
              </a:rPr>
              <a:t>MRO and engineering teams</a:t>
            </a:r>
          </a:p>
        </p:txBody>
      </p:sp>
      <p:sp>
        <p:nvSpPr>
          <p:cNvPr id="16" name="">
            <a:extLst xmlns:a="http://schemas.openxmlformats.org/drawingml/2006/main">
              <a:ext uri="{FF2B5EF4-FFF2-40B4-BE49-F238E27FC236}">
                <a16:creationId xmlns:a16="http://schemas.microsoft.com/office/drawing/2014/main" id="{82E49739-4C7F-4BD1-8043-76E157ADA75D}"/>
              </a:ext>
            </a:extLst>
          </p:cNvPr>
          <p:cNvSpPr>
            <a:spLocks xmlns:a="http://schemas.openxmlformats.org/drawingml/2006/main" noGrp="1"/>
          </p:cNvSpPr>
          <p:nvPr/>
        </p:nvSpPr>
        <p:spPr>
          <a:xfrm xmlns:a="http://schemas.openxmlformats.org/drawingml/2006/main">
            <a:off x="933450" y="4486275"/>
            <a:ext cx="6858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6E13F5-2249-410D-BB7F-813BB91C6DD8}"/>
              </a:ext>
            </a:extLst>
          </p:cNvPr>
          <p:cNvSpPr>
            <a:spLocks xmlns:a="http://schemas.openxmlformats.org/drawingml/2006/main" noGrp="1"/>
          </p:cNvSpPr>
          <p:nvPr/>
        </p:nvSpPr>
        <p:spPr>
          <a:xfrm xmlns:a="http://schemas.openxmlformats.org/drawingml/2006/main">
            <a:off x="933450" y="4667250"/>
            <a:ext cx="430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FCFAF6">
                    <a:alpha val="74000"/>
                  </a:srgbClr>
                </a:solidFill>
                <a:latin typeface="Bahnschrift"/>
                <a:ea typeface="Bahnschrift"/>
                <a:cs typeface="Bahnschrift"/>
              </a:defRPr>
            </a:pPr>
            <a:r>
              <a:rPr sz="1425" b="0" i="0">
                <a:solidFill>
                  <a:srgbClr val="FCFAF6">
                    <a:alpha val="74000"/>
                  </a:srgbClr>
                </a:solidFill>
                <a:latin typeface="Bahnschrift"/>
                <a:ea typeface="Bahnschrift"/>
                <a:cs typeface="Bahnschrift"/>
              </a:rPr>
              <a:t>Need sourcing partners who understand configuration, records and airworthiness constraints.</a:t>
            </a:r>
          </a:p>
        </p:txBody>
      </p:sp>
      <p:sp>
        <p:nvSpPr>
          <p:cNvPr id="18" name="">
            <a:extLst xmlns:a="http://schemas.openxmlformats.org/drawingml/2006/main">
              <a:ext uri="{FF2B5EF4-FFF2-40B4-BE49-F238E27FC236}">
                <a16:creationId xmlns:a16="http://schemas.microsoft.com/office/drawing/2014/main" id="{E77F9991-46AD-45E7-89E9-53E48FC9F988}"/>
              </a:ext>
            </a:extLst>
          </p:cNvPr>
          <p:cNvSpPr>
            <a:spLocks xmlns:a="http://schemas.openxmlformats.org/drawingml/2006/main" noGrp="1"/>
          </p:cNvSpPr>
          <p:nvPr/>
        </p:nvSpPr>
        <p:spPr>
          <a:xfrm xmlns:a="http://schemas.openxmlformats.org/drawingml/2006/main">
            <a:off x="6096000" y="3752850"/>
            <a:ext cx="4953000" cy="1676400"/>
          </a:xfrm>
          <a:prstGeom xmlns:a="http://schemas.openxmlformats.org/drawingml/2006/main" prst="roundRect">
            <a:avLst>
              <a:gd name="adj" fmla="val 9091"/>
            </a:avLst>
          </a:prstGeom>
          <a:solidFill xmlns:a="http://schemas.openxmlformats.org/drawingml/2006/main">
            <a:srgbClr val="FCFAF6">
              <a:alpha val="5000"/>
            </a:srgbClr>
          </a:solidFill>
          <a:ln xmlns:a="http://schemas.openxmlformats.org/drawingml/2006/main" w="9525">
            <a:solidFill>
              <a:srgbClr val="FCFAF6">
                <a:alpha val="16000"/>
              </a:srgbClr>
            </a:solidFill>
            <a:prstDash val="solid"/>
          </a:ln>
        </p:spPr>
      </p:sp>
      <p:sp>
        <p:nvSpPr>
          <p:cNvPr id="19" name="">
            <a:extLst xmlns:a="http://schemas.openxmlformats.org/drawingml/2006/main">
              <a:ext uri="{FF2B5EF4-FFF2-40B4-BE49-F238E27FC236}">
                <a16:creationId xmlns:a16="http://schemas.microsoft.com/office/drawing/2014/main" id="{9CD78356-F8AE-402B-9C5E-784C5ED48AA5}"/>
              </a:ext>
            </a:extLst>
          </p:cNvPr>
          <p:cNvSpPr>
            <a:spLocks xmlns:a="http://schemas.openxmlformats.org/drawingml/2006/main" noGrp="1"/>
          </p:cNvSpPr>
          <p:nvPr/>
        </p:nvSpPr>
        <p:spPr>
          <a:xfrm xmlns:a="http://schemas.openxmlformats.org/drawingml/2006/main">
            <a:off x="6362700" y="4010025"/>
            <a:ext cx="430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FCFAF6"/>
                </a:solidFill>
                <a:latin typeface="Bahnschrift"/>
                <a:ea typeface="Bahnschrift"/>
                <a:cs typeface="Bahnschrift"/>
              </a:defRPr>
            </a:pPr>
            <a:r>
              <a:rPr sz="2025" b="1" i="0">
                <a:solidFill>
                  <a:srgbClr val="FCFAF6"/>
                </a:solidFill>
                <a:latin typeface="Bahnschrift"/>
                <a:ea typeface="Bahnschrift"/>
                <a:cs typeface="Bahnschrift"/>
              </a:rPr>
              <a:t>Suppliers and manufacturers</a:t>
            </a:r>
          </a:p>
        </p:txBody>
      </p:sp>
      <p:sp>
        <p:nvSpPr>
          <p:cNvPr id="20" name="">
            <a:extLst xmlns:a="http://schemas.openxmlformats.org/drawingml/2006/main">
              <a:ext uri="{FF2B5EF4-FFF2-40B4-BE49-F238E27FC236}">
                <a16:creationId xmlns:a16="http://schemas.microsoft.com/office/drawing/2014/main" id="{54CE65D5-3468-41B5-83A9-634E840B6B0E}"/>
              </a:ext>
            </a:extLst>
          </p:cNvPr>
          <p:cNvSpPr>
            <a:spLocks xmlns:a="http://schemas.openxmlformats.org/drawingml/2006/main" noGrp="1"/>
          </p:cNvSpPr>
          <p:nvPr/>
        </p:nvSpPr>
        <p:spPr>
          <a:xfrm xmlns:a="http://schemas.openxmlformats.org/drawingml/2006/main">
            <a:off x="6362700" y="4486275"/>
            <a:ext cx="6858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BC8A4C-DBF1-497A-9853-F2E58893231A}"/>
              </a:ext>
            </a:extLst>
          </p:cNvPr>
          <p:cNvSpPr>
            <a:spLocks xmlns:a="http://schemas.openxmlformats.org/drawingml/2006/main" noGrp="1"/>
          </p:cNvSpPr>
          <p:nvPr/>
        </p:nvSpPr>
        <p:spPr>
          <a:xfrm xmlns:a="http://schemas.openxmlformats.org/drawingml/2006/main">
            <a:off x="6362700" y="4667250"/>
            <a:ext cx="430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FCFAF6">
                    <a:alpha val="74000"/>
                  </a:srgbClr>
                </a:solidFill>
                <a:latin typeface="Bahnschrift"/>
                <a:ea typeface="Bahnschrift"/>
                <a:cs typeface="Bahnschrift"/>
              </a:defRPr>
            </a:pPr>
            <a:r>
              <a:rPr sz="1425" b="0" i="0">
                <a:solidFill>
                  <a:srgbClr val="FCFAF6">
                    <a:alpha val="74000"/>
                  </a:srgbClr>
                </a:solidFill>
                <a:latin typeface="Bahnschrift"/>
                <a:ea typeface="Bahnschrift"/>
                <a:cs typeface="Bahnschrift"/>
              </a:rPr>
              <a:t>Need credible routes to market, clearer demand signals and informed commercial positioning.</a:t>
            </a:r>
          </a:p>
        </p:txBody>
      </p:sp>
    </p:spTree>
    <p:extLst>
      <p:ext uri="{BB962C8B-B14F-4D97-AF65-F5344CB8AC3E}">
        <p14:creationId xmlns:p14="http://schemas.microsoft.com/office/powerpoint/2010/main" val="422849028"/>
      </p:ext>
    </p:extLst>
  </p:cSld>
</p:sld>
</file>

<file path=ppt/slides/slide11.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485E6AC-A88A-4E43-8307-27191D7DF6F1}"/>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899EE472-0477-41BA-A252-127D7B5F0103}"/>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11</a:t>
            </a:r>
          </a:p>
        </p:txBody>
      </p:sp>
      <p:sp>
        <p:nvSpPr>
          <p:cNvPr id="3" name="">
            <a:extLst xmlns:a="http://schemas.openxmlformats.org/drawingml/2006/main">
              <a:ext uri="{FF2B5EF4-FFF2-40B4-BE49-F238E27FC236}">
                <a16:creationId xmlns:a16="http://schemas.microsoft.com/office/drawing/2014/main" id="{EDDC52B7-94BC-438F-98AE-760811628C15}"/>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Capability architecture</a:t>
            </a:r>
          </a:p>
        </p:txBody>
      </p:sp>
      <p:sp>
        <p:nvSpPr>
          <p:cNvPr id="4" name="">
            <a:extLst xmlns:a="http://schemas.openxmlformats.org/drawingml/2006/main">
              <a:ext uri="{FF2B5EF4-FFF2-40B4-BE49-F238E27FC236}">
                <a16:creationId xmlns:a16="http://schemas.microsoft.com/office/drawing/2014/main" id="{AF2A89B1-52C1-436C-81C7-2CAF4E0AE8C3}"/>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BAFF5E-70FD-4236-8305-DB28F699C52F}"/>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The commercial story moves from insight to action to fleet outcome</a:t>
            </a:r>
          </a:p>
        </p:txBody>
      </p:sp>
      <p:sp>
        <p:nvSpPr>
          <p:cNvPr id="6" name="">
            <a:extLst xmlns:a="http://schemas.openxmlformats.org/drawingml/2006/main">
              <a:ext uri="{FF2B5EF4-FFF2-40B4-BE49-F238E27FC236}">
                <a16:creationId xmlns:a16="http://schemas.microsoft.com/office/drawing/2014/main" id="{4D6CB504-03C8-42C7-9F91-ECA7CE519B3B}"/>
              </a:ext>
            </a:extLst>
          </p:cNvPr>
          <p:cNvSpPr>
            <a:spLocks xmlns:a="http://schemas.openxmlformats.org/drawingml/2006/main" noGrp="1"/>
          </p:cNvSpPr>
          <p:nvPr/>
        </p:nvSpPr>
        <p:spPr>
          <a:xfrm xmlns:a="http://schemas.openxmlformats.org/drawingml/2006/main">
            <a:off x="666750" y="18478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i="0">
                <a:solidFill>
                  <a:srgbClr val="B8864F"/>
                </a:solidFill>
                <a:latin typeface="Bahnschrift"/>
                <a:ea typeface="Bahnschrift"/>
                <a:cs typeface="Bahnschrift"/>
              </a:defRPr>
            </a:pPr>
            <a:r>
              <a:rPr sz="3225" b="1" i="0">
                <a:solidFill>
                  <a:srgbClr val="B8864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B2AD8998-D656-4789-A6D3-152AF82CF03E}"/>
              </a:ext>
            </a:extLst>
          </p:cNvPr>
          <p:cNvSpPr>
            <a:spLocks xmlns:a="http://schemas.openxmlformats.org/drawingml/2006/main" noGrp="1"/>
          </p:cNvSpPr>
          <p:nvPr/>
        </p:nvSpPr>
        <p:spPr>
          <a:xfrm xmlns:a="http://schemas.openxmlformats.org/drawingml/2006/main">
            <a:off x="666750" y="25717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A1F25"/>
                </a:solidFill>
                <a:latin typeface="Bahnschrift"/>
                <a:ea typeface="Bahnschrift"/>
                <a:cs typeface="Bahnschrift"/>
              </a:defRPr>
            </a:pPr>
            <a:r>
              <a:rPr sz="2175" b="1" i="0">
                <a:solidFill>
                  <a:srgbClr val="1A1F25"/>
                </a:solidFill>
                <a:latin typeface="Bahnschrift"/>
                <a:ea typeface="Bahnschrift"/>
                <a:cs typeface="Bahnschrift"/>
              </a:rPr>
              <a:t>Engineering intelligence</a:t>
            </a:r>
          </a:p>
        </p:txBody>
      </p:sp>
      <p:sp>
        <p:nvSpPr>
          <p:cNvPr id="8" name="">
            <a:extLst xmlns:a="http://schemas.openxmlformats.org/drawingml/2006/main">
              <a:ext uri="{FF2B5EF4-FFF2-40B4-BE49-F238E27FC236}">
                <a16:creationId xmlns:a16="http://schemas.microsoft.com/office/drawing/2014/main" id="{CEFC0404-D793-4587-BA3A-A69DADDE6B0A}"/>
              </a:ext>
            </a:extLst>
          </p:cNvPr>
          <p:cNvSpPr>
            <a:spLocks xmlns:a="http://schemas.openxmlformats.org/drawingml/2006/main" noGrp="1"/>
          </p:cNvSpPr>
          <p:nvPr/>
        </p:nvSpPr>
        <p:spPr>
          <a:xfrm xmlns:a="http://schemas.openxmlformats.org/drawingml/2006/main">
            <a:off x="666750" y="3390900"/>
            <a:ext cx="2667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079E54-BF49-410D-8998-C61FA2FFFE99}"/>
              </a:ext>
            </a:extLst>
          </p:cNvPr>
          <p:cNvSpPr>
            <a:spLocks xmlns:a="http://schemas.openxmlformats.org/drawingml/2006/main" noGrp="1"/>
          </p:cNvSpPr>
          <p:nvPr/>
        </p:nvSpPr>
        <p:spPr>
          <a:xfrm xmlns:a="http://schemas.openxmlformats.org/drawingml/2006/main">
            <a:off x="666750" y="3638550"/>
            <a:ext cx="2838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Interpret part, configuration, records and technical risk with engineering context.</a:t>
            </a:r>
          </a:p>
        </p:txBody>
      </p:sp>
      <p:sp>
        <p:nvSpPr>
          <p:cNvPr id="10" name="">
            <a:extLst xmlns:a="http://schemas.openxmlformats.org/drawingml/2006/main">
              <a:ext uri="{FF2B5EF4-FFF2-40B4-BE49-F238E27FC236}">
                <a16:creationId xmlns:a16="http://schemas.microsoft.com/office/drawing/2014/main" id="{994C7C67-5165-42BB-8033-922B4B284281}"/>
              </a:ext>
            </a:extLst>
          </p:cNvPr>
          <p:cNvSpPr>
            <a:spLocks xmlns:a="http://schemas.openxmlformats.org/drawingml/2006/main" noGrp="1"/>
          </p:cNvSpPr>
          <p:nvPr/>
        </p:nvSpPr>
        <p:spPr>
          <a:xfrm xmlns:a="http://schemas.openxmlformats.org/drawingml/2006/main">
            <a:off x="4191000" y="18478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i="0">
                <a:solidFill>
                  <a:srgbClr val="B8864F"/>
                </a:solidFill>
                <a:latin typeface="Bahnschrift"/>
                <a:ea typeface="Bahnschrift"/>
                <a:cs typeface="Bahnschrift"/>
              </a:defRPr>
            </a:pPr>
            <a:r>
              <a:rPr sz="3225" b="1" i="0">
                <a:solidFill>
                  <a:srgbClr val="B8864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C00E9A4B-8D0A-478D-AE52-BBAA098872A3}"/>
              </a:ext>
            </a:extLst>
          </p:cNvPr>
          <p:cNvSpPr>
            <a:spLocks xmlns:a="http://schemas.openxmlformats.org/drawingml/2006/main" noGrp="1"/>
          </p:cNvSpPr>
          <p:nvPr/>
        </p:nvSpPr>
        <p:spPr>
          <a:xfrm xmlns:a="http://schemas.openxmlformats.org/drawingml/2006/main">
            <a:off x="4191000" y="25717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A1F25"/>
                </a:solidFill>
                <a:latin typeface="Bahnschrift"/>
                <a:ea typeface="Bahnschrift"/>
                <a:cs typeface="Bahnschrift"/>
              </a:defRPr>
            </a:pPr>
            <a:r>
              <a:rPr sz="2175" b="1" i="0">
                <a:solidFill>
                  <a:srgbClr val="1A1F25"/>
                </a:solidFill>
                <a:latin typeface="Bahnschrift"/>
                <a:ea typeface="Bahnschrift"/>
                <a:cs typeface="Bahnschrift"/>
              </a:rPr>
              <a:t>Procurement</a:t>
            </a:r>
          </a:p>
        </p:txBody>
      </p:sp>
      <p:sp>
        <p:nvSpPr>
          <p:cNvPr id="12" name="">
            <a:extLst xmlns:a="http://schemas.openxmlformats.org/drawingml/2006/main">
              <a:ext uri="{FF2B5EF4-FFF2-40B4-BE49-F238E27FC236}">
                <a16:creationId xmlns:a16="http://schemas.microsoft.com/office/drawing/2014/main" id="{FCB28157-14AF-4C20-8723-2390B48B667E}"/>
              </a:ext>
            </a:extLst>
          </p:cNvPr>
          <p:cNvSpPr>
            <a:spLocks xmlns:a="http://schemas.openxmlformats.org/drawingml/2006/main" noGrp="1"/>
          </p:cNvSpPr>
          <p:nvPr/>
        </p:nvSpPr>
        <p:spPr>
          <a:xfrm xmlns:a="http://schemas.openxmlformats.org/drawingml/2006/main">
            <a:off x="4191000" y="3390900"/>
            <a:ext cx="2667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CE5BFB-B767-4D87-B790-A36198E93E3A}"/>
              </a:ext>
            </a:extLst>
          </p:cNvPr>
          <p:cNvSpPr>
            <a:spLocks xmlns:a="http://schemas.openxmlformats.org/drawingml/2006/main" noGrp="1"/>
          </p:cNvSpPr>
          <p:nvPr/>
        </p:nvSpPr>
        <p:spPr>
          <a:xfrm xmlns:a="http://schemas.openxmlformats.org/drawingml/2006/main">
            <a:off x="4191000" y="3638550"/>
            <a:ext cx="2838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Source more intelligently through supplier knowledge, market evidence and structured comparison.</a:t>
            </a:r>
          </a:p>
        </p:txBody>
      </p:sp>
      <p:sp>
        <p:nvSpPr>
          <p:cNvPr id="14" name="">
            <a:extLst xmlns:a="http://schemas.openxmlformats.org/drawingml/2006/main">
              <a:ext uri="{FF2B5EF4-FFF2-40B4-BE49-F238E27FC236}">
                <a16:creationId xmlns:a16="http://schemas.microsoft.com/office/drawing/2014/main" id="{30E0C53B-A771-4BF0-82ED-9EDB7554D41F}"/>
              </a:ext>
            </a:extLst>
          </p:cNvPr>
          <p:cNvSpPr>
            <a:spLocks xmlns:a="http://schemas.openxmlformats.org/drawingml/2006/main" noGrp="1"/>
          </p:cNvSpPr>
          <p:nvPr/>
        </p:nvSpPr>
        <p:spPr>
          <a:xfrm xmlns:a="http://schemas.openxmlformats.org/drawingml/2006/main">
            <a:off x="7715250" y="18478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i="0">
                <a:solidFill>
                  <a:srgbClr val="B8864F"/>
                </a:solidFill>
                <a:latin typeface="Bahnschrift"/>
                <a:ea typeface="Bahnschrift"/>
                <a:cs typeface="Bahnschrift"/>
              </a:defRPr>
            </a:pPr>
            <a:r>
              <a:rPr sz="3225" b="1" i="0">
                <a:solidFill>
                  <a:srgbClr val="B8864F"/>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E3CB8E2E-5F18-4BC4-84DB-9F1691637DED}"/>
              </a:ext>
            </a:extLst>
          </p:cNvPr>
          <p:cNvSpPr>
            <a:spLocks xmlns:a="http://schemas.openxmlformats.org/drawingml/2006/main" noGrp="1"/>
          </p:cNvSpPr>
          <p:nvPr/>
        </p:nvSpPr>
        <p:spPr>
          <a:xfrm xmlns:a="http://schemas.openxmlformats.org/drawingml/2006/main">
            <a:off x="7715250" y="25717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i="0">
                <a:solidFill>
                  <a:srgbClr val="1A1F25"/>
                </a:solidFill>
                <a:latin typeface="Bahnschrift"/>
                <a:ea typeface="Bahnschrift"/>
                <a:cs typeface="Bahnschrift"/>
              </a:defRPr>
            </a:pPr>
            <a:r>
              <a:rPr sz="2175" b="1" i="0">
                <a:solidFill>
                  <a:srgbClr val="1A1F25"/>
                </a:solidFill>
                <a:latin typeface="Bahnschrift"/>
                <a:ea typeface="Bahnschrift"/>
                <a:cs typeface="Bahnschrift"/>
              </a:rPr>
              <a:t>Fleet intelligence</a:t>
            </a:r>
          </a:p>
        </p:txBody>
      </p:sp>
      <p:sp>
        <p:nvSpPr>
          <p:cNvPr id="16" name="">
            <a:extLst xmlns:a="http://schemas.openxmlformats.org/drawingml/2006/main">
              <a:ext uri="{FF2B5EF4-FFF2-40B4-BE49-F238E27FC236}">
                <a16:creationId xmlns:a16="http://schemas.microsoft.com/office/drawing/2014/main" id="{29521293-90C7-4E17-9375-72650D0682EB}"/>
              </a:ext>
            </a:extLst>
          </p:cNvPr>
          <p:cNvSpPr>
            <a:spLocks xmlns:a="http://schemas.openxmlformats.org/drawingml/2006/main" noGrp="1"/>
          </p:cNvSpPr>
          <p:nvPr/>
        </p:nvSpPr>
        <p:spPr>
          <a:xfrm xmlns:a="http://schemas.openxmlformats.org/drawingml/2006/main">
            <a:off x="7715250" y="3390900"/>
            <a:ext cx="2667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BAF1FC-4AC4-4571-AC78-DE1800CE513C}"/>
              </a:ext>
            </a:extLst>
          </p:cNvPr>
          <p:cNvSpPr>
            <a:spLocks xmlns:a="http://schemas.openxmlformats.org/drawingml/2006/main" noGrp="1"/>
          </p:cNvSpPr>
          <p:nvPr/>
        </p:nvSpPr>
        <p:spPr>
          <a:xfrm xmlns:a="http://schemas.openxmlformats.org/drawingml/2006/main">
            <a:off x="7715250" y="3638550"/>
            <a:ext cx="28384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Connect component decisions to availability, reliability, lifecycle and asset performance.</a:t>
            </a:r>
          </a:p>
        </p:txBody>
      </p:sp>
      <p:sp>
        <p:nvSpPr>
          <p:cNvPr id="18" name="">
            <a:extLst xmlns:a="http://schemas.openxmlformats.org/drawingml/2006/main">
              <a:ext uri="{FF2B5EF4-FFF2-40B4-BE49-F238E27FC236}">
                <a16:creationId xmlns:a16="http://schemas.microsoft.com/office/drawing/2014/main" id="{F81631D7-B829-41F9-A697-9F942CF19E14}"/>
              </a:ext>
            </a:extLst>
          </p:cNvPr>
          <p:cNvSpPr>
            <a:spLocks xmlns:a="http://schemas.openxmlformats.org/drawingml/2006/main" noGrp="1"/>
          </p:cNvSpPr>
          <p:nvPr/>
        </p:nvSpPr>
        <p:spPr>
          <a:xfrm xmlns:a="http://schemas.openxmlformats.org/drawingml/2006/main">
            <a:off x="666750" y="55245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1A1F25"/>
                </a:solidFill>
                <a:latin typeface="Bahnschrift"/>
                <a:ea typeface="Bahnschrift"/>
                <a:cs typeface="Bahnschrift"/>
              </a:defRPr>
            </a:pPr>
            <a:r>
              <a:rPr sz="1275" b="1" i="0">
                <a:solidFill>
                  <a:srgbClr val="1A1F25"/>
                </a:solidFill>
                <a:latin typeface="Bahnschrift"/>
                <a:ea typeface="Bahnschrift"/>
                <a:cs typeface="Bahnschrift"/>
              </a:rPr>
              <a:t>ENGINEERING INSIGHT</a:t>
            </a:r>
          </a:p>
        </p:txBody>
      </p:sp>
      <p:sp>
        <p:nvSpPr>
          <p:cNvPr id="19" name="">
            <a:extLst xmlns:a="http://schemas.openxmlformats.org/drawingml/2006/main">
              <a:ext uri="{FF2B5EF4-FFF2-40B4-BE49-F238E27FC236}">
                <a16:creationId xmlns:a16="http://schemas.microsoft.com/office/drawing/2014/main" id="{4E96CB82-12CD-47E9-8A34-358D7AE995D2}"/>
              </a:ext>
            </a:extLst>
          </p:cNvPr>
          <p:cNvSpPr>
            <a:spLocks xmlns:a="http://schemas.openxmlformats.org/drawingml/2006/main" noGrp="1"/>
          </p:cNvSpPr>
          <p:nvPr/>
        </p:nvSpPr>
        <p:spPr>
          <a:xfrm xmlns:a="http://schemas.openxmlformats.org/drawingml/2006/main">
            <a:off x="4191000" y="55245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1A1F25"/>
                </a:solidFill>
                <a:latin typeface="Bahnschrift"/>
                <a:ea typeface="Bahnschrift"/>
                <a:cs typeface="Bahnschrift"/>
              </a:defRPr>
            </a:pPr>
            <a:r>
              <a:rPr sz="1275" b="1" i="0">
                <a:solidFill>
                  <a:srgbClr val="1A1F25"/>
                </a:solidFill>
                <a:latin typeface="Bahnschrift"/>
                <a:ea typeface="Bahnschrift"/>
                <a:cs typeface="Bahnschrift"/>
              </a:rPr>
              <a:t>SMARTER SOURCING</a:t>
            </a:r>
          </a:p>
        </p:txBody>
      </p:sp>
      <p:sp>
        <p:nvSpPr>
          <p:cNvPr id="20" name="">
            <a:extLst xmlns:a="http://schemas.openxmlformats.org/drawingml/2006/main">
              <a:ext uri="{FF2B5EF4-FFF2-40B4-BE49-F238E27FC236}">
                <a16:creationId xmlns:a16="http://schemas.microsoft.com/office/drawing/2014/main" id="{8EE98949-CFEC-4178-9F18-92AEA39CE231}"/>
              </a:ext>
            </a:extLst>
          </p:cNvPr>
          <p:cNvSpPr>
            <a:spLocks xmlns:a="http://schemas.openxmlformats.org/drawingml/2006/main" noGrp="1"/>
          </p:cNvSpPr>
          <p:nvPr/>
        </p:nvSpPr>
        <p:spPr>
          <a:xfrm xmlns:a="http://schemas.openxmlformats.org/drawingml/2006/main">
            <a:off x="7715250" y="55245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1A1F25"/>
                </a:solidFill>
                <a:latin typeface="Bahnschrift"/>
                <a:ea typeface="Bahnschrift"/>
                <a:cs typeface="Bahnschrift"/>
              </a:defRPr>
            </a:pPr>
            <a:r>
              <a:rPr sz="1275" b="1" i="0">
                <a:solidFill>
                  <a:srgbClr val="1A1F25"/>
                </a:solidFill>
                <a:latin typeface="Bahnschrift"/>
                <a:ea typeface="Bahnschrift"/>
                <a:cs typeface="Bahnschrift"/>
              </a:rPr>
              <a:t>STRONGER FLEETS</a:t>
            </a:r>
          </a:p>
        </p:txBody>
      </p:sp>
    </p:spTree>
    <p:extLst>
      <p:ext uri="{BB962C8B-B14F-4D97-AF65-F5344CB8AC3E}">
        <p14:creationId xmlns:p14="http://schemas.microsoft.com/office/powerpoint/2010/main" val="516457080"/>
      </p:ext>
    </p:extLst>
  </p:cSld>
</p:sld>
</file>

<file path=ppt/slides/slide12.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F7EFD3-67E2-431B-8148-0D29F31AED3E}"/>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01E46BEC-18BF-4CA3-A425-89789B98D0DA}"/>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12</a:t>
            </a:r>
          </a:p>
        </p:txBody>
      </p:sp>
      <p:sp>
        <p:nvSpPr>
          <p:cNvPr id="3" name="">
            <a:extLst xmlns:a="http://schemas.openxmlformats.org/drawingml/2006/main">
              <a:ext uri="{FF2B5EF4-FFF2-40B4-BE49-F238E27FC236}">
                <a16:creationId xmlns:a16="http://schemas.microsoft.com/office/drawing/2014/main" id="{ED5634C5-194D-4143-BC1A-CB976F7E05DD}"/>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Messaging hierarchy</a:t>
            </a:r>
          </a:p>
        </p:txBody>
      </p:sp>
      <p:sp>
        <p:nvSpPr>
          <p:cNvPr id="4" name="">
            <a:extLst xmlns:a="http://schemas.openxmlformats.org/drawingml/2006/main">
              <a:ext uri="{FF2B5EF4-FFF2-40B4-BE49-F238E27FC236}">
                <a16:creationId xmlns:a16="http://schemas.microsoft.com/office/drawing/2014/main" id="{2C4C91E4-2386-47FA-A427-D7810C4A25A8}"/>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9DADEE-FB4D-417B-96AD-D052B4B37A48}"/>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Use each line for a distinct job</a:t>
            </a:r>
          </a:p>
        </p:txBody>
      </p:sp>
      <p:sp>
        <p:nvSpPr>
          <p:cNvPr id="6" name="">
            <a:extLst xmlns:a="http://schemas.openxmlformats.org/drawingml/2006/main">
              <a:ext uri="{FF2B5EF4-FFF2-40B4-BE49-F238E27FC236}">
                <a16:creationId xmlns:a16="http://schemas.microsoft.com/office/drawing/2014/main" id="{96E68759-3238-4279-A9EA-3F2CDAB99BC3}"/>
              </a:ext>
            </a:extLst>
          </p:cNvPr>
          <p:cNvSpPr>
            <a:spLocks xmlns:a="http://schemas.openxmlformats.org/drawingml/2006/main" noGrp="1"/>
          </p:cNvSpPr>
          <p:nvPr/>
        </p:nvSpPr>
        <p:spPr>
          <a:xfrm xmlns:a="http://schemas.openxmlformats.org/drawingml/2006/main">
            <a:off x="666750" y="16573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MASTER NARRATIVE</a:t>
            </a:r>
          </a:p>
        </p:txBody>
      </p:sp>
      <p:sp>
        <p:nvSpPr>
          <p:cNvPr id="7" name="">
            <a:extLst xmlns:a="http://schemas.openxmlformats.org/drawingml/2006/main">
              <a:ext uri="{FF2B5EF4-FFF2-40B4-BE49-F238E27FC236}">
                <a16:creationId xmlns:a16="http://schemas.microsoft.com/office/drawing/2014/main" id="{8AAFCB67-F689-4548-9ABC-AA4F6A6DD9AF}"/>
              </a:ext>
            </a:extLst>
          </p:cNvPr>
          <p:cNvSpPr>
            <a:spLocks xmlns:a="http://schemas.openxmlformats.org/drawingml/2006/main" noGrp="1"/>
          </p:cNvSpPr>
          <p:nvPr/>
        </p:nvSpPr>
        <p:spPr>
          <a:xfrm xmlns:a="http://schemas.openxmlformats.org/drawingml/2006/main">
            <a:off x="2781300" y="16383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A1F25"/>
                </a:solidFill>
                <a:latin typeface="Bahnschrift"/>
                <a:ea typeface="Bahnschrift"/>
                <a:cs typeface="Bahnschrift"/>
              </a:defRPr>
            </a:pPr>
            <a:r>
              <a:rPr sz="1725" b="1" i="0">
                <a:solidFill>
                  <a:srgbClr val="1A1F25"/>
                </a:solidFill>
                <a:latin typeface="Bahnschrift"/>
                <a:ea typeface="Bahnschrift"/>
                <a:cs typeface="Bahnschrift"/>
              </a:rPr>
              <a:t>Born from the Aviatrix. Built on engineering. Powered by intelligence.</a:t>
            </a:r>
          </a:p>
        </p:txBody>
      </p:sp>
      <p:sp>
        <p:nvSpPr>
          <p:cNvPr id="8" name="">
            <a:extLst xmlns:a="http://schemas.openxmlformats.org/drawingml/2006/main">
              <a:ext uri="{FF2B5EF4-FFF2-40B4-BE49-F238E27FC236}">
                <a16:creationId xmlns:a16="http://schemas.microsoft.com/office/drawing/2014/main" id="{73CCC39D-9E82-40D5-AEF2-BAB2D63D6C7D}"/>
              </a:ext>
            </a:extLst>
          </p:cNvPr>
          <p:cNvSpPr>
            <a:spLocks xmlns:a="http://schemas.openxmlformats.org/drawingml/2006/main" noGrp="1"/>
          </p:cNvSpPr>
          <p:nvPr/>
        </p:nvSpPr>
        <p:spPr>
          <a:xfrm xmlns:a="http://schemas.openxmlformats.org/drawingml/2006/main">
            <a:off x="8915400" y="16383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Brand introductions, About pages, launch material</a:t>
            </a:r>
          </a:p>
        </p:txBody>
      </p:sp>
      <p:sp>
        <p:nvSpPr>
          <p:cNvPr id="9" name="">
            <a:extLst xmlns:a="http://schemas.openxmlformats.org/drawingml/2006/main">
              <a:ext uri="{FF2B5EF4-FFF2-40B4-BE49-F238E27FC236}">
                <a16:creationId xmlns:a16="http://schemas.microsoft.com/office/drawing/2014/main" id="{A708A1E4-9BC5-47E9-BFED-B15DCDE2BC70}"/>
              </a:ext>
            </a:extLst>
          </p:cNvPr>
          <p:cNvSpPr>
            <a:spLocks xmlns:a="http://schemas.openxmlformats.org/drawingml/2006/main" noGrp="1"/>
          </p:cNvSpPr>
          <p:nvPr/>
        </p:nvSpPr>
        <p:spPr>
          <a:xfrm xmlns:a="http://schemas.openxmlformats.org/drawingml/2006/main">
            <a:off x="666750" y="2447925"/>
            <a:ext cx="10629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02101F-F892-4517-A6DA-A96AC5AFC9BE}"/>
              </a:ext>
            </a:extLst>
          </p:cNvPr>
          <p:cNvSpPr>
            <a:spLocks xmlns:a="http://schemas.openxmlformats.org/drawingml/2006/main" noGrp="1"/>
          </p:cNvSpPr>
          <p:nvPr/>
        </p:nvSpPr>
        <p:spPr>
          <a:xfrm xmlns:a="http://schemas.openxmlformats.org/drawingml/2006/main">
            <a:off x="666750" y="27241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COMMERCIAL PROMISE</a:t>
            </a:r>
          </a:p>
        </p:txBody>
      </p:sp>
      <p:sp>
        <p:nvSpPr>
          <p:cNvPr id="11" name="">
            <a:extLst xmlns:a="http://schemas.openxmlformats.org/drawingml/2006/main">
              <a:ext uri="{FF2B5EF4-FFF2-40B4-BE49-F238E27FC236}">
                <a16:creationId xmlns:a16="http://schemas.microsoft.com/office/drawing/2014/main" id="{20616A18-A995-430E-BD52-9A52435447F6}"/>
              </a:ext>
            </a:extLst>
          </p:cNvPr>
          <p:cNvSpPr>
            <a:spLocks xmlns:a="http://schemas.openxmlformats.org/drawingml/2006/main" noGrp="1"/>
          </p:cNvSpPr>
          <p:nvPr/>
        </p:nvSpPr>
        <p:spPr>
          <a:xfrm xmlns:a="http://schemas.openxmlformats.org/drawingml/2006/main">
            <a:off x="2781300" y="27051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A1F25"/>
                </a:solidFill>
                <a:latin typeface="Bahnschrift"/>
                <a:ea typeface="Bahnschrift"/>
                <a:cs typeface="Bahnschrift"/>
              </a:defRPr>
            </a:pPr>
            <a:r>
              <a:rPr sz="1725" b="1" i="0">
                <a:solidFill>
                  <a:srgbClr val="1A1F25"/>
                </a:solidFill>
                <a:latin typeface="Bahnschrift"/>
                <a:ea typeface="Bahnschrift"/>
                <a:cs typeface="Bahnschrift"/>
              </a:rPr>
              <a:t>Engineering Insight. Smarter Sourcing. Stronger Fleets.</a:t>
            </a:r>
          </a:p>
        </p:txBody>
      </p:sp>
      <p:sp>
        <p:nvSpPr>
          <p:cNvPr id="12" name="">
            <a:extLst xmlns:a="http://schemas.openxmlformats.org/drawingml/2006/main">
              <a:ext uri="{FF2B5EF4-FFF2-40B4-BE49-F238E27FC236}">
                <a16:creationId xmlns:a16="http://schemas.microsoft.com/office/drawing/2014/main" id="{3B5DC73C-E4AF-4F11-AD66-EAA8AD3DC312}"/>
              </a:ext>
            </a:extLst>
          </p:cNvPr>
          <p:cNvSpPr>
            <a:spLocks xmlns:a="http://schemas.openxmlformats.org/drawingml/2006/main" noGrp="1"/>
          </p:cNvSpPr>
          <p:nvPr/>
        </p:nvSpPr>
        <p:spPr>
          <a:xfrm xmlns:a="http://schemas.openxmlformats.org/drawingml/2006/main">
            <a:off x="8915400" y="27051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Proposals, capability statements, sales decks</a:t>
            </a:r>
          </a:p>
        </p:txBody>
      </p:sp>
      <p:sp>
        <p:nvSpPr>
          <p:cNvPr id="13" name="">
            <a:extLst xmlns:a="http://schemas.openxmlformats.org/drawingml/2006/main">
              <a:ext uri="{FF2B5EF4-FFF2-40B4-BE49-F238E27FC236}">
                <a16:creationId xmlns:a16="http://schemas.microsoft.com/office/drawing/2014/main" id="{FF02B094-3693-4C09-97D7-2737C09C44FA}"/>
              </a:ext>
            </a:extLst>
          </p:cNvPr>
          <p:cNvSpPr>
            <a:spLocks xmlns:a="http://schemas.openxmlformats.org/drawingml/2006/main" noGrp="1"/>
          </p:cNvSpPr>
          <p:nvPr/>
        </p:nvSpPr>
        <p:spPr>
          <a:xfrm xmlns:a="http://schemas.openxmlformats.org/drawingml/2006/main">
            <a:off x="666750" y="3514725"/>
            <a:ext cx="10629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74D404-AB5C-47DA-A9A4-2CEF51CF4637}"/>
              </a:ext>
            </a:extLst>
          </p:cNvPr>
          <p:cNvSpPr>
            <a:spLocks xmlns:a="http://schemas.openxmlformats.org/drawingml/2006/main" noGrp="1"/>
          </p:cNvSpPr>
          <p:nvPr/>
        </p:nvSpPr>
        <p:spPr>
          <a:xfrm xmlns:a="http://schemas.openxmlformats.org/drawingml/2006/main">
            <a:off x="666750" y="37909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EDITORIAL LINE</a:t>
            </a:r>
          </a:p>
        </p:txBody>
      </p:sp>
      <p:sp>
        <p:nvSpPr>
          <p:cNvPr id="15" name="">
            <a:extLst xmlns:a="http://schemas.openxmlformats.org/drawingml/2006/main">
              <a:ext uri="{FF2B5EF4-FFF2-40B4-BE49-F238E27FC236}">
                <a16:creationId xmlns:a16="http://schemas.microsoft.com/office/drawing/2014/main" id="{22B306BA-18E9-4EDC-8B82-A31C811F6C60}"/>
              </a:ext>
            </a:extLst>
          </p:cNvPr>
          <p:cNvSpPr>
            <a:spLocks xmlns:a="http://schemas.openxmlformats.org/drawingml/2006/main" noGrp="1"/>
          </p:cNvSpPr>
          <p:nvPr/>
        </p:nvSpPr>
        <p:spPr>
          <a:xfrm xmlns:a="http://schemas.openxmlformats.org/drawingml/2006/main">
            <a:off x="2781300" y="37719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A1F25"/>
                </a:solidFill>
                <a:latin typeface="Bahnschrift"/>
                <a:ea typeface="Bahnschrift"/>
                <a:cs typeface="Bahnschrift"/>
              </a:defRPr>
            </a:pPr>
            <a:r>
              <a:rPr sz="1725" b="1" i="0">
                <a:solidFill>
                  <a:srgbClr val="1A1F25"/>
                </a:solidFill>
                <a:latin typeface="Bahnschrift"/>
                <a:ea typeface="Bahnschrift"/>
                <a:cs typeface="Bahnschrift"/>
              </a:rPr>
              <a:t>Insight informed by experience.</a:t>
            </a:r>
          </a:p>
        </p:txBody>
      </p:sp>
      <p:sp>
        <p:nvSpPr>
          <p:cNvPr id="16" name="">
            <a:extLst xmlns:a="http://schemas.openxmlformats.org/drawingml/2006/main">
              <a:ext uri="{FF2B5EF4-FFF2-40B4-BE49-F238E27FC236}">
                <a16:creationId xmlns:a16="http://schemas.microsoft.com/office/drawing/2014/main" id="{01D26506-D731-438C-A7F9-33CB369B92FA}"/>
              </a:ext>
            </a:extLst>
          </p:cNvPr>
          <p:cNvSpPr>
            <a:spLocks xmlns:a="http://schemas.openxmlformats.org/drawingml/2006/main" noGrp="1"/>
          </p:cNvSpPr>
          <p:nvPr/>
        </p:nvSpPr>
        <p:spPr>
          <a:xfrm xmlns:a="http://schemas.openxmlformats.org/drawingml/2006/main">
            <a:off x="8915400" y="37719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Reports, articles, research and thought leadership</a:t>
            </a:r>
          </a:p>
        </p:txBody>
      </p:sp>
      <p:sp>
        <p:nvSpPr>
          <p:cNvPr id="17" name="">
            <a:extLst xmlns:a="http://schemas.openxmlformats.org/drawingml/2006/main">
              <a:ext uri="{FF2B5EF4-FFF2-40B4-BE49-F238E27FC236}">
                <a16:creationId xmlns:a16="http://schemas.microsoft.com/office/drawing/2014/main" id="{06E64135-F63A-4ACD-ADC7-01E8EA3F2D39}"/>
              </a:ext>
            </a:extLst>
          </p:cNvPr>
          <p:cNvSpPr>
            <a:spLocks xmlns:a="http://schemas.openxmlformats.org/drawingml/2006/main" noGrp="1"/>
          </p:cNvSpPr>
          <p:nvPr/>
        </p:nvSpPr>
        <p:spPr>
          <a:xfrm xmlns:a="http://schemas.openxmlformats.org/drawingml/2006/main">
            <a:off x="666750" y="4581525"/>
            <a:ext cx="10629900" cy="9525"/>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312998-367F-45F6-B022-287B1BC36B0E}"/>
              </a:ext>
            </a:extLst>
          </p:cNvPr>
          <p:cNvSpPr>
            <a:spLocks xmlns:a="http://schemas.openxmlformats.org/drawingml/2006/main" noGrp="1"/>
          </p:cNvSpPr>
          <p:nvPr/>
        </p:nvSpPr>
        <p:spPr>
          <a:xfrm xmlns:a="http://schemas.openxmlformats.org/drawingml/2006/main">
            <a:off x="666750" y="48577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POSITIONING</a:t>
            </a:r>
          </a:p>
        </p:txBody>
      </p:sp>
      <p:sp>
        <p:nvSpPr>
          <p:cNvPr id="19" name="">
            <a:extLst xmlns:a="http://schemas.openxmlformats.org/drawingml/2006/main">
              <a:ext uri="{FF2B5EF4-FFF2-40B4-BE49-F238E27FC236}">
                <a16:creationId xmlns:a16="http://schemas.microsoft.com/office/drawing/2014/main" id="{E09C763B-7D40-4E25-A3CB-B6145266F102}"/>
              </a:ext>
            </a:extLst>
          </p:cNvPr>
          <p:cNvSpPr>
            <a:spLocks xmlns:a="http://schemas.openxmlformats.org/drawingml/2006/main" noGrp="1"/>
          </p:cNvSpPr>
          <p:nvPr/>
        </p:nvSpPr>
        <p:spPr>
          <a:xfrm xmlns:a="http://schemas.openxmlformats.org/drawingml/2006/main">
            <a:off x="2781300" y="48387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i="0">
                <a:solidFill>
                  <a:srgbClr val="1A1F25"/>
                </a:solidFill>
                <a:latin typeface="Bahnschrift"/>
                <a:ea typeface="Bahnschrift"/>
                <a:cs typeface="Bahnschrift"/>
              </a:defRPr>
            </a:pPr>
            <a:r>
              <a:rPr sz="1725" b="1" i="0">
                <a:solidFill>
                  <a:srgbClr val="1A1F25"/>
                </a:solidFill>
                <a:latin typeface="Bahnschrift"/>
                <a:ea typeface="Bahnschrift"/>
                <a:cs typeface="Bahnschrift"/>
              </a:rPr>
              <a:t>Engineering-led aviation procurement and fleet intelligence.</a:t>
            </a:r>
          </a:p>
        </p:txBody>
      </p:sp>
      <p:sp>
        <p:nvSpPr>
          <p:cNvPr id="20" name="">
            <a:extLst xmlns:a="http://schemas.openxmlformats.org/drawingml/2006/main">
              <a:ext uri="{FF2B5EF4-FFF2-40B4-BE49-F238E27FC236}">
                <a16:creationId xmlns:a16="http://schemas.microsoft.com/office/drawing/2014/main" id="{058FE9BB-A1E3-4AED-9E0D-6F16A3EA08AD}"/>
              </a:ext>
            </a:extLst>
          </p:cNvPr>
          <p:cNvSpPr>
            <a:spLocks xmlns:a="http://schemas.openxmlformats.org/drawingml/2006/main" noGrp="1"/>
          </p:cNvSpPr>
          <p:nvPr/>
        </p:nvSpPr>
        <p:spPr>
          <a:xfrm xmlns:a="http://schemas.openxmlformats.org/drawingml/2006/main">
            <a:off x="8915400" y="48387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Profile copy, metadata, company descriptions</a:t>
            </a:r>
          </a:p>
        </p:txBody>
      </p:sp>
    </p:spTree>
    <p:extLst>
      <p:ext uri="{BB962C8B-B14F-4D97-AF65-F5344CB8AC3E}">
        <p14:creationId xmlns:p14="http://schemas.microsoft.com/office/powerpoint/2010/main" val="501820211"/>
      </p:ext>
    </p:extLst>
  </p:cSld>
</p:sld>
</file>

<file path=ppt/slides/slide13.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9000CD1-708A-4520-A672-B59F448D4A5B}"/>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37879C7C-B57C-4679-B148-D34352D09A15}"/>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13</a:t>
            </a:r>
          </a:p>
        </p:txBody>
      </p:sp>
      <p:sp>
        <p:nvSpPr>
          <p:cNvPr id="3" name="">
            <a:extLst xmlns:a="http://schemas.openxmlformats.org/drawingml/2006/main">
              <a:ext uri="{FF2B5EF4-FFF2-40B4-BE49-F238E27FC236}">
                <a16:creationId xmlns:a16="http://schemas.microsoft.com/office/drawing/2014/main" id="{755AFD17-0710-42FC-807A-B2956F8AC85A}"/>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Tone of voice</a:t>
            </a:r>
          </a:p>
        </p:txBody>
      </p:sp>
      <p:sp>
        <p:nvSpPr>
          <p:cNvPr id="4" name="">
            <a:extLst xmlns:a="http://schemas.openxmlformats.org/drawingml/2006/main">
              <a:ext uri="{FF2B5EF4-FFF2-40B4-BE49-F238E27FC236}">
                <a16:creationId xmlns:a16="http://schemas.microsoft.com/office/drawing/2014/main" id="{6411940A-D623-4B97-8B34-3A0C1423F180}"/>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D9D533-566E-48B7-BE07-DF90D8EC65F2}"/>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Calm authority with engineering clarity</a:t>
            </a:r>
          </a:p>
        </p:txBody>
      </p:sp>
      <p:sp>
        <p:nvSpPr>
          <p:cNvPr id="6" name="">
            <a:extLst xmlns:a="http://schemas.openxmlformats.org/drawingml/2006/main">
              <a:ext uri="{FF2B5EF4-FFF2-40B4-BE49-F238E27FC236}">
                <a16:creationId xmlns:a16="http://schemas.microsoft.com/office/drawing/2014/main" id="{33009466-465A-4A44-93C2-B3794D811A90}"/>
              </a:ext>
            </a:extLst>
          </p:cNvPr>
          <p:cNvSpPr>
            <a:spLocks xmlns:a="http://schemas.openxmlformats.org/drawingml/2006/main" noGrp="1"/>
          </p:cNvSpPr>
          <p:nvPr/>
        </p:nvSpPr>
        <p:spPr>
          <a:xfrm xmlns:a="http://schemas.openxmlformats.org/drawingml/2006/main">
            <a:off x="685800" y="165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CBA36A"/>
                </a:solidFill>
                <a:latin typeface="Bahnschrift"/>
                <a:ea typeface="Bahnschrift"/>
                <a:cs typeface="Bahnschrift"/>
              </a:defRPr>
            </a:pPr>
            <a:r>
              <a:rPr sz="2025" b="1" i="0">
                <a:solidFill>
                  <a:srgbClr val="CBA36A"/>
                </a:solidFill>
                <a:latin typeface="Bahnschrift"/>
                <a:ea typeface="Bahnschrift"/>
                <a:cs typeface="Bahnschrift"/>
              </a:rPr>
              <a:t>Informed</a:t>
            </a:r>
          </a:p>
        </p:txBody>
      </p:sp>
      <p:sp>
        <p:nvSpPr>
          <p:cNvPr id="7" name="">
            <a:extLst xmlns:a="http://schemas.openxmlformats.org/drawingml/2006/main">
              <a:ext uri="{FF2B5EF4-FFF2-40B4-BE49-F238E27FC236}">
                <a16:creationId xmlns:a16="http://schemas.microsoft.com/office/drawing/2014/main" id="{BE749E34-A100-49EB-A0AF-EF802EE43F90}"/>
              </a:ext>
            </a:extLst>
          </p:cNvPr>
          <p:cNvSpPr>
            <a:spLocks xmlns:a="http://schemas.openxmlformats.org/drawingml/2006/main" noGrp="1"/>
          </p:cNvSpPr>
          <p:nvPr/>
        </p:nvSpPr>
        <p:spPr>
          <a:xfrm xmlns:a="http://schemas.openxmlformats.org/drawingml/2006/main">
            <a:off x="3143250" y="16573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FCFAF6"/>
                </a:solidFill>
                <a:latin typeface="Bahnschrift"/>
                <a:ea typeface="Bahnschrift"/>
                <a:cs typeface="Bahnschrift"/>
              </a:defRPr>
            </a:pPr>
            <a:r>
              <a:rPr sz="1575" b="0" i="0">
                <a:solidFill>
                  <a:srgbClr val="FCFAF6"/>
                </a:solidFill>
                <a:latin typeface="Bahnschrift"/>
                <a:ea typeface="Bahnschrift"/>
                <a:cs typeface="Bahnschrift"/>
              </a:rPr>
              <a:t>Show the reasoning and the evidence behind the view.</a:t>
            </a:r>
          </a:p>
        </p:txBody>
      </p:sp>
      <p:sp>
        <p:nvSpPr>
          <p:cNvPr id="8" name="">
            <a:extLst xmlns:a="http://schemas.openxmlformats.org/drawingml/2006/main">
              <a:ext uri="{FF2B5EF4-FFF2-40B4-BE49-F238E27FC236}">
                <a16:creationId xmlns:a16="http://schemas.microsoft.com/office/drawing/2014/main" id="{EF2324E0-61E2-4324-9507-0793336402D9}"/>
              </a:ext>
            </a:extLst>
          </p:cNvPr>
          <p:cNvSpPr>
            <a:spLocks xmlns:a="http://schemas.openxmlformats.org/drawingml/2006/main" noGrp="1"/>
          </p:cNvSpPr>
          <p:nvPr/>
        </p:nvSpPr>
        <p:spPr>
          <a:xfrm xmlns:a="http://schemas.openxmlformats.org/drawingml/2006/main">
            <a:off x="685800" y="26860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CBA36A"/>
                </a:solidFill>
                <a:latin typeface="Bahnschrift"/>
                <a:ea typeface="Bahnschrift"/>
                <a:cs typeface="Bahnschrift"/>
              </a:defRPr>
            </a:pPr>
            <a:r>
              <a:rPr sz="2025" b="1" i="0">
                <a:solidFill>
                  <a:srgbClr val="CBA36A"/>
                </a:solidFill>
                <a:latin typeface="Bahnschrift"/>
                <a:ea typeface="Bahnschrift"/>
                <a:cs typeface="Bahnschrift"/>
              </a:rPr>
              <a:t>Direct</a:t>
            </a:r>
          </a:p>
        </p:txBody>
      </p:sp>
      <p:sp>
        <p:nvSpPr>
          <p:cNvPr id="9" name="">
            <a:extLst xmlns:a="http://schemas.openxmlformats.org/drawingml/2006/main">
              <a:ext uri="{FF2B5EF4-FFF2-40B4-BE49-F238E27FC236}">
                <a16:creationId xmlns:a16="http://schemas.microsoft.com/office/drawing/2014/main" id="{9161006C-B118-4760-82BC-291111A1CEC1}"/>
              </a:ext>
            </a:extLst>
          </p:cNvPr>
          <p:cNvSpPr>
            <a:spLocks xmlns:a="http://schemas.openxmlformats.org/drawingml/2006/main" noGrp="1"/>
          </p:cNvSpPr>
          <p:nvPr/>
        </p:nvSpPr>
        <p:spPr>
          <a:xfrm xmlns:a="http://schemas.openxmlformats.org/drawingml/2006/main">
            <a:off x="3143250" y="26860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FCFAF6"/>
                </a:solidFill>
                <a:latin typeface="Bahnschrift"/>
                <a:ea typeface="Bahnschrift"/>
                <a:cs typeface="Bahnschrift"/>
              </a:defRPr>
            </a:pPr>
            <a:r>
              <a:rPr sz="1575" b="0" i="0">
                <a:solidFill>
                  <a:srgbClr val="FCFAF6"/>
                </a:solidFill>
                <a:latin typeface="Bahnschrift"/>
                <a:ea typeface="Bahnschrift"/>
                <a:cs typeface="Bahnschrift"/>
              </a:rPr>
              <a:t>Use precise language and clear recommendations.</a:t>
            </a:r>
          </a:p>
        </p:txBody>
      </p:sp>
      <p:sp>
        <p:nvSpPr>
          <p:cNvPr id="10" name="">
            <a:extLst xmlns:a="http://schemas.openxmlformats.org/drawingml/2006/main">
              <a:ext uri="{FF2B5EF4-FFF2-40B4-BE49-F238E27FC236}">
                <a16:creationId xmlns:a16="http://schemas.microsoft.com/office/drawing/2014/main" id="{2842EA7A-0CE0-4700-93BC-E280EEC39661}"/>
              </a:ext>
            </a:extLst>
          </p:cNvPr>
          <p:cNvSpPr>
            <a:spLocks xmlns:a="http://schemas.openxmlformats.org/drawingml/2006/main" noGrp="1"/>
          </p:cNvSpPr>
          <p:nvPr/>
        </p:nvSpPr>
        <p:spPr>
          <a:xfrm xmlns:a="http://schemas.openxmlformats.org/drawingml/2006/main">
            <a:off x="685800" y="37147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CBA36A"/>
                </a:solidFill>
                <a:latin typeface="Bahnschrift"/>
                <a:ea typeface="Bahnschrift"/>
                <a:cs typeface="Bahnschrift"/>
              </a:defRPr>
            </a:pPr>
            <a:r>
              <a:rPr sz="2025" b="1" i="0">
                <a:solidFill>
                  <a:srgbClr val="CBA36A"/>
                </a:solidFill>
                <a:latin typeface="Bahnschrift"/>
                <a:ea typeface="Bahnschrift"/>
                <a:cs typeface="Bahnschrift"/>
              </a:rPr>
              <a:t>Measured</a:t>
            </a:r>
          </a:p>
        </p:txBody>
      </p:sp>
      <p:sp>
        <p:nvSpPr>
          <p:cNvPr id="11" name="">
            <a:extLst xmlns:a="http://schemas.openxmlformats.org/drawingml/2006/main">
              <a:ext uri="{FF2B5EF4-FFF2-40B4-BE49-F238E27FC236}">
                <a16:creationId xmlns:a16="http://schemas.microsoft.com/office/drawing/2014/main" id="{74EAB871-2DCC-4D70-AE84-1A46EDE3E7B5}"/>
              </a:ext>
            </a:extLst>
          </p:cNvPr>
          <p:cNvSpPr>
            <a:spLocks xmlns:a="http://schemas.openxmlformats.org/drawingml/2006/main" noGrp="1"/>
          </p:cNvSpPr>
          <p:nvPr/>
        </p:nvSpPr>
        <p:spPr>
          <a:xfrm xmlns:a="http://schemas.openxmlformats.org/drawingml/2006/main">
            <a:off x="3143250" y="37147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FCFAF6"/>
                </a:solidFill>
                <a:latin typeface="Bahnschrift"/>
                <a:ea typeface="Bahnschrift"/>
                <a:cs typeface="Bahnschrift"/>
              </a:defRPr>
            </a:pPr>
            <a:r>
              <a:rPr sz="1575" b="0" i="0">
                <a:solidFill>
                  <a:srgbClr val="FCFAF6"/>
                </a:solidFill>
                <a:latin typeface="Bahnschrift"/>
                <a:ea typeface="Bahnschrift"/>
                <a:cs typeface="Bahnschrift"/>
              </a:rPr>
              <a:t>State uncertainty, limits and trade-offs without drama.</a:t>
            </a:r>
          </a:p>
        </p:txBody>
      </p:sp>
      <p:sp>
        <p:nvSpPr>
          <p:cNvPr id="12" name="">
            <a:extLst xmlns:a="http://schemas.openxmlformats.org/drawingml/2006/main">
              <a:ext uri="{FF2B5EF4-FFF2-40B4-BE49-F238E27FC236}">
                <a16:creationId xmlns:a16="http://schemas.microsoft.com/office/drawing/2014/main" id="{1B1EA935-5D23-4FC5-84E8-294EED299C27}"/>
              </a:ext>
            </a:extLst>
          </p:cNvPr>
          <p:cNvSpPr>
            <a:spLocks xmlns:a="http://schemas.openxmlformats.org/drawingml/2006/main" noGrp="1"/>
          </p:cNvSpPr>
          <p:nvPr/>
        </p:nvSpPr>
        <p:spPr>
          <a:xfrm xmlns:a="http://schemas.openxmlformats.org/drawingml/2006/main">
            <a:off x="685800" y="47434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CBA36A"/>
                </a:solidFill>
                <a:latin typeface="Bahnschrift"/>
                <a:ea typeface="Bahnschrift"/>
                <a:cs typeface="Bahnschrift"/>
              </a:defRPr>
            </a:pPr>
            <a:r>
              <a:rPr sz="2025" b="1" i="0">
                <a:solidFill>
                  <a:srgbClr val="CBA36A"/>
                </a:solidFill>
                <a:latin typeface="Bahnschrift"/>
                <a:ea typeface="Bahnschrift"/>
                <a:cs typeface="Bahnschrift"/>
              </a:rPr>
              <a:t>Human</a:t>
            </a:r>
          </a:p>
        </p:txBody>
      </p:sp>
      <p:sp>
        <p:nvSpPr>
          <p:cNvPr id="13" name="">
            <a:extLst xmlns:a="http://schemas.openxmlformats.org/drawingml/2006/main">
              <a:ext uri="{FF2B5EF4-FFF2-40B4-BE49-F238E27FC236}">
                <a16:creationId xmlns:a16="http://schemas.microsoft.com/office/drawing/2014/main" id="{DE059327-0EF7-457F-BE79-2213BECD928B}"/>
              </a:ext>
            </a:extLst>
          </p:cNvPr>
          <p:cNvSpPr>
            <a:spLocks xmlns:a="http://schemas.openxmlformats.org/drawingml/2006/main" noGrp="1"/>
          </p:cNvSpPr>
          <p:nvPr/>
        </p:nvSpPr>
        <p:spPr>
          <a:xfrm xmlns:a="http://schemas.openxmlformats.org/drawingml/2006/main">
            <a:off x="3143250" y="474345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FCFAF6"/>
                </a:solidFill>
                <a:latin typeface="Bahnschrift"/>
                <a:ea typeface="Bahnschrift"/>
                <a:cs typeface="Bahnschrift"/>
              </a:defRPr>
            </a:pPr>
            <a:r>
              <a:rPr sz="1575" b="0" i="0">
                <a:solidFill>
                  <a:srgbClr val="FCFAF6"/>
                </a:solidFill>
                <a:latin typeface="Bahnschrift"/>
                <a:ea typeface="Bahnschrift"/>
                <a:cs typeface="Bahnschrift"/>
              </a:rPr>
              <a:t>Let experience and judgement be present without becoming personal theatre.</a:t>
            </a:r>
          </a:p>
        </p:txBody>
      </p:sp>
      <p:sp>
        <p:nvSpPr>
          <p:cNvPr id="14" name="">
            <a:extLst xmlns:a="http://schemas.openxmlformats.org/drawingml/2006/main">
              <a:ext uri="{FF2B5EF4-FFF2-40B4-BE49-F238E27FC236}">
                <a16:creationId xmlns:a16="http://schemas.microsoft.com/office/drawing/2014/main" id="{734A61AE-D105-44FB-A246-47A2C13659A3}"/>
              </a:ext>
            </a:extLst>
          </p:cNvPr>
          <p:cNvSpPr>
            <a:spLocks xmlns:a="http://schemas.openxmlformats.org/drawingml/2006/main" noGrp="1"/>
          </p:cNvSpPr>
          <p:nvPr/>
        </p:nvSpPr>
        <p:spPr>
          <a:xfrm xmlns:a="http://schemas.openxmlformats.org/drawingml/2006/main">
            <a:off x="9886950" y="1752600"/>
            <a:ext cx="1352550" cy="3810000"/>
          </a:xfrm>
          <a:prstGeom xmlns:a="http://schemas.openxmlformats.org/drawingml/2006/main" prst="roundRect">
            <a:avLst>
              <a:gd name="adj" fmla="val 49296"/>
            </a:avLst>
          </a:prstGeom>
          <a:solidFill xmlns:a="http://schemas.openxmlformats.org/drawingml/2006/main">
            <a:srgbClr val="FCFAF6">
              <a:alpha val="6000"/>
            </a:srgbClr>
          </a:solidFill>
          <a:ln xmlns:a="http://schemas.openxmlformats.org/drawingml/2006/main" w="9525">
            <a:solidFill>
              <a:srgbClr val="FCFAF6">
                <a:alpha val="14000"/>
              </a:srgbClr>
            </a:solidFill>
            <a:prstDash val="solid"/>
          </a:ln>
        </p:spPr>
      </p:sp>
      <p:sp>
        <p:nvSpPr>
          <p:cNvPr id="15" name="">
            <a:extLst xmlns:a="http://schemas.openxmlformats.org/drawingml/2006/main">
              <a:ext uri="{FF2B5EF4-FFF2-40B4-BE49-F238E27FC236}">
                <a16:creationId xmlns:a16="http://schemas.microsoft.com/office/drawing/2014/main" id="{5AF5EB15-2FB9-4EDC-8780-994EF14036EC}"/>
              </a:ext>
            </a:extLst>
          </p:cNvPr>
          <p:cNvSpPr>
            <a:spLocks xmlns:a="http://schemas.openxmlformats.org/drawingml/2006/main" noGrp="1"/>
          </p:cNvSpPr>
          <p:nvPr/>
        </p:nvSpPr>
        <p:spPr>
          <a:xfrm xmlns:a="http://schemas.openxmlformats.org/drawingml/2006/main">
            <a:off x="10096500" y="3076575"/>
            <a:ext cx="104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i="0">
                <a:solidFill>
                  <a:srgbClr val="FCFAF6"/>
                </a:solidFill>
                <a:latin typeface="Bahnschrift"/>
                <a:ea typeface="Bahnschrift"/>
                <a:cs typeface="Bahnschrift"/>
              </a:defRPr>
            </a:pPr>
            <a:r>
              <a:rPr sz="3300" b="1" i="0">
                <a:solidFill>
                  <a:srgbClr val="FCFAF6"/>
                </a:solidFill>
                <a:latin typeface="Bahnschrift"/>
                <a:ea typeface="Bahnschrift"/>
                <a:cs typeface="Bahnschrift"/>
              </a:rPr>
              <a:t>AV</a:t>
            </a:r>
          </a:p>
        </p:txBody>
      </p:sp>
      <p:sp>
        <p:nvSpPr>
          <p:cNvPr id="16" name="">
            <a:extLst xmlns:a="http://schemas.openxmlformats.org/drawingml/2006/main">
              <a:ext uri="{FF2B5EF4-FFF2-40B4-BE49-F238E27FC236}">
                <a16:creationId xmlns:a16="http://schemas.microsoft.com/office/drawing/2014/main" id="{526F23B5-172C-41A2-B94F-A3B3B8DAE79E}"/>
              </a:ext>
            </a:extLst>
          </p:cNvPr>
          <p:cNvSpPr>
            <a:spLocks xmlns:a="http://schemas.openxmlformats.org/drawingml/2006/main" noGrp="1"/>
          </p:cNvSpPr>
          <p:nvPr/>
        </p:nvSpPr>
        <p:spPr>
          <a:xfrm xmlns:a="http://schemas.openxmlformats.org/drawingml/2006/main">
            <a:off x="10020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VOICE</a:t>
            </a:r>
          </a:p>
        </p:txBody>
      </p:sp>
    </p:spTree>
    <p:extLst>
      <p:ext uri="{BB962C8B-B14F-4D97-AF65-F5344CB8AC3E}">
        <p14:creationId xmlns:p14="http://schemas.microsoft.com/office/powerpoint/2010/main" val="1768257747"/>
      </p:ext>
    </p:extLst>
  </p:cSld>
</p:sld>
</file>

<file path=ppt/slides/slide14.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1747BF9-FEF8-429A-B896-637B245F7834}"/>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D04B23D8-1EA2-49E0-8A41-A16D997FC223}"/>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14</a:t>
            </a:r>
          </a:p>
        </p:txBody>
      </p:sp>
      <p:sp>
        <p:nvSpPr>
          <p:cNvPr id="3" name="">
            <a:extLst xmlns:a="http://schemas.openxmlformats.org/drawingml/2006/main">
              <a:ext uri="{FF2B5EF4-FFF2-40B4-BE49-F238E27FC236}">
                <a16:creationId xmlns:a16="http://schemas.microsoft.com/office/drawing/2014/main" id="{E61B3883-A86B-46F8-9749-BB44D709D005}"/>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Writing examples</a:t>
            </a:r>
          </a:p>
        </p:txBody>
      </p:sp>
      <p:sp>
        <p:nvSpPr>
          <p:cNvPr id="4" name="">
            <a:extLst xmlns:a="http://schemas.openxmlformats.org/drawingml/2006/main">
              <a:ext uri="{FF2B5EF4-FFF2-40B4-BE49-F238E27FC236}">
                <a16:creationId xmlns:a16="http://schemas.microsoft.com/office/drawing/2014/main" id="{9F81CD67-BB5D-48EF-B1A7-05A6A3F53100}"/>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4BA7A7-014A-4063-A7FD-1EDDDF404C45}"/>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What AvTrix sounds like in practice</a:t>
            </a:r>
          </a:p>
        </p:txBody>
      </p:sp>
      <p:sp>
        <p:nvSpPr>
          <p:cNvPr id="6" name="">
            <a:extLst xmlns:a="http://schemas.openxmlformats.org/drawingml/2006/main">
              <a:ext uri="{FF2B5EF4-FFF2-40B4-BE49-F238E27FC236}">
                <a16:creationId xmlns:a16="http://schemas.microsoft.com/office/drawing/2014/main" id="{6341F411-1E25-4B30-AD75-B0213B8AF7CC}"/>
              </a:ext>
            </a:extLst>
          </p:cNvPr>
          <p:cNvSpPr>
            <a:spLocks xmlns:a="http://schemas.openxmlformats.org/drawingml/2006/main" noGrp="1"/>
          </p:cNvSpPr>
          <p:nvPr/>
        </p:nvSpPr>
        <p:spPr>
          <a:xfrm xmlns:a="http://schemas.openxmlformats.org/drawingml/2006/main">
            <a:off x="666750" y="16383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USE</a:t>
            </a:r>
          </a:p>
        </p:txBody>
      </p:sp>
      <p:sp>
        <p:nvSpPr>
          <p:cNvPr id="7" name="">
            <a:extLst xmlns:a="http://schemas.openxmlformats.org/drawingml/2006/main">
              <a:ext uri="{FF2B5EF4-FFF2-40B4-BE49-F238E27FC236}">
                <a16:creationId xmlns:a16="http://schemas.microsoft.com/office/drawing/2014/main" id="{B201108F-FD82-48F8-AE4C-2FD3CFD9A280}"/>
              </a:ext>
            </a:extLst>
          </p:cNvPr>
          <p:cNvSpPr>
            <a:spLocks xmlns:a="http://schemas.openxmlformats.org/drawingml/2006/main" noGrp="1"/>
          </p:cNvSpPr>
          <p:nvPr/>
        </p:nvSpPr>
        <p:spPr>
          <a:xfrm xmlns:a="http://schemas.openxmlformats.org/drawingml/2006/main">
            <a:off x="6324600" y="16383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AVOID</a:t>
            </a:r>
          </a:p>
        </p:txBody>
      </p:sp>
      <p:sp>
        <p:nvSpPr>
          <p:cNvPr id="8" name="">
            <a:extLst xmlns:a="http://schemas.openxmlformats.org/drawingml/2006/main">
              <a:ext uri="{FF2B5EF4-FFF2-40B4-BE49-F238E27FC236}">
                <a16:creationId xmlns:a16="http://schemas.microsoft.com/office/drawing/2014/main" id="{0A2BF3A6-A3A2-4B97-9966-CD002138477C}"/>
              </a:ext>
            </a:extLst>
          </p:cNvPr>
          <p:cNvSpPr>
            <a:spLocks xmlns:a="http://schemas.openxmlformats.org/drawingml/2006/main" noGrp="1"/>
          </p:cNvSpPr>
          <p:nvPr/>
        </p:nvSpPr>
        <p:spPr>
          <a:xfrm xmlns:a="http://schemas.openxmlformats.org/drawingml/2006/main">
            <a:off x="666750" y="2076450"/>
            <a:ext cx="4953000" cy="990600"/>
          </a:xfrm>
          <a:prstGeom xmlns:a="http://schemas.openxmlformats.org/drawingml/2006/main" prst="roundRect">
            <a:avLst>
              <a:gd name="adj" fmla="val 11538"/>
            </a:avLst>
          </a:prstGeom>
          <a:solidFill xmlns:a="http://schemas.openxmlformats.org/drawingml/2006/main">
            <a:srgbClr val="3E6E60">
              <a:alpha val="8000"/>
            </a:srgbClr>
          </a:solidFill>
          <a:ln xmlns:a="http://schemas.openxmlformats.org/drawingml/2006/main" w="9525">
            <a:solidFill>
              <a:srgbClr val="3E6E60">
                <a:alpha val="28000"/>
              </a:srgbClr>
            </a:solidFill>
            <a:prstDash val="solid"/>
          </a:ln>
        </p:spPr>
      </p:sp>
      <p:sp>
        <p:nvSpPr>
          <p:cNvPr id="9" name="">
            <a:extLst xmlns:a="http://schemas.openxmlformats.org/drawingml/2006/main">
              <a:ext uri="{FF2B5EF4-FFF2-40B4-BE49-F238E27FC236}">
                <a16:creationId xmlns:a16="http://schemas.microsoft.com/office/drawing/2014/main" id="{B73CEE41-9609-4CB2-9C12-072EF5BED43B}"/>
              </a:ext>
            </a:extLst>
          </p:cNvPr>
          <p:cNvSpPr>
            <a:spLocks xmlns:a="http://schemas.openxmlformats.org/drawingml/2006/main" noGrp="1"/>
          </p:cNvSpPr>
          <p:nvPr/>
        </p:nvSpPr>
        <p:spPr>
          <a:xfrm xmlns:a="http://schemas.openxmlformats.org/drawingml/2006/main">
            <a:off x="895350" y="22860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1A1F25"/>
                </a:solidFill>
                <a:latin typeface="Bahnschrift"/>
                <a:ea typeface="Bahnschrift"/>
                <a:cs typeface="Bahnschrift"/>
              </a:defRPr>
            </a:pPr>
            <a:r>
              <a:rPr sz="1425" b="0" i="0">
                <a:solidFill>
                  <a:srgbClr val="1A1F25"/>
                </a:solidFill>
                <a:latin typeface="Bahnschrift"/>
                <a:ea typeface="Bahnschrift"/>
                <a:cs typeface="Bahnschrift"/>
              </a:rPr>
              <a:t>We found three viable sourcing routes. One carries a documentation risk that needs engineering review.</a:t>
            </a:r>
          </a:p>
        </p:txBody>
      </p:sp>
      <p:sp>
        <p:nvSpPr>
          <p:cNvPr id="10" name="">
            <a:extLst xmlns:a="http://schemas.openxmlformats.org/drawingml/2006/main">
              <a:ext uri="{FF2B5EF4-FFF2-40B4-BE49-F238E27FC236}">
                <a16:creationId xmlns:a16="http://schemas.microsoft.com/office/drawing/2014/main" id="{C681F2AB-B9DB-43CB-AD8D-19BD1D87DD6C}"/>
              </a:ext>
            </a:extLst>
          </p:cNvPr>
          <p:cNvSpPr>
            <a:spLocks xmlns:a="http://schemas.openxmlformats.org/drawingml/2006/main" noGrp="1"/>
          </p:cNvSpPr>
          <p:nvPr/>
        </p:nvSpPr>
        <p:spPr>
          <a:xfrm xmlns:a="http://schemas.openxmlformats.org/drawingml/2006/main">
            <a:off x="6324600" y="2076450"/>
            <a:ext cx="4953000" cy="990600"/>
          </a:xfrm>
          <a:prstGeom xmlns:a="http://schemas.openxmlformats.org/drawingml/2006/main" prst="roundRect">
            <a:avLst>
              <a:gd name="adj" fmla="val 11538"/>
            </a:avLst>
          </a:prstGeom>
          <a:solidFill xmlns:a="http://schemas.openxmlformats.org/drawingml/2006/main">
            <a:srgbClr val="925B52">
              <a:alpha val="7000"/>
            </a:srgbClr>
          </a:solidFill>
          <a:ln xmlns:a="http://schemas.openxmlformats.org/drawingml/2006/main" w="9525">
            <a:solidFill>
              <a:srgbClr val="925B52">
                <a:alpha val="25000"/>
              </a:srgbClr>
            </a:solidFill>
            <a:prstDash val="solid"/>
          </a:ln>
        </p:spPr>
      </p:sp>
      <p:sp>
        <p:nvSpPr>
          <p:cNvPr id="11" name="">
            <a:extLst xmlns:a="http://schemas.openxmlformats.org/drawingml/2006/main">
              <a:ext uri="{FF2B5EF4-FFF2-40B4-BE49-F238E27FC236}">
                <a16:creationId xmlns:a16="http://schemas.microsoft.com/office/drawing/2014/main" id="{2C9DADDD-30AB-4D54-B2BC-46C96F9D6125}"/>
              </a:ext>
            </a:extLst>
          </p:cNvPr>
          <p:cNvSpPr>
            <a:spLocks xmlns:a="http://schemas.openxmlformats.org/drawingml/2006/main" noGrp="1"/>
          </p:cNvSpPr>
          <p:nvPr/>
        </p:nvSpPr>
        <p:spPr>
          <a:xfrm xmlns:a="http://schemas.openxmlformats.org/drawingml/2006/main">
            <a:off x="6553200" y="22860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We deliver next-generation, end-to-end aviation solutions.</a:t>
            </a:r>
          </a:p>
        </p:txBody>
      </p:sp>
      <p:sp>
        <p:nvSpPr>
          <p:cNvPr id="12" name="">
            <a:extLst xmlns:a="http://schemas.openxmlformats.org/drawingml/2006/main">
              <a:ext uri="{FF2B5EF4-FFF2-40B4-BE49-F238E27FC236}">
                <a16:creationId xmlns:a16="http://schemas.microsoft.com/office/drawing/2014/main" id="{FCB88D30-67EF-435C-9245-116BE0547D3F}"/>
              </a:ext>
            </a:extLst>
          </p:cNvPr>
          <p:cNvSpPr>
            <a:spLocks xmlns:a="http://schemas.openxmlformats.org/drawingml/2006/main" noGrp="1"/>
          </p:cNvSpPr>
          <p:nvPr/>
        </p:nvSpPr>
        <p:spPr>
          <a:xfrm xmlns:a="http://schemas.openxmlformats.org/drawingml/2006/main">
            <a:off x="666750" y="3333750"/>
            <a:ext cx="4953000" cy="990600"/>
          </a:xfrm>
          <a:prstGeom xmlns:a="http://schemas.openxmlformats.org/drawingml/2006/main" prst="roundRect">
            <a:avLst>
              <a:gd name="adj" fmla="val 11538"/>
            </a:avLst>
          </a:prstGeom>
          <a:solidFill xmlns:a="http://schemas.openxmlformats.org/drawingml/2006/main">
            <a:srgbClr val="3E6E60">
              <a:alpha val="8000"/>
            </a:srgbClr>
          </a:solidFill>
          <a:ln xmlns:a="http://schemas.openxmlformats.org/drawingml/2006/main" w="9525">
            <a:solidFill>
              <a:srgbClr val="3E6E60">
                <a:alpha val="28000"/>
              </a:srgbClr>
            </a:solidFill>
            <a:prstDash val="solid"/>
          </a:ln>
        </p:spPr>
      </p:sp>
      <p:sp>
        <p:nvSpPr>
          <p:cNvPr id="13" name="">
            <a:extLst xmlns:a="http://schemas.openxmlformats.org/drawingml/2006/main">
              <a:ext uri="{FF2B5EF4-FFF2-40B4-BE49-F238E27FC236}">
                <a16:creationId xmlns:a16="http://schemas.microsoft.com/office/drawing/2014/main" id="{27B60FFF-83B8-4ED5-B222-D5E1AF1B9C85}"/>
              </a:ext>
            </a:extLst>
          </p:cNvPr>
          <p:cNvSpPr>
            <a:spLocks xmlns:a="http://schemas.openxmlformats.org/drawingml/2006/main" noGrp="1"/>
          </p:cNvSpPr>
          <p:nvPr/>
        </p:nvSpPr>
        <p:spPr>
          <a:xfrm xmlns:a="http://schemas.openxmlformats.org/drawingml/2006/main">
            <a:off x="895350" y="35433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1A1F25"/>
                </a:solidFill>
                <a:latin typeface="Bahnschrift"/>
                <a:ea typeface="Bahnschrift"/>
                <a:cs typeface="Bahnschrift"/>
              </a:defRPr>
            </a:pPr>
            <a:r>
              <a:rPr sz="1425" b="0" i="0">
                <a:solidFill>
                  <a:srgbClr val="1A1F25"/>
                </a:solidFill>
                <a:latin typeface="Bahnschrift"/>
                <a:ea typeface="Bahnschrift"/>
                <a:cs typeface="Bahnschrift"/>
              </a:rPr>
              <a:t>Availability has improved, but lead-time confidence remains uneven across approved suppliers.</a:t>
            </a:r>
          </a:p>
        </p:txBody>
      </p:sp>
      <p:sp>
        <p:nvSpPr>
          <p:cNvPr id="14" name="">
            <a:extLst xmlns:a="http://schemas.openxmlformats.org/drawingml/2006/main">
              <a:ext uri="{FF2B5EF4-FFF2-40B4-BE49-F238E27FC236}">
                <a16:creationId xmlns:a16="http://schemas.microsoft.com/office/drawing/2014/main" id="{44FB5EDE-8102-4B5C-9B1F-B3CEDC167B8F}"/>
              </a:ext>
            </a:extLst>
          </p:cNvPr>
          <p:cNvSpPr>
            <a:spLocks xmlns:a="http://schemas.openxmlformats.org/drawingml/2006/main" noGrp="1"/>
          </p:cNvSpPr>
          <p:nvPr/>
        </p:nvSpPr>
        <p:spPr>
          <a:xfrm xmlns:a="http://schemas.openxmlformats.org/drawingml/2006/main">
            <a:off x="6324600" y="3333750"/>
            <a:ext cx="4953000" cy="990600"/>
          </a:xfrm>
          <a:prstGeom xmlns:a="http://schemas.openxmlformats.org/drawingml/2006/main" prst="roundRect">
            <a:avLst>
              <a:gd name="adj" fmla="val 11538"/>
            </a:avLst>
          </a:prstGeom>
          <a:solidFill xmlns:a="http://schemas.openxmlformats.org/drawingml/2006/main">
            <a:srgbClr val="925B52">
              <a:alpha val="7000"/>
            </a:srgbClr>
          </a:solidFill>
          <a:ln xmlns:a="http://schemas.openxmlformats.org/drawingml/2006/main" w="9525">
            <a:solidFill>
              <a:srgbClr val="925B52">
                <a:alpha val="25000"/>
              </a:srgbClr>
            </a:solidFill>
            <a:prstDash val="solid"/>
          </a:ln>
        </p:spPr>
      </p:sp>
      <p:sp>
        <p:nvSpPr>
          <p:cNvPr id="15" name="">
            <a:extLst xmlns:a="http://schemas.openxmlformats.org/drawingml/2006/main">
              <a:ext uri="{FF2B5EF4-FFF2-40B4-BE49-F238E27FC236}">
                <a16:creationId xmlns:a16="http://schemas.microsoft.com/office/drawing/2014/main" id="{7BDDCE04-3CED-4AD3-B1D7-FBF97A8A2DBB}"/>
              </a:ext>
            </a:extLst>
          </p:cNvPr>
          <p:cNvSpPr>
            <a:spLocks xmlns:a="http://schemas.openxmlformats.org/drawingml/2006/main" noGrp="1"/>
          </p:cNvSpPr>
          <p:nvPr/>
        </p:nvSpPr>
        <p:spPr>
          <a:xfrm xmlns:a="http://schemas.openxmlformats.org/drawingml/2006/main">
            <a:off x="6553200" y="35433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Our unique ecosystem unlocks game-changing procurement value.</a:t>
            </a:r>
          </a:p>
        </p:txBody>
      </p:sp>
      <p:sp>
        <p:nvSpPr>
          <p:cNvPr id="16" name="">
            <a:extLst xmlns:a="http://schemas.openxmlformats.org/drawingml/2006/main">
              <a:ext uri="{FF2B5EF4-FFF2-40B4-BE49-F238E27FC236}">
                <a16:creationId xmlns:a16="http://schemas.microsoft.com/office/drawing/2014/main" id="{2D11D83D-2249-4ED1-80CE-0D031B46B394}"/>
              </a:ext>
            </a:extLst>
          </p:cNvPr>
          <p:cNvSpPr>
            <a:spLocks xmlns:a="http://schemas.openxmlformats.org/drawingml/2006/main" noGrp="1"/>
          </p:cNvSpPr>
          <p:nvPr/>
        </p:nvSpPr>
        <p:spPr>
          <a:xfrm xmlns:a="http://schemas.openxmlformats.org/drawingml/2006/main">
            <a:off x="666750" y="4591050"/>
            <a:ext cx="4953000" cy="990600"/>
          </a:xfrm>
          <a:prstGeom xmlns:a="http://schemas.openxmlformats.org/drawingml/2006/main" prst="roundRect">
            <a:avLst>
              <a:gd name="adj" fmla="val 11538"/>
            </a:avLst>
          </a:prstGeom>
          <a:solidFill xmlns:a="http://schemas.openxmlformats.org/drawingml/2006/main">
            <a:srgbClr val="3E6E60">
              <a:alpha val="8000"/>
            </a:srgbClr>
          </a:solidFill>
          <a:ln xmlns:a="http://schemas.openxmlformats.org/drawingml/2006/main" w="9525">
            <a:solidFill>
              <a:srgbClr val="3E6E60">
                <a:alpha val="28000"/>
              </a:srgbClr>
            </a:solidFill>
            <a:prstDash val="solid"/>
          </a:ln>
        </p:spPr>
      </p:sp>
      <p:sp>
        <p:nvSpPr>
          <p:cNvPr id="17" name="">
            <a:extLst xmlns:a="http://schemas.openxmlformats.org/drawingml/2006/main">
              <a:ext uri="{FF2B5EF4-FFF2-40B4-BE49-F238E27FC236}">
                <a16:creationId xmlns:a16="http://schemas.microsoft.com/office/drawing/2014/main" id="{C8E5584C-A31E-402C-A89D-19FF4C459B27}"/>
              </a:ext>
            </a:extLst>
          </p:cNvPr>
          <p:cNvSpPr>
            <a:spLocks xmlns:a="http://schemas.openxmlformats.org/drawingml/2006/main" noGrp="1"/>
          </p:cNvSpPr>
          <p:nvPr/>
        </p:nvSpPr>
        <p:spPr>
          <a:xfrm xmlns:a="http://schemas.openxmlformats.org/drawingml/2006/main">
            <a:off x="895350" y="48006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1A1F25"/>
                </a:solidFill>
                <a:latin typeface="Bahnschrift"/>
                <a:ea typeface="Bahnschrift"/>
                <a:cs typeface="Bahnschrift"/>
              </a:defRPr>
            </a:pPr>
            <a:r>
              <a:rPr sz="1425" b="0" i="0">
                <a:solidFill>
                  <a:srgbClr val="1A1F25"/>
                </a:solidFill>
                <a:latin typeface="Bahnschrift"/>
                <a:ea typeface="Bahnschrift"/>
                <a:cs typeface="Bahnschrift"/>
              </a:rPr>
              <a:t>Our recommendation reflects configuration fit, records quality and total acquisition risk.</a:t>
            </a:r>
          </a:p>
        </p:txBody>
      </p:sp>
      <p:sp>
        <p:nvSpPr>
          <p:cNvPr id="18" name="">
            <a:extLst xmlns:a="http://schemas.openxmlformats.org/drawingml/2006/main">
              <a:ext uri="{FF2B5EF4-FFF2-40B4-BE49-F238E27FC236}">
                <a16:creationId xmlns:a16="http://schemas.microsoft.com/office/drawing/2014/main" id="{40568DBD-EB69-48A9-9818-D2AD36659686}"/>
              </a:ext>
            </a:extLst>
          </p:cNvPr>
          <p:cNvSpPr>
            <a:spLocks xmlns:a="http://schemas.openxmlformats.org/drawingml/2006/main" noGrp="1"/>
          </p:cNvSpPr>
          <p:nvPr/>
        </p:nvSpPr>
        <p:spPr>
          <a:xfrm xmlns:a="http://schemas.openxmlformats.org/drawingml/2006/main">
            <a:off x="6324600" y="4591050"/>
            <a:ext cx="4953000" cy="990600"/>
          </a:xfrm>
          <a:prstGeom xmlns:a="http://schemas.openxmlformats.org/drawingml/2006/main" prst="roundRect">
            <a:avLst>
              <a:gd name="adj" fmla="val 11538"/>
            </a:avLst>
          </a:prstGeom>
          <a:solidFill xmlns:a="http://schemas.openxmlformats.org/drawingml/2006/main">
            <a:srgbClr val="925B52">
              <a:alpha val="7000"/>
            </a:srgbClr>
          </a:solidFill>
          <a:ln xmlns:a="http://schemas.openxmlformats.org/drawingml/2006/main" w="9525">
            <a:solidFill>
              <a:srgbClr val="925B52">
                <a:alpha val="25000"/>
              </a:srgbClr>
            </a:solidFill>
            <a:prstDash val="solid"/>
          </a:ln>
        </p:spPr>
      </p:sp>
      <p:sp>
        <p:nvSpPr>
          <p:cNvPr id="19" name="">
            <a:extLst xmlns:a="http://schemas.openxmlformats.org/drawingml/2006/main">
              <a:ext uri="{FF2B5EF4-FFF2-40B4-BE49-F238E27FC236}">
                <a16:creationId xmlns:a16="http://schemas.microsoft.com/office/drawing/2014/main" id="{6467720C-BEBF-4605-9C09-81F0F00D2DBC}"/>
              </a:ext>
            </a:extLst>
          </p:cNvPr>
          <p:cNvSpPr>
            <a:spLocks xmlns:a="http://schemas.openxmlformats.org/drawingml/2006/main" noGrp="1"/>
          </p:cNvSpPr>
          <p:nvPr/>
        </p:nvSpPr>
        <p:spPr>
          <a:xfrm xmlns:a="http://schemas.openxmlformats.org/drawingml/2006/main">
            <a:off x="6553200" y="4800600"/>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6C737A"/>
                </a:solidFill>
                <a:latin typeface="Bahnschrift"/>
                <a:ea typeface="Bahnschrift"/>
                <a:cs typeface="Bahnschrift"/>
              </a:defRPr>
            </a:pPr>
            <a:r>
              <a:rPr sz="1425" b="0" i="0">
                <a:solidFill>
                  <a:srgbClr val="6C737A"/>
                </a:solidFill>
                <a:latin typeface="Bahnschrift"/>
                <a:ea typeface="Bahnschrift"/>
                <a:cs typeface="Bahnschrift"/>
              </a:rPr>
              <a:t>AvTrix leverages cutting-edge data to transform everything.</a:t>
            </a:r>
          </a:p>
        </p:txBody>
      </p:sp>
    </p:spTree>
    <p:extLst>
      <p:ext uri="{BB962C8B-B14F-4D97-AF65-F5344CB8AC3E}">
        <p14:creationId xmlns:p14="http://schemas.microsoft.com/office/powerpoint/2010/main" val="1629059370"/>
      </p:ext>
    </p:extLst>
  </p:cSld>
</p:sld>
</file>

<file path=ppt/slides/slide15.xml><?xml version="1.0" encoding="utf-8"?>
<p:sld xmlns:p="http://schemas.openxmlformats.org/presentationml/2006/main">
  <p:cSld>
    <p:bg>
      <p:bgPr>
        <a:gradFill xmlns:a="http://schemas.openxmlformats.org/drawingml/2006/main">
          <a:gsLst>
            <a:gs pos="0">
              <a:srgbClr val="101318"/>
            </a:gs>
            <a:gs pos="58000">
              <a:srgbClr val="1A1F25"/>
            </a:gs>
            <a:gs pos="100000">
              <a:srgbClr val="2B333C"/>
            </a:gs>
          </a:gsLst>
          <a:lin ang="81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339B1A-DEEA-482A-8B13-97672B0E64A7}"/>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54318C77-75C6-4170-9E3D-DD2B7674D267}"/>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15</a:t>
            </a:r>
          </a:p>
        </p:txBody>
      </p:sp>
      <p:sp>
        <p:nvSpPr>
          <p:cNvPr id="3" name="">
            <a:extLst xmlns:a="http://schemas.openxmlformats.org/drawingml/2006/main">
              <a:ext uri="{FF2B5EF4-FFF2-40B4-BE49-F238E27FC236}">
                <a16:creationId xmlns:a16="http://schemas.microsoft.com/office/drawing/2014/main" id="{A549BC22-713F-49A5-A285-B7D7FEE29FBA}"/>
              </a:ext>
            </a:extLst>
          </p:cNvPr>
          <p:cNvSpPr>
            <a:spLocks xmlns:a="http://schemas.openxmlformats.org/drawingml/2006/main" noGrp="1"/>
          </p:cNvSpPr>
          <p:nvPr/>
        </p:nvSpPr>
        <p:spPr>
          <a:xfrm xmlns:a="http://schemas.openxmlformats.org/drawingml/2006/main">
            <a:off x="685800" y="685800"/>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i="0">
                <a:solidFill>
                  <a:srgbClr val="CBA36A"/>
                </a:solidFill>
                <a:latin typeface="Bahnschrift"/>
                <a:ea typeface="Bahnschrift"/>
                <a:cs typeface="Bahnschrift"/>
              </a:defRPr>
            </a:pPr>
            <a:r>
              <a:rPr sz="6150" b="1" i="0">
                <a:solidFill>
                  <a:srgbClr val="CBA36A"/>
                </a:solidFill>
                <a:latin typeface="Bahnschrift"/>
                <a:ea typeface="Bahnschrift"/>
                <a:cs typeface="Bahnschrift"/>
              </a:rPr>
              <a:t>15</a:t>
            </a:r>
          </a:p>
        </p:txBody>
      </p:sp>
      <p:sp>
        <p:nvSpPr>
          <p:cNvPr id="4" name="">
            <a:extLst xmlns:a="http://schemas.openxmlformats.org/drawingml/2006/main">
              <a:ext uri="{FF2B5EF4-FFF2-40B4-BE49-F238E27FC236}">
                <a16:creationId xmlns:a16="http://schemas.microsoft.com/office/drawing/2014/main" id="{FAEC6CC4-160F-4EA3-A5CD-C55CC32BFBA8}"/>
              </a:ext>
            </a:extLst>
          </p:cNvPr>
          <p:cNvSpPr>
            <a:spLocks xmlns:a="http://schemas.openxmlformats.org/drawingml/2006/main" noGrp="1"/>
          </p:cNvSpPr>
          <p:nvPr/>
        </p:nvSpPr>
        <p:spPr>
          <a:xfrm xmlns:a="http://schemas.openxmlformats.org/drawingml/2006/main">
            <a:off x="714375" y="1838325"/>
            <a:ext cx="1143000" cy="47625"/>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C69617D-C1A3-4471-B2C0-941F2CD345B2}"/>
              </a:ext>
            </a:extLst>
          </p:cNvPr>
          <p:cNvSpPr>
            <a:spLocks xmlns:a="http://schemas.openxmlformats.org/drawingml/2006/main" noGrp="1"/>
          </p:cNvSpPr>
          <p:nvPr/>
        </p:nvSpPr>
        <p:spPr>
          <a:xfrm xmlns:a="http://schemas.openxmlformats.org/drawingml/2006/main">
            <a:off x="704850" y="217170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i="0">
                <a:solidFill>
                  <a:srgbClr val="FCFAF6"/>
                </a:solidFill>
                <a:latin typeface="Bahnschrift"/>
                <a:ea typeface="Bahnschrift"/>
                <a:cs typeface="Bahnschrift"/>
              </a:defRPr>
            </a:pPr>
            <a:r>
              <a:rPr sz="4650" b="1" i="0">
                <a:solidFill>
                  <a:srgbClr val="FCFAF6"/>
                </a:solidFill>
                <a:latin typeface="Bahnschrift"/>
                <a:ea typeface="Bahnschrift"/>
                <a:cs typeface="Bahnschrift"/>
              </a:rPr>
              <a:t>Identity system</a:t>
            </a:r>
          </a:p>
        </p:txBody>
      </p:sp>
      <p:sp>
        <p:nvSpPr>
          <p:cNvPr id="6" name="">
            <a:extLst xmlns:a="http://schemas.openxmlformats.org/drawingml/2006/main">
              <a:ext uri="{FF2B5EF4-FFF2-40B4-BE49-F238E27FC236}">
                <a16:creationId xmlns:a16="http://schemas.microsoft.com/office/drawing/2014/main" id="{032E20B2-7AD1-418D-B065-74ADB051906F}"/>
              </a:ext>
            </a:extLst>
          </p:cNvPr>
          <p:cNvSpPr>
            <a:spLocks xmlns:a="http://schemas.openxmlformats.org/drawingml/2006/main" noGrp="1"/>
          </p:cNvSpPr>
          <p:nvPr/>
        </p:nvSpPr>
        <p:spPr>
          <a:xfrm xmlns:a="http://schemas.openxmlformats.org/drawingml/2006/main">
            <a:off x="723900" y="3295650"/>
            <a:ext cx="781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i="1">
                <a:solidFill>
                  <a:srgbClr val="FCFAF6">
                    <a:alpha val="72000"/>
                  </a:srgbClr>
                </a:solidFill>
                <a:latin typeface="Georgia"/>
                <a:ea typeface="Georgia"/>
                <a:cs typeface="Georgia"/>
              </a:defRPr>
            </a:pPr>
            <a:r>
              <a:rPr sz="1950" b="0" i="1">
                <a:solidFill>
                  <a:srgbClr val="FCFAF6">
                    <a:alpha val="72000"/>
                  </a:srgbClr>
                </a:solidFill>
                <a:latin typeface="Georgia"/>
                <a:ea typeface="Georgia"/>
                <a:cs typeface="Georgia"/>
              </a:rPr>
              <a:t>The identity balances human origin, technical precision and confident restraint.</a:t>
            </a:r>
          </a:p>
        </p:txBody>
      </p:sp>
      <p:sp>
        <p:nvSpPr>
          <p:cNvPr id="7" name="">
            <a:extLst xmlns:a="http://schemas.openxmlformats.org/drawingml/2006/main">
              <a:ext uri="{FF2B5EF4-FFF2-40B4-BE49-F238E27FC236}">
                <a16:creationId xmlns:a16="http://schemas.microsoft.com/office/drawing/2014/main" id="{28E90C49-6513-4DE4-B04C-2BE2C475A705}"/>
              </a:ext>
            </a:extLst>
          </p:cNvPr>
          <p:cNvSpPr>
            <a:spLocks xmlns:a="http://schemas.openxmlformats.org/drawingml/2006/main" noGrp="1"/>
          </p:cNvSpPr>
          <p:nvPr/>
        </p:nvSpPr>
        <p:spPr>
          <a:xfrm xmlns:a="http://schemas.openxmlformats.org/drawingml/2006/main">
            <a:off x="723900" y="5676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CBA36A"/>
                </a:solidFill>
                <a:latin typeface="Bahnschrift"/>
                <a:ea typeface="Bahnschrift"/>
                <a:cs typeface="Bahnschrift"/>
              </a:defRPr>
            </a:pPr>
            <a:r>
              <a:rPr sz="1500" b="1" i="0">
                <a:solidFill>
                  <a:srgbClr val="CBA36A"/>
                </a:solidFill>
                <a:latin typeface="Bahnschrift"/>
                <a:ea typeface="Bahnschrift"/>
                <a:cs typeface="Bahnschrift"/>
              </a:rPr>
              <a:t>Born from the Aviatrix. Built on engineering. Powered by intelligence.</a:t>
            </a:r>
          </a:p>
        </p:txBody>
      </p:sp>
    </p:spTree>
    <p:extLst>
      <p:ext uri="{BB962C8B-B14F-4D97-AF65-F5344CB8AC3E}">
        <p14:creationId xmlns:p14="http://schemas.microsoft.com/office/powerpoint/2010/main" val="115104797"/>
      </p:ext>
    </p:extLst>
  </p:cSld>
</p:sld>
</file>

<file path=ppt/slides/slide16.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C8FE1E2-AA74-4428-B532-60D44FCDF055}"/>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9716FB66-031D-47F1-930D-5558AB1758C6}"/>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16</a:t>
            </a:r>
          </a:p>
        </p:txBody>
      </p:sp>
      <p:sp>
        <p:nvSpPr>
          <p:cNvPr id="3" name="">
            <a:extLst xmlns:a="http://schemas.openxmlformats.org/drawingml/2006/main">
              <a:ext uri="{FF2B5EF4-FFF2-40B4-BE49-F238E27FC236}">
                <a16:creationId xmlns:a16="http://schemas.microsoft.com/office/drawing/2014/main" id="{5BD6274C-C856-4AEE-825B-305E52F9C37D}"/>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Logo system</a:t>
            </a:r>
          </a:p>
        </p:txBody>
      </p:sp>
      <p:sp>
        <p:nvSpPr>
          <p:cNvPr id="4" name="">
            <a:extLst xmlns:a="http://schemas.openxmlformats.org/drawingml/2006/main">
              <a:ext uri="{FF2B5EF4-FFF2-40B4-BE49-F238E27FC236}">
                <a16:creationId xmlns:a16="http://schemas.microsoft.com/office/drawing/2014/main" id="{592CA0B5-5CA7-4E7D-A482-0221E3682AAD}"/>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B99579-FD63-4EE3-88AE-19F072FA151A}"/>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One identity with a controlled set of expressions</a:t>
            </a:r>
          </a:p>
        </p:txBody>
      </p:sp>
      <p:sp>
        <p:nvSpPr>
          <p:cNvPr id="6" name="">
            <a:extLst xmlns:a="http://schemas.openxmlformats.org/drawingml/2006/main">
              <a:ext uri="{FF2B5EF4-FFF2-40B4-BE49-F238E27FC236}">
                <a16:creationId xmlns:a16="http://schemas.microsoft.com/office/drawing/2014/main" id="{0C44C5E1-2977-4973-9579-A11ACD4D32E9}"/>
              </a:ext>
            </a:extLst>
          </p:cNvPr>
          <p:cNvSpPr>
            <a:spLocks xmlns:a="http://schemas.openxmlformats.org/drawingml/2006/main" noGrp="1"/>
          </p:cNvSpPr>
          <p:nvPr/>
        </p:nvSpPr>
        <p:spPr>
          <a:xfrm xmlns:a="http://schemas.openxmlformats.org/drawingml/2006/main">
            <a:off x="704850" y="1809750"/>
            <a:ext cx="4167188" cy="1033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5513" b="1">
                <a:solidFill>
                  <a:srgbClr val="1A1F25"/>
                </a:solidFill>
                <a:latin typeface="Bahnschrift"/>
                <a:ea typeface="Bahnschrift"/>
                <a:cs typeface="Bahnschrift"/>
              </a:rPr>
              <a:t>AvTri</a:t>
            </a:r>
            <a:r>
              <a:rPr sz="5513" b="1">
                <a:solidFill>
                  <a:srgbClr val="CBA36A"/>
                </a:solidFill>
                <a:latin typeface="Bahnschrift"/>
                <a:ea typeface="Bahnschrift"/>
                <a:cs typeface="Bahnschrift"/>
              </a:rPr>
              <a:t>X</a:t>
            </a:r>
          </a:p>
        </p:txBody>
      </p:sp>
      <p:sp>
        <p:nvSpPr>
          <p:cNvPr id="7" name="">
            <a:extLst xmlns:a="http://schemas.openxmlformats.org/drawingml/2006/main">
              <a:ext uri="{FF2B5EF4-FFF2-40B4-BE49-F238E27FC236}">
                <a16:creationId xmlns:a16="http://schemas.microsoft.com/office/drawing/2014/main" id="{C1336E06-F1A4-424B-9A05-34083DE4F11B}"/>
              </a:ext>
            </a:extLst>
          </p:cNvPr>
          <p:cNvSpPr>
            <a:spLocks xmlns:a="http://schemas.openxmlformats.org/drawingml/2006/main" noGrp="1"/>
          </p:cNvSpPr>
          <p:nvPr/>
        </p:nvSpPr>
        <p:spPr>
          <a:xfrm xmlns:a="http://schemas.openxmlformats.org/drawingml/2006/main">
            <a:off x="723900" y="28956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WORDMARK</a:t>
            </a:r>
          </a:p>
        </p:txBody>
      </p:sp>
      <p:sp>
        <p:nvSpPr>
          <p:cNvPr id="8" name="">
            <a:extLst xmlns:a="http://schemas.openxmlformats.org/drawingml/2006/main">
              <a:ext uri="{FF2B5EF4-FFF2-40B4-BE49-F238E27FC236}">
                <a16:creationId xmlns:a16="http://schemas.microsoft.com/office/drawing/2014/main" id="{5F516FEC-A6BF-4926-8E3E-61FAC857752A}"/>
              </a:ext>
            </a:extLst>
          </p:cNvPr>
          <p:cNvSpPr>
            <a:spLocks xmlns:a="http://schemas.openxmlformats.org/drawingml/2006/main" noGrp="1"/>
          </p:cNvSpPr>
          <p:nvPr/>
        </p:nvSpPr>
        <p:spPr>
          <a:xfrm xmlns:a="http://schemas.openxmlformats.org/drawingml/2006/main">
            <a:off x="685800" y="3181350"/>
            <a:ext cx="4762500" cy="2076450"/>
          </a:xfrm>
          <a:prstGeom xmlns:a="http://schemas.openxmlformats.org/drawingml/2006/main" prst="roundRect">
            <a:avLst>
              <a:gd name="adj" fmla="val 7339"/>
            </a:avLst>
          </a:prstGeom>
          <a:solidFill xmlns:a="http://schemas.openxmlformats.org/drawingml/2006/main">
            <a:srgbClr val="F5EDDF"/>
          </a:solidFill>
          <a:ln xmlns:a="http://schemas.openxmlformats.org/drawingml/2006/main" w="9525">
            <a:solidFill>
              <a:srgbClr val="D8CCBA"/>
            </a:solidFill>
            <a:prstDash val="solid"/>
          </a:ln>
        </p:spPr>
      </p:sp>
      <p:sp>
        <p:nvSpPr>
          <p:cNvPr id="9" name="">
            <a:extLst xmlns:a="http://schemas.openxmlformats.org/drawingml/2006/main">
              <a:ext uri="{FF2B5EF4-FFF2-40B4-BE49-F238E27FC236}">
                <a16:creationId xmlns:a16="http://schemas.microsoft.com/office/drawing/2014/main" id="{3387A6B1-169C-4A82-95FE-AA21524DCB00}"/>
              </a:ext>
            </a:extLst>
          </p:cNvPr>
          <p:cNvSpPr>
            <a:spLocks xmlns:a="http://schemas.openxmlformats.org/drawingml/2006/main" noGrp="1"/>
          </p:cNvSpPr>
          <p:nvPr/>
        </p:nvSpPr>
        <p:spPr>
          <a:xfrm xmlns:a="http://schemas.openxmlformats.org/drawingml/2006/main">
            <a:off x="1085850" y="3714750"/>
            <a:ext cx="3905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i="0">
                <a:solidFill>
                  <a:srgbClr val="1A1F25"/>
                </a:solidFill>
                <a:latin typeface="Bahnschrift"/>
                <a:ea typeface="Bahnschrift"/>
                <a:cs typeface="Bahnschrift"/>
              </a:defRPr>
            </a:pPr>
            <a:r>
              <a:rPr sz="2250" b="1" i="0">
                <a:solidFill>
                  <a:srgbClr val="1A1F25"/>
                </a:solidFill>
                <a:latin typeface="Bahnschrift"/>
                <a:ea typeface="Bahnschrift"/>
                <a:cs typeface="Bahnschrift"/>
              </a:rPr>
              <a:t>SELECTED AVIATRIX</a:t>
            </a:r>
          </a:p>
          <a:p xmlns:a="http://schemas.openxmlformats.org/drawingml/2006/main">
            <a:pPr>
              <a:defRPr sz="2250" b="1" i="0">
                <a:solidFill>
                  <a:srgbClr val="1A1F25"/>
                </a:solidFill>
                <a:latin typeface="Bahnschrift"/>
                <a:ea typeface="Bahnschrift"/>
                <a:cs typeface="Bahnschrift"/>
              </a:defRPr>
            </a:pPr>
            <a:r>
              <a:rPr sz="2250" b="1" i="0">
                <a:solidFill>
                  <a:srgbClr val="1A1F25"/>
                </a:solidFill>
                <a:latin typeface="Bahnschrift"/>
                <a:ea typeface="Bahnschrift"/>
                <a:cs typeface="Bahnschrift"/>
              </a:rPr>
              <a:t>MASTER SYMBOL</a:t>
            </a:r>
          </a:p>
        </p:txBody>
      </p:sp>
      <p:sp>
        <p:nvSpPr>
          <p:cNvPr id="10" name="">
            <a:extLst xmlns:a="http://schemas.openxmlformats.org/drawingml/2006/main">
              <a:ext uri="{FF2B5EF4-FFF2-40B4-BE49-F238E27FC236}">
                <a16:creationId xmlns:a16="http://schemas.microsoft.com/office/drawing/2014/main" id="{0A24A1CE-5A78-443E-B307-4741D2A48853}"/>
              </a:ext>
            </a:extLst>
          </p:cNvPr>
          <p:cNvSpPr>
            <a:spLocks xmlns:a="http://schemas.openxmlformats.org/drawingml/2006/main" noGrp="1"/>
          </p:cNvSpPr>
          <p:nvPr/>
        </p:nvSpPr>
        <p:spPr>
          <a:xfrm xmlns:a="http://schemas.openxmlformats.org/drawingml/2006/main">
            <a:off x="1085850" y="4552950"/>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6C737A"/>
                </a:solidFill>
                <a:latin typeface="Bahnschrift"/>
                <a:ea typeface="Bahnschrift"/>
                <a:cs typeface="Bahnschrift"/>
              </a:defRPr>
            </a:pPr>
            <a:r>
              <a:rPr sz="1200" b="0" i="0">
                <a:solidFill>
                  <a:srgbClr val="6C737A"/>
                </a:solidFill>
                <a:latin typeface="Bahnschrift"/>
                <a:ea typeface="Bahnschrift"/>
                <a:cs typeface="Bahnschrift"/>
              </a:rPr>
              <a:t>Use the approved elegant profile, three wings and flight path from the selected reference board. Do not substitute or redraw from memory.</a:t>
            </a:r>
          </a:p>
        </p:txBody>
      </p:sp>
      <p:sp>
        <p:nvSpPr>
          <p:cNvPr id="11" name="">
            <a:extLst xmlns:a="http://schemas.openxmlformats.org/drawingml/2006/main">
              <a:ext uri="{FF2B5EF4-FFF2-40B4-BE49-F238E27FC236}">
                <a16:creationId xmlns:a16="http://schemas.microsoft.com/office/drawing/2014/main" id="{8E7F3002-B464-47B9-A939-1DEA43A20D8F}"/>
              </a:ext>
            </a:extLst>
          </p:cNvPr>
          <p:cNvSpPr>
            <a:spLocks xmlns:a="http://schemas.openxmlformats.org/drawingml/2006/main" noGrp="1"/>
          </p:cNvSpPr>
          <p:nvPr/>
        </p:nvSpPr>
        <p:spPr>
          <a:xfrm xmlns:a="http://schemas.openxmlformats.org/drawingml/2006/main">
            <a:off x="6229350" y="16573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01</a:t>
            </a:r>
          </a:p>
        </p:txBody>
      </p:sp>
      <p:sp>
        <p:nvSpPr>
          <p:cNvPr id="12" name="">
            <a:extLst xmlns:a="http://schemas.openxmlformats.org/drawingml/2006/main">
              <a:ext uri="{FF2B5EF4-FFF2-40B4-BE49-F238E27FC236}">
                <a16:creationId xmlns:a16="http://schemas.microsoft.com/office/drawing/2014/main" id="{4E84EBA9-6760-4158-B714-32139038FDF0}"/>
              </a:ext>
            </a:extLst>
          </p:cNvPr>
          <p:cNvSpPr>
            <a:spLocks xmlns:a="http://schemas.openxmlformats.org/drawingml/2006/main" noGrp="1"/>
          </p:cNvSpPr>
          <p:nvPr/>
        </p:nvSpPr>
        <p:spPr>
          <a:xfrm xmlns:a="http://schemas.openxmlformats.org/drawingml/2006/main">
            <a:off x="6743700" y="1657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Primary</a:t>
            </a:r>
          </a:p>
        </p:txBody>
      </p:sp>
      <p:sp>
        <p:nvSpPr>
          <p:cNvPr id="13" name="">
            <a:extLst xmlns:a="http://schemas.openxmlformats.org/drawingml/2006/main">
              <a:ext uri="{FF2B5EF4-FFF2-40B4-BE49-F238E27FC236}">
                <a16:creationId xmlns:a16="http://schemas.microsoft.com/office/drawing/2014/main" id="{70C8EE96-6311-441F-91F6-6855AF66E908}"/>
              </a:ext>
            </a:extLst>
          </p:cNvPr>
          <p:cNvSpPr>
            <a:spLocks xmlns:a="http://schemas.openxmlformats.org/drawingml/2006/main" noGrp="1"/>
          </p:cNvSpPr>
          <p:nvPr/>
        </p:nvSpPr>
        <p:spPr>
          <a:xfrm xmlns:a="http://schemas.openxmlformats.org/drawingml/2006/main">
            <a:off x="8229600" y="16573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Aviatrix symbol + AvTrix wordmark</a:t>
            </a:r>
          </a:p>
        </p:txBody>
      </p:sp>
      <p:sp>
        <p:nvSpPr>
          <p:cNvPr id="14" name="">
            <a:extLst xmlns:a="http://schemas.openxmlformats.org/drawingml/2006/main">
              <a:ext uri="{FF2B5EF4-FFF2-40B4-BE49-F238E27FC236}">
                <a16:creationId xmlns:a16="http://schemas.microsoft.com/office/drawing/2014/main" id="{23C84DA3-AF54-4CC8-89B8-7E728DE116E0}"/>
              </a:ext>
            </a:extLst>
          </p:cNvPr>
          <p:cNvSpPr>
            <a:spLocks xmlns:a="http://schemas.openxmlformats.org/drawingml/2006/main" noGrp="1"/>
          </p:cNvSpPr>
          <p:nvPr/>
        </p:nvSpPr>
        <p:spPr>
          <a:xfrm xmlns:a="http://schemas.openxmlformats.org/drawingml/2006/main">
            <a:off x="6229350" y="2324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02</a:t>
            </a:r>
          </a:p>
        </p:txBody>
      </p:sp>
      <p:sp>
        <p:nvSpPr>
          <p:cNvPr id="15" name="">
            <a:extLst xmlns:a="http://schemas.openxmlformats.org/drawingml/2006/main">
              <a:ext uri="{FF2B5EF4-FFF2-40B4-BE49-F238E27FC236}">
                <a16:creationId xmlns:a16="http://schemas.microsoft.com/office/drawing/2014/main" id="{E9A4F27A-9C40-4D6A-96A6-15FB2F85FD24}"/>
              </a:ext>
            </a:extLst>
          </p:cNvPr>
          <p:cNvSpPr>
            <a:spLocks xmlns:a="http://schemas.openxmlformats.org/drawingml/2006/main" noGrp="1"/>
          </p:cNvSpPr>
          <p:nvPr/>
        </p:nvSpPr>
        <p:spPr>
          <a:xfrm xmlns:a="http://schemas.openxmlformats.org/drawingml/2006/main">
            <a:off x="6743700" y="23241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Secondary</a:t>
            </a:r>
          </a:p>
        </p:txBody>
      </p:sp>
      <p:sp>
        <p:nvSpPr>
          <p:cNvPr id="16" name="">
            <a:extLst xmlns:a="http://schemas.openxmlformats.org/drawingml/2006/main">
              <a:ext uri="{FF2B5EF4-FFF2-40B4-BE49-F238E27FC236}">
                <a16:creationId xmlns:a16="http://schemas.microsoft.com/office/drawing/2014/main" id="{1A13A154-61B3-47FE-857C-44674C75B92D}"/>
              </a:ext>
            </a:extLst>
          </p:cNvPr>
          <p:cNvSpPr>
            <a:spLocks xmlns:a="http://schemas.openxmlformats.org/drawingml/2006/main" noGrp="1"/>
          </p:cNvSpPr>
          <p:nvPr/>
        </p:nvSpPr>
        <p:spPr>
          <a:xfrm xmlns:a="http://schemas.openxmlformats.org/drawingml/2006/main">
            <a:off x="8229600" y="23241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Horizontal lockup for documents and web</a:t>
            </a:r>
          </a:p>
        </p:txBody>
      </p:sp>
      <p:sp>
        <p:nvSpPr>
          <p:cNvPr id="17" name="">
            <a:extLst xmlns:a="http://schemas.openxmlformats.org/drawingml/2006/main">
              <a:ext uri="{FF2B5EF4-FFF2-40B4-BE49-F238E27FC236}">
                <a16:creationId xmlns:a16="http://schemas.microsoft.com/office/drawing/2014/main" id="{EC21F4E7-C81F-4ECF-ABCF-7253AB2E96E3}"/>
              </a:ext>
            </a:extLst>
          </p:cNvPr>
          <p:cNvSpPr>
            <a:spLocks xmlns:a="http://schemas.openxmlformats.org/drawingml/2006/main" noGrp="1"/>
          </p:cNvSpPr>
          <p:nvPr/>
        </p:nvSpPr>
        <p:spPr>
          <a:xfrm xmlns:a="http://schemas.openxmlformats.org/drawingml/2006/main">
            <a:off x="6229350" y="29908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03</a:t>
            </a:r>
          </a:p>
        </p:txBody>
      </p:sp>
      <p:sp>
        <p:nvSpPr>
          <p:cNvPr id="18" name="">
            <a:extLst xmlns:a="http://schemas.openxmlformats.org/drawingml/2006/main">
              <a:ext uri="{FF2B5EF4-FFF2-40B4-BE49-F238E27FC236}">
                <a16:creationId xmlns:a16="http://schemas.microsoft.com/office/drawing/2014/main" id="{29227838-F36E-4BBA-8A69-89D8C854178A}"/>
              </a:ext>
            </a:extLst>
          </p:cNvPr>
          <p:cNvSpPr>
            <a:spLocks xmlns:a="http://schemas.openxmlformats.org/drawingml/2006/main" noGrp="1"/>
          </p:cNvSpPr>
          <p:nvPr/>
        </p:nvSpPr>
        <p:spPr>
          <a:xfrm xmlns:a="http://schemas.openxmlformats.org/drawingml/2006/main">
            <a:off x="6743700" y="29908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Wordmark</a:t>
            </a:r>
          </a:p>
        </p:txBody>
      </p:sp>
      <p:sp>
        <p:nvSpPr>
          <p:cNvPr id="19" name="">
            <a:extLst xmlns:a="http://schemas.openxmlformats.org/drawingml/2006/main">
              <a:ext uri="{FF2B5EF4-FFF2-40B4-BE49-F238E27FC236}">
                <a16:creationId xmlns:a16="http://schemas.microsoft.com/office/drawing/2014/main" id="{3EC2BACC-181C-413F-BC49-2E7C9F4F1634}"/>
              </a:ext>
            </a:extLst>
          </p:cNvPr>
          <p:cNvSpPr>
            <a:spLocks xmlns:a="http://schemas.openxmlformats.org/drawingml/2006/main" noGrp="1"/>
          </p:cNvSpPr>
          <p:nvPr/>
        </p:nvSpPr>
        <p:spPr>
          <a:xfrm xmlns:a="http://schemas.openxmlformats.org/drawingml/2006/main">
            <a:off x="8229600" y="2990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AvTrix with the copper X</a:t>
            </a:r>
          </a:p>
        </p:txBody>
      </p:sp>
      <p:sp>
        <p:nvSpPr>
          <p:cNvPr id="20" name="">
            <a:extLst xmlns:a="http://schemas.openxmlformats.org/drawingml/2006/main">
              <a:ext uri="{FF2B5EF4-FFF2-40B4-BE49-F238E27FC236}">
                <a16:creationId xmlns:a16="http://schemas.microsoft.com/office/drawing/2014/main" id="{5C2A3812-81D0-494B-8ECF-C485ADC184B7}"/>
              </a:ext>
            </a:extLst>
          </p:cNvPr>
          <p:cNvSpPr>
            <a:spLocks xmlns:a="http://schemas.openxmlformats.org/drawingml/2006/main" noGrp="1"/>
          </p:cNvSpPr>
          <p:nvPr/>
        </p:nvSpPr>
        <p:spPr>
          <a:xfrm xmlns:a="http://schemas.openxmlformats.org/drawingml/2006/main">
            <a:off x="6229350" y="36576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04</a:t>
            </a:r>
          </a:p>
        </p:txBody>
      </p:sp>
      <p:sp>
        <p:nvSpPr>
          <p:cNvPr id="21" name="">
            <a:extLst xmlns:a="http://schemas.openxmlformats.org/drawingml/2006/main">
              <a:ext uri="{FF2B5EF4-FFF2-40B4-BE49-F238E27FC236}">
                <a16:creationId xmlns:a16="http://schemas.microsoft.com/office/drawing/2014/main" id="{C7F12646-2299-47AB-BD0C-FEFCC789874F}"/>
              </a:ext>
            </a:extLst>
          </p:cNvPr>
          <p:cNvSpPr>
            <a:spLocks xmlns:a="http://schemas.openxmlformats.org/drawingml/2006/main" noGrp="1"/>
          </p:cNvSpPr>
          <p:nvPr/>
        </p:nvSpPr>
        <p:spPr>
          <a:xfrm xmlns:a="http://schemas.openxmlformats.org/drawingml/2006/main">
            <a:off x="6743700" y="36576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Symbol</a:t>
            </a:r>
          </a:p>
        </p:txBody>
      </p:sp>
      <p:sp>
        <p:nvSpPr>
          <p:cNvPr id="22" name="">
            <a:extLst xmlns:a="http://schemas.openxmlformats.org/drawingml/2006/main">
              <a:ext uri="{FF2B5EF4-FFF2-40B4-BE49-F238E27FC236}">
                <a16:creationId xmlns:a16="http://schemas.microsoft.com/office/drawing/2014/main" id="{9DA4057F-C976-4298-96B9-2A5CAC3B0FC8}"/>
              </a:ext>
            </a:extLst>
          </p:cNvPr>
          <p:cNvSpPr>
            <a:spLocks xmlns:a="http://schemas.openxmlformats.org/drawingml/2006/main" noGrp="1"/>
          </p:cNvSpPr>
          <p:nvPr/>
        </p:nvSpPr>
        <p:spPr>
          <a:xfrm xmlns:a="http://schemas.openxmlformats.org/drawingml/2006/main">
            <a:off x="8229600" y="36576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Aviatrix + three wings + flight path</a:t>
            </a:r>
          </a:p>
        </p:txBody>
      </p:sp>
      <p:sp>
        <p:nvSpPr>
          <p:cNvPr id="23" name="">
            <a:extLst xmlns:a="http://schemas.openxmlformats.org/drawingml/2006/main">
              <a:ext uri="{FF2B5EF4-FFF2-40B4-BE49-F238E27FC236}">
                <a16:creationId xmlns:a16="http://schemas.microsoft.com/office/drawing/2014/main" id="{02FE3E08-03F4-4595-B901-8B8E6793A417}"/>
              </a:ext>
            </a:extLst>
          </p:cNvPr>
          <p:cNvSpPr>
            <a:spLocks xmlns:a="http://schemas.openxmlformats.org/drawingml/2006/main" noGrp="1"/>
          </p:cNvSpPr>
          <p:nvPr/>
        </p:nvSpPr>
        <p:spPr>
          <a:xfrm xmlns:a="http://schemas.openxmlformats.org/drawingml/2006/main">
            <a:off x="6229350" y="43243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05</a:t>
            </a:r>
          </a:p>
        </p:txBody>
      </p:sp>
      <p:sp>
        <p:nvSpPr>
          <p:cNvPr id="24" name="">
            <a:extLst xmlns:a="http://schemas.openxmlformats.org/drawingml/2006/main">
              <a:ext uri="{FF2B5EF4-FFF2-40B4-BE49-F238E27FC236}">
                <a16:creationId xmlns:a16="http://schemas.microsoft.com/office/drawing/2014/main" id="{BD201074-5D7A-4777-8F4B-B9D94BFAC528}"/>
              </a:ext>
            </a:extLst>
          </p:cNvPr>
          <p:cNvSpPr>
            <a:spLocks xmlns:a="http://schemas.openxmlformats.org/drawingml/2006/main" noGrp="1"/>
          </p:cNvSpPr>
          <p:nvPr/>
        </p:nvSpPr>
        <p:spPr>
          <a:xfrm xmlns:a="http://schemas.openxmlformats.org/drawingml/2006/main">
            <a:off x="6743700" y="43243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Micro</a:t>
            </a:r>
          </a:p>
        </p:txBody>
      </p:sp>
      <p:sp>
        <p:nvSpPr>
          <p:cNvPr id="25" name="">
            <a:extLst xmlns:a="http://schemas.openxmlformats.org/drawingml/2006/main">
              <a:ext uri="{FF2B5EF4-FFF2-40B4-BE49-F238E27FC236}">
                <a16:creationId xmlns:a16="http://schemas.microsoft.com/office/drawing/2014/main" id="{C8A11429-9C10-49ED-B8DC-46717FBD95B7}"/>
              </a:ext>
            </a:extLst>
          </p:cNvPr>
          <p:cNvSpPr>
            <a:spLocks xmlns:a="http://schemas.openxmlformats.org/drawingml/2006/main" noGrp="1"/>
          </p:cNvSpPr>
          <p:nvPr/>
        </p:nvSpPr>
        <p:spPr>
          <a:xfrm xmlns:a="http://schemas.openxmlformats.org/drawingml/2006/main">
            <a:off x="8229600" y="43243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Simplified production master for small use</a:t>
            </a:r>
          </a:p>
        </p:txBody>
      </p:sp>
      <p:sp>
        <p:nvSpPr>
          <p:cNvPr id="26" name="">
            <a:extLst xmlns:a="http://schemas.openxmlformats.org/drawingml/2006/main">
              <a:ext uri="{FF2B5EF4-FFF2-40B4-BE49-F238E27FC236}">
                <a16:creationId xmlns:a16="http://schemas.microsoft.com/office/drawing/2014/main" id="{1CF85947-3240-4505-8776-6E5C118C70D5}"/>
              </a:ext>
            </a:extLst>
          </p:cNvPr>
          <p:cNvSpPr>
            <a:spLocks xmlns:a="http://schemas.openxmlformats.org/drawingml/2006/main" noGrp="1"/>
          </p:cNvSpPr>
          <p:nvPr/>
        </p:nvSpPr>
        <p:spPr>
          <a:xfrm xmlns:a="http://schemas.openxmlformats.org/drawingml/2006/main">
            <a:off x="6229350" y="4991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06</a:t>
            </a:r>
          </a:p>
        </p:txBody>
      </p:sp>
      <p:sp>
        <p:nvSpPr>
          <p:cNvPr id="27" name="">
            <a:extLst xmlns:a="http://schemas.openxmlformats.org/drawingml/2006/main">
              <a:ext uri="{FF2B5EF4-FFF2-40B4-BE49-F238E27FC236}">
                <a16:creationId xmlns:a16="http://schemas.microsoft.com/office/drawing/2014/main" id="{58078D90-9664-43E2-83F7-C0C16932523A}"/>
              </a:ext>
            </a:extLst>
          </p:cNvPr>
          <p:cNvSpPr>
            <a:spLocks xmlns:a="http://schemas.openxmlformats.org/drawingml/2006/main" noGrp="1"/>
          </p:cNvSpPr>
          <p:nvPr/>
        </p:nvSpPr>
        <p:spPr>
          <a:xfrm xmlns:a="http://schemas.openxmlformats.org/drawingml/2006/main">
            <a:off x="6743700" y="49911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i="0">
                <a:solidFill>
                  <a:srgbClr val="1A1F25"/>
                </a:solidFill>
                <a:latin typeface="Bahnschrift"/>
                <a:ea typeface="Bahnschrift"/>
                <a:cs typeface="Bahnschrift"/>
              </a:defRPr>
            </a:pPr>
            <a:r>
              <a:rPr sz="1575" b="1" i="0">
                <a:solidFill>
                  <a:srgbClr val="1A1F25"/>
                </a:solidFill>
                <a:latin typeface="Bahnschrift"/>
                <a:ea typeface="Bahnschrift"/>
                <a:cs typeface="Bahnschrift"/>
              </a:rPr>
              <a:t>X device</a:t>
            </a:r>
          </a:p>
        </p:txBody>
      </p:sp>
      <p:sp>
        <p:nvSpPr>
          <p:cNvPr id="28" name="">
            <a:extLst xmlns:a="http://schemas.openxmlformats.org/drawingml/2006/main">
              <a:ext uri="{FF2B5EF4-FFF2-40B4-BE49-F238E27FC236}">
                <a16:creationId xmlns:a16="http://schemas.microsoft.com/office/drawing/2014/main" id="{4BB80DEB-6B67-411F-9F72-2484F87E4DD4}"/>
              </a:ext>
            </a:extLst>
          </p:cNvPr>
          <p:cNvSpPr>
            <a:spLocks xmlns:a="http://schemas.openxmlformats.org/drawingml/2006/main" noGrp="1"/>
          </p:cNvSpPr>
          <p:nvPr/>
        </p:nvSpPr>
        <p:spPr>
          <a:xfrm xmlns:a="http://schemas.openxmlformats.org/drawingml/2006/main">
            <a:off x="8229600" y="49911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Standalone graphic device, never a substitute signature</a:t>
            </a:r>
          </a:p>
        </p:txBody>
      </p:sp>
    </p:spTree>
    <p:extLst>
      <p:ext uri="{BB962C8B-B14F-4D97-AF65-F5344CB8AC3E}">
        <p14:creationId xmlns:p14="http://schemas.microsoft.com/office/powerpoint/2010/main" val="265851828"/>
      </p:ext>
    </p:extLst>
  </p:cSld>
</p:sld>
</file>

<file path=ppt/slides/slide17.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B123E34-CD46-4C33-8882-46FD3A147BE2}"/>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B2574BA0-FDD1-489C-ABA4-ECC3FED81419}"/>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17</a:t>
            </a:r>
          </a:p>
        </p:txBody>
      </p:sp>
      <p:sp>
        <p:nvSpPr>
          <p:cNvPr id="3" name="">
            <a:extLst xmlns:a="http://schemas.openxmlformats.org/drawingml/2006/main">
              <a:ext uri="{FF2B5EF4-FFF2-40B4-BE49-F238E27FC236}">
                <a16:creationId xmlns:a16="http://schemas.microsoft.com/office/drawing/2014/main" id="{C6D2CCB2-D93D-4903-8558-DCB1B1056307}"/>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Logo lockups</a:t>
            </a:r>
          </a:p>
        </p:txBody>
      </p:sp>
      <p:sp>
        <p:nvSpPr>
          <p:cNvPr id="4" name="">
            <a:extLst xmlns:a="http://schemas.openxmlformats.org/drawingml/2006/main">
              <a:ext uri="{FF2B5EF4-FFF2-40B4-BE49-F238E27FC236}">
                <a16:creationId xmlns:a16="http://schemas.microsoft.com/office/drawing/2014/main" id="{01F149B2-AB8C-429C-B102-F3DAACC52012}"/>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E87A01-11D2-4E2B-B714-DE65ADA9E647}"/>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Choose the simplest version that preserves recognition</a:t>
            </a:r>
          </a:p>
        </p:txBody>
      </p:sp>
      <p:sp>
        <p:nvSpPr>
          <p:cNvPr id="6" name="">
            <a:extLst xmlns:a="http://schemas.openxmlformats.org/drawingml/2006/main">
              <a:ext uri="{FF2B5EF4-FFF2-40B4-BE49-F238E27FC236}">
                <a16:creationId xmlns:a16="http://schemas.microsoft.com/office/drawing/2014/main" id="{735521B4-7BB6-460B-B45C-F6903770E317}"/>
              </a:ext>
            </a:extLst>
          </p:cNvPr>
          <p:cNvSpPr>
            <a:spLocks xmlns:a="http://schemas.openxmlformats.org/drawingml/2006/main" noGrp="1"/>
          </p:cNvSpPr>
          <p:nvPr/>
        </p:nvSpPr>
        <p:spPr>
          <a:xfrm xmlns:a="http://schemas.openxmlformats.org/drawingml/2006/main">
            <a:off x="666750" y="1676400"/>
            <a:ext cx="5048250" cy="1790700"/>
          </a:xfrm>
          <a:prstGeom xmlns:a="http://schemas.openxmlformats.org/drawingml/2006/main" prst="roundRect">
            <a:avLst>
              <a:gd name="adj" fmla="val 7447"/>
            </a:avLst>
          </a:prstGeom>
          <a:solidFill xmlns:a="http://schemas.openxmlformats.org/drawingml/2006/main">
            <a:srgbClr val="FCFA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CB8C55A-492A-4F63-842A-5CDEF76A10F0}"/>
              </a:ext>
            </a:extLst>
          </p:cNvPr>
          <p:cNvSpPr>
            <a:spLocks xmlns:a="http://schemas.openxmlformats.org/drawingml/2006/main" noGrp="1"/>
          </p:cNvSpPr>
          <p:nvPr/>
        </p:nvSpPr>
        <p:spPr>
          <a:xfrm xmlns:a="http://schemas.openxmlformats.org/drawingml/2006/main">
            <a:off x="1104900" y="2114550"/>
            <a:ext cx="3690938" cy="915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4883" b="1">
                <a:solidFill>
                  <a:srgbClr val="1A1F25"/>
                </a:solidFill>
                <a:latin typeface="Bahnschrift"/>
                <a:ea typeface="Bahnschrift"/>
                <a:cs typeface="Bahnschrift"/>
              </a:rPr>
              <a:t>AvTri</a:t>
            </a:r>
            <a:r>
              <a:rPr sz="4883" b="1">
                <a:solidFill>
                  <a:srgbClr val="CBA36A"/>
                </a:solidFill>
                <a:latin typeface="Bahnschrift"/>
                <a:ea typeface="Bahnschrift"/>
                <a:cs typeface="Bahnschrift"/>
              </a:rPr>
              <a:t>X</a:t>
            </a:r>
          </a:p>
        </p:txBody>
      </p:sp>
      <p:sp>
        <p:nvSpPr>
          <p:cNvPr id="8" name="">
            <a:extLst xmlns:a="http://schemas.openxmlformats.org/drawingml/2006/main">
              <a:ext uri="{FF2B5EF4-FFF2-40B4-BE49-F238E27FC236}">
                <a16:creationId xmlns:a16="http://schemas.microsoft.com/office/drawing/2014/main" id="{35E792A0-1395-4D6A-B1C1-721BA8DF9C3B}"/>
              </a:ext>
            </a:extLst>
          </p:cNvPr>
          <p:cNvSpPr>
            <a:spLocks xmlns:a="http://schemas.openxmlformats.org/drawingml/2006/main" noGrp="1"/>
          </p:cNvSpPr>
          <p:nvPr/>
        </p:nvSpPr>
        <p:spPr>
          <a:xfrm xmlns:a="http://schemas.openxmlformats.org/drawingml/2006/main">
            <a:off x="1104900" y="30099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PRIMARY HORIZONTAL</a:t>
            </a:r>
          </a:p>
        </p:txBody>
      </p:sp>
      <p:sp>
        <p:nvSpPr>
          <p:cNvPr id="9" name="">
            <a:extLst xmlns:a="http://schemas.openxmlformats.org/drawingml/2006/main">
              <a:ext uri="{FF2B5EF4-FFF2-40B4-BE49-F238E27FC236}">
                <a16:creationId xmlns:a16="http://schemas.microsoft.com/office/drawing/2014/main" id="{D4B16170-391A-43B5-819A-25E4992C2E2F}"/>
              </a:ext>
            </a:extLst>
          </p:cNvPr>
          <p:cNvSpPr>
            <a:spLocks xmlns:a="http://schemas.openxmlformats.org/drawingml/2006/main" noGrp="1"/>
          </p:cNvSpPr>
          <p:nvPr/>
        </p:nvSpPr>
        <p:spPr>
          <a:xfrm xmlns:a="http://schemas.openxmlformats.org/drawingml/2006/main">
            <a:off x="6096000" y="1676400"/>
            <a:ext cx="5429250" cy="1790700"/>
          </a:xfrm>
          <a:prstGeom xmlns:a="http://schemas.openxmlformats.org/drawingml/2006/main" prst="roundRect">
            <a:avLst>
              <a:gd name="adj" fmla="val 7447"/>
            </a:avLst>
          </a:prstGeom>
          <a:solidFill xmlns:a="http://schemas.openxmlformats.org/drawingml/2006/main">
            <a:srgbClr val="FCFAF6">
              <a:alpha val="6000"/>
            </a:srgbClr>
          </a:solidFill>
          <a:ln xmlns:a="http://schemas.openxmlformats.org/drawingml/2006/main" w="9525">
            <a:solidFill>
              <a:srgbClr val="FCFAF6">
                <a:alpha val="16000"/>
              </a:srgbClr>
            </a:solidFill>
            <a:prstDash val="solid"/>
          </a:ln>
        </p:spPr>
      </p:sp>
      <p:sp>
        <p:nvSpPr>
          <p:cNvPr id="10" name="">
            <a:extLst xmlns:a="http://schemas.openxmlformats.org/drawingml/2006/main">
              <a:ext uri="{FF2B5EF4-FFF2-40B4-BE49-F238E27FC236}">
                <a16:creationId xmlns:a16="http://schemas.microsoft.com/office/drawing/2014/main" id="{96F4D762-596C-44C0-BE8D-CF7605BA3710}"/>
              </a:ext>
            </a:extLst>
          </p:cNvPr>
          <p:cNvSpPr>
            <a:spLocks xmlns:a="http://schemas.openxmlformats.org/drawingml/2006/main" noGrp="1"/>
          </p:cNvSpPr>
          <p:nvPr/>
        </p:nvSpPr>
        <p:spPr>
          <a:xfrm xmlns:a="http://schemas.openxmlformats.org/drawingml/2006/main">
            <a:off x="6572250" y="2114550"/>
            <a:ext cx="3452813" cy="856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4568" b="1">
                <a:solidFill>
                  <a:srgbClr val="FCFAF6"/>
                </a:solidFill>
                <a:latin typeface="Bahnschrift"/>
                <a:ea typeface="Bahnschrift"/>
                <a:cs typeface="Bahnschrift"/>
              </a:rPr>
              <a:t>AvTri</a:t>
            </a:r>
            <a:r>
              <a:rPr sz="4568" b="1">
                <a:solidFill>
                  <a:srgbClr val="CBA36A"/>
                </a:solidFill>
                <a:latin typeface="Bahnschrift"/>
                <a:ea typeface="Bahnschrift"/>
                <a:cs typeface="Bahnschrift"/>
              </a:rPr>
              <a:t>X</a:t>
            </a:r>
          </a:p>
        </p:txBody>
      </p:sp>
      <p:sp>
        <p:nvSpPr>
          <p:cNvPr id="11" name="">
            <a:extLst xmlns:a="http://schemas.openxmlformats.org/drawingml/2006/main">
              <a:ext uri="{FF2B5EF4-FFF2-40B4-BE49-F238E27FC236}">
                <a16:creationId xmlns:a16="http://schemas.microsoft.com/office/drawing/2014/main" id="{7A92CFBA-3515-41EF-9850-9319403BF6CF}"/>
              </a:ext>
            </a:extLst>
          </p:cNvPr>
          <p:cNvSpPr>
            <a:spLocks xmlns:a="http://schemas.openxmlformats.org/drawingml/2006/main" noGrp="1"/>
          </p:cNvSpPr>
          <p:nvPr/>
        </p:nvSpPr>
        <p:spPr>
          <a:xfrm xmlns:a="http://schemas.openxmlformats.org/drawingml/2006/main">
            <a:off x="6572250" y="30099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REVERSED WORDMARK</a:t>
            </a:r>
          </a:p>
        </p:txBody>
      </p:sp>
      <p:sp>
        <p:nvSpPr>
          <p:cNvPr id="12" name="">
            <a:extLst xmlns:a="http://schemas.openxmlformats.org/drawingml/2006/main">
              <a:ext uri="{FF2B5EF4-FFF2-40B4-BE49-F238E27FC236}">
                <a16:creationId xmlns:a16="http://schemas.microsoft.com/office/drawing/2014/main" id="{F5EEEFE6-19DC-4394-99DD-3E741FC8793E}"/>
              </a:ext>
            </a:extLst>
          </p:cNvPr>
          <p:cNvSpPr>
            <a:spLocks xmlns:a="http://schemas.openxmlformats.org/drawingml/2006/main" noGrp="1"/>
          </p:cNvSpPr>
          <p:nvPr/>
        </p:nvSpPr>
        <p:spPr>
          <a:xfrm xmlns:a="http://schemas.openxmlformats.org/drawingml/2006/main">
            <a:off x="666750" y="3848100"/>
            <a:ext cx="3524250" cy="1638300"/>
          </a:xfrm>
          <a:prstGeom xmlns:a="http://schemas.openxmlformats.org/drawingml/2006/main" prst="roundRect">
            <a:avLst>
              <a:gd name="adj" fmla="val 8140"/>
            </a:avLst>
          </a:prstGeom>
          <a:solidFill xmlns:a="http://schemas.openxmlformats.org/drawingml/2006/main">
            <a:srgbClr val="F5EDD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12925F-803A-4F7B-99C0-2C77F612F425}"/>
              </a:ext>
            </a:extLst>
          </p:cNvPr>
          <p:cNvSpPr>
            <a:spLocks xmlns:a="http://schemas.openxmlformats.org/drawingml/2006/main" noGrp="1"/>
          </p:cNvSpPr>
          <p:nvPr/>
        </p:nvSpPr>
        <p:spPr>
          <a:xfrm xmlns:a="http://schemas.openxmlformats.org/drawingml/2006/main">
            <a:off x="1009650" y="42291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AVIATRIX</a:t>
            </a:r>
          </a:p>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SYMBOL</a:t>
            </a:r>
          </a:p>
        </p:txBody>
      </p:sp>
      <p:sp>
        <p:nvSpPr>
          <p:cNvPr id="14" name="">
            <a:extLst xmlns:a="http://schemas.openxmlformats.org/drawingml/2006/main">
              <a:ext uri="{FF2B5EF4-FFF2-40B4-BE49-F238E27FC236}">
                <a16:creationId xmlns:a16="http://schemas.microsoft.com/office/drawing/2014/main" id="{28BBAD24-6009-4A75-83F6-97B8DC7ED03A}"/>
              </a:ext>
            </a:extLst>
          </p:cNvPr>
          <p:cNvSpPr>
            <a:spLocks xmlns:a="http://schemas.openxmlformats.org/drawingml/2006/main" noGrp="1"/>
          </p:cNvSpPr>
          <p:nvPr/>
        </p:nvSpPr>
        <p:spPr>
          <a:xfrm xmlns:a="http://schemas.openxmlformats.org/drawingml/2006/main">
            <a:off x="1009650" y="51054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SYMBOL-ONLY</a:t>
            </a:r>
          </a:p>
        </p:txBody>
      </p:sp>
      <p:sp>
        <p:nvSpPr>
          <p:cNvPr id="15" name="">
            <a:extLst xmlns:a="http://schemas.openxmlformats.org/drawingml/2006/main">
              <a:ext uri="{FF2B5EF4-FFF2-40B4-BE49-F238E27FC236}">
                <a16:creationId xmlns:a16="http://schemas.microsoft.com/office/drawing/2014/main" id="{B0406870-5371-4230-ABAB-1BCA84454EF4}"/>
              </a:ext>
            </a:extLst>
          </p:cNvPr>
          <p:cNvSpPr>
            <a:spLocks xmlns:a="http://schemas.openxmlformats.org/drawingml/2006/main" noGrp="1"/>
          </p:cNvSpPr>
          <p:nvPr/>
        </p:nvSpPr>
        <p:spPr>
          <a:xfrm xmlns:a="http://schemas.openxmlformats.org/drawingml/2006/main">
            <a:off x="4572000" y="3848100"/>
            <a:ext cx="3048000" cy="1638300"/>
          </a:xfrm>
          <a:prstGeom xmlns:a="http://schemas.openxmlformats.org/drawingml/2006/main" prst="roundRect">
            <a:avLst>
              <a:gd name="adj" fmla="val 8140"/>
            </a:avLst>
          </a:prstGeom>
          <a:solidFill xmlns:a="http://schemas.openxmlformats.org/drawingml/2006/main">
            <a:srgbClr val="B8864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85E838-E0F7-4FEA-8218-52F3D66A5F2E}"/>
              </a:ext>
            </a:extLst>
          </p:cNvPr>
          <p:cNvSpPr>
            <a:spLocks xmlns:a="http://schemas.openxmlformats.org/drawingml/2006/main" noGrp="1"/>
          </p:cNvSpPr>
          <p:nvPr/>
        </p:nvSpPr>
        <p:spPr>
          <a:xfrm xmlns:a="http://schemas.openxmlformats.org/drawingml/2006/main">
            <a:off x="5581650" y="3981450"/>
            <a:ext cx="104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i="0">
                <a:solidFill>
                  <a:srgbClr val="FCFAF6"/>
                </a:solidFill>
                <a:latin typeface="Bahnschrift"/>
                <a:ea typeface="Bahnschrift"/>
                <a:cs typeface="Bahnschrift"/>
              </a:defRPr>
            </a:pPr>
            <a:r>
              <a:rPr sz="6450" b="1" i="0">
                <a:solidFill>
                  <a:srgbClr val="FCFAF6"/>
                </a:solidFill>
                <a:latin typeface="Bahnschrift"/>
                <a:ea typeface="Bahnschrift"/>
                <a:cs typeface="Bahnschrift"/>
              </a:rPr>
              <a:t>X</a:t>
            </a:r>
          </a:p>
        </p:txBody>
      </p:sp>
      <p:sp>
        <p:nvSpPr>
          <p:cNvPr id="17" name="">
            <a:extLst xmlns:a="http://schemas.openxmlformats.org/drawingml/2006/main">
              <a:ext uri="{FF2B5EF4-FFF2-40B4-BE49-F238E27FC236}">
                <a16:creationId xmlns:a16="http://schemas.microsoft.com/office/drawing/2014/main" id="{DFF1C728-B2F2-4038-BE3B-86A4F4FB4487}"/>
              </a:ext>
            </a:extLst>
          </p:cNvPr>
          <p:cNvSpPr>
            <a:spLocks xmlns:a="http://schemas.openxmlformats.org/drawingml/2006/main" noGrp="1"/>
          </p:cNvSpPr>
          <p:nvPr/>
        </p:nvSpPr>
        <p:spPr>
          <a:xfrm xmlns:a="http://schemas.openxmlformats.org/drawingml/2006/main">
            <a:off x="5600700" y="51054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1A1F25"/>
                </a:solidFill>
                <a:latin typeface="Bahnschrift"/>
                <a:ea typeface="Bahnschrift"/>
                <a:cs typeface="Bahnschrift"/>
              </a:defRPr>
            </a:pPr>
            <a:r>
              <a:rPr sz="975" b="1" i="0">
                <a:solidFill>
                  <a:srgbClr val="1A1F25"/>
                </a:solidFill>
                <a:latin typeface="Bahnschrift"/>
                <a:ea typeface="Bahnschrift"/>
                <a:cs typeface="Bahnschrift"/>
              </a:rPr>
              <a:t>X DEVICE</a:t>
            </a:r>
          </a:p>
        </p:txBody>
      </p:sp>
      <p:sp>
        <p:nvSpPr>
          <p:cNvPr id="18" name="">
            <a:extLst xmlns:a="http://schemas.openxmlformats.org/drawingml/2006/main">
              <a:ext uri="{FF2B5EF4-FFF2-40B4-BE49-F238E27FC236}">
                <a16:creationId xmlns:a16="http://schemas.microsoft.com/office/drawing/2014/main" id="{7A99DCB7-AB74-4925-A087-04B187259AF8}"/>
              </a:ext>
            </a:extLst>
          </p:cNvPr>
          <p:cNvSpPr>
            <a:spLocks xmlns:a="http://schemas.openxmlformats.org/drawingml/2006/main" noGrp="1"/>
          </p:cNvSpPr>
          <p:nvPr/>
        </p:nvSpPr>
        <p:spPr>
          <a:xfrm xmlns:a="http://schemas.openxmlformats.org/drawingml/2006/main">
            <a:off x="8191500" y="39052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FCFAF6"/>
                </a:solidFill>
                <a:latin typeface="Bahnschrift"/>
                <a:ea typeface="Bahnschrift"/>
                <a:cs typeface="Bahnschrift"/>
              </a:defRPr>
            </a:pPr>
            <a:r>
              <a:rPr sz="1800" b="1" i="0">
                <a:solidFill>
                  <a:srgbClr val="FCFAF6"/>
                </a:solidFill>
                <a:latin typeface="Bahnschrift"/>
                <a:ea typeface="Bahnschrift"/>
                <a:cs typeface="Bahnschrift"/>
              </a:rPr>
              <a:t>Preferred order</a:t>
            </a:r>
          </a:p>
        </p:txBody>
      </p:sp>
      <p:sp>
        <p:nvSpPr>
          <p:cNvPr id="19" name="">
            <a:extLst xmlns:a="http://schemas.openxmlformats.org/drawingml/2006/main">
              <a:ext uri="{FF2B5EF4-FFF2-40B4-BE49-F238E27FC236}">
                <a16:creationId xmlns:a16="http://schemas.microsoft.com/office/drawing/2014/main" id="{8903BC9F-4147-4177-9FCE-A30234190B8B}"/>
              </a:ext>
            </a:extLst>
          </p:cNvPr>
          <p:cNvSpPr>
            <a:spLocks xmlns:a="http://schemas.openxmlformats.org/drawingml/2006/main" noGrp="1"/>
          </p:cNvSpPr>
          <p:nvPr/>
        </p:nvSpPr>
        <p:spPr>
          <a:xfrm xmlns:a="http://schemas.openxmlformats.org/drawingml/2006/main">
            <a:off x="8191500" y="4362450"/>
            <a:ext cx="2952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1. Full signature</a:t>
            </a:r>
          </a:p>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2. Horizontal lockup</a:t>
            </a:r>
          </a:p>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3. Wordmark</a:t>
            </a:r>
          </a:p>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4. Symbol or micro mark</a:t>
            </a:r>
          </a:p>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5. X device as supporting graphic</a:t>
            </a:r>
          </a:p>
        </p:txBody>
      </p:sp>
    </p:spTree>
    <p:extLst>
      <p:ext uri="{BB962C8B-B14F-4D97-AF65-F5344CB8AC3E}">
        <p14:creationId xmlns:p14="http://schemas.microsoft.com/office/powerpoint/2010/main" val="1313427843"/>
      </p:ext>
    </p:extLst>
  </p:cSld>
</p:sld>
</file>

<file path=ppt/slides/slide18.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77E8152-347A-44EB-9640-40A6A4D4146D}"/>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7A2F348B-4570-4C3A-A272-8A5C91AF3FFB}"/>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18</a:t>
            </a:r>
          </a:p>
        </p:txBody>
      </p:sp>
      <p:sp>
        <p:nvSpPr>
          <p:cNvPr id="3" name="">
            <a:extLst xmlns:a="http://schemas.openxmlformats.org/drawingml/2006/main">
              <a:ext uri="{FF2B5EF4-FFF2-40B4-BE49-F238E27FC236}">
                <a16:creationId xmlns:a16="http://schemas.microsoft.com/office/drawing/2014/main" id="{11C82377-BE76-4E49-B164-8D64A4E055A7}"/>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Clear space and minimum size</a:t>
            </a:r>
          </a:p>
        </p:txBody>
      </p:sp>
      <p:sp>
        <p:nvSpPr>
          <p:cNvPr id="4" name="">
            <a:extLst xmlns:a="http://schemas.openxmlformats.org/drawingml/2006/main">
              <a:ext uri="{FF2B5EF4-FFF2-40B4-BE49-F238E27FC236}">
                <a16:creationId xmlns:a16="http://schemas.microsoft.com/office/drawing/2014/main" id="{84127131-4A96-42AD-929A-DA04797BA5C6}"/>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BA9131-C7CB-447F-BB87-99CC0E7BEAD1}"/>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Give the mark room to carry authority</a:t>
            </a:r>
          </a:p>
        </p:txBody>
      </p:sp>
      <p:sp>
        <p:nvSpPr>
          <p:cNvPr id="6" name="">
            <a:extLst xmlns:a="http://schemas.openxmlformats.org/drawingml/2006/main">
              <a:ext uri="{FF2B5EF4-FFF2-40B4-BE49-F238E27FC236}">
                <a16:creationId xmlns:a16="http://schemas.microsoft.com/office/drawing/2014/main" id="{06DFB046-AAAD-4961-B372-E561A1830373}"/>
              </a:ext>
            </a:extLst>
          </p:cNvPr>
          <p:cNvSpPr>
            <a:spLocks xmlns:a="http://schemas.openxmlformats.org/drawingml/2006/main" noGrp="1"/>
          </p:cNvSpPr>
          <p:nvPr/>
        </p:nvSpPr>
        <p:spPr>
          <a:xfrm xmlns:a="http://schemas.openxmlformats.org/drawingml/2006/main">
            <a:off x="876300" y="1809750"/>
            <a:ext cx="6477000" cy="2857500"/>
          </a:xfrm>
          <a:prstGeom xmlns:a="http://schemas.openxmlformats.org/drawingml/2006/main" prst="roundRect">
            <a:avLst>
              <a:gd name="adj" fmla="val 4000"/>
            </a:avLst>
          </a:prstGeom>
          <a:solidFill xmlns:a="http://schemas.openxmlformats.org/drawingml/2006/main">
            <a:srgbClr val="F5EDDF"/>
          </a:solidFill>
          <a:ln xmlns:a="http://schemas.openxmlformats.org/drawingml/2006/main" w="9525">
            <a:solidFill>
              <a:srgbClr val="D8CCBA"/>
            </a:solidFill>
            <a:prstDash val="solid"/>
          </a:ln>
        </p:spPr>
      </p:sp>
      <p:sp>
        <p:nvSpPr>
          <p:cNvPr id="7" name="">
            <a:extLst xmlns:a="http://schemas.openxmlformats.org/drawingml/2006/main">
              <a:ext uri="{FF2B5EF4-FFF2-40B4-BE49-F238E27FC236}">
                <a16:creationId xmlns:a16="http://schemas.microsoft.com/office/drawing/2014/main" id="{A4F3250C-2A2D-45BC-B1AD-8EE70A0F3C12}"/>
              </a:ext>
            </a:extLst>
          </p:cNvPr>
          <p:cNvSpPr>
            <a:spLocks xmlns:a="http://schemas.openxmlformats.org/drawingml/2006/main" noGrp="1"/>
          </p:cNvSpPr>
          <p:nvPr/>
        </p:nvSpPr>
        <p:spPr>
          <a:xfrm xmlns:a="http://schemas.openxmlformats.org/drawingml/2006/main">
            <a:off x="1428750" y="2266950"/>
            <a:ext cx="5372100" cy="1943100"/>
          </a:xfrm>
          <a:prstGeom xmlns:a="http://schemas.openxmlformats.org/drawingml/2006/main" prst="roundRect">
            <a:avLst>
              <a:gd name="adj" fmla="val 1961"/>
            </a:avLst>
          </a:prstGeom>
          <a:noFill xmlns:a="http://schemas.openxmlformats.org/drawingml/2006/main"/>
          <a:ln xmlns:a="http://schemas.openxmlformats.org/drawingml/2006/main" w="9525">
            <a:solidFill>
              <a:srgbClr val="B8864F"/>
            </a:solidFill>
            <a:prstDash val="solid"/>
          </a:ln>
        </p:spPr>
      </p:sp>
      <p:sp>
        <p:nvSpPr>
          <p:cNvPr id="8" name="">
            <a:extLst xmlns:a="http://schemas.openxmlformats.org/drawingml/2006/main">
              <a:ext uri="{FF2B5EF4-FFF2-40B4-BE49-F238E27FC236}">
                <a16:creationId xmlns:a16="http://schemas.microsoft.com/office/drawing/2014/main" id="{1F2984AB-F453-4976-8994-31BFA48A9614}"/>
              </a:ext>
            </a:extLst>
          </p:cNvPr>
          <p:cNvSpPr>
            <a:spLocks xmlns:a="http://schemas.openxmlformats.org/drawingml/2006/main" noGrp="1"/>
          </p:cNvSpPr>
          <p:nvPr/>
        </p:nvSpPr>
        <p:spPr>
          <a:xfrm xmlns:a="http://schemas.openxmlformats.org/drawingml/2006/main">
            <a:off x="2705100" y="2800350"/>
            <a:ext cx="3810000" cy="944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5040" b="1">
                <a:solidFill>
                  <a:srgbClr val="1A1F25"/>
                </a:solidFill>
                <a:latin typeface="Bahnschrift"/>
                <a:ea typeface="Bahnschrift"/>
                <a:cs typeface="Bahnschrift"/>
              </a:rPr>
              <a:t>AvTri</a:t>
            </a:r>
            <a:r>
              <a:rPr sz="5040" b="1">
                <a:solidFill>
                  <a:srgbClr val="CBA36A"/>
                </a:solidFill>
                <a:latin typeface="Bahnschrift"/>
                <a:ea typeface="Bahnschrift"/>
                <a:cs typeface="Bahnschrift"/>
              </a:rPr>
              <a:t>X</a:t>
            </a:r>
          </a:p>
        </p:txBody>
      </p:sp>
      <p:sp>
        <p:nvSpPr>
          <p:cNvPr id="9" name="">
            <a:extLst xmlns:a="http://schemas.openxmlformats.org/drawingml/2006/main">
              <a:ext uri="{FF2B5EF4-FFF2-40B4-BE49-F238E27FC236}">
                <a16:creationId xmlns:a16="http://schemas.microsoft.com/office/drawing/2014/main" id="{4FF18471-C908-46E6-8BBF-AD0D3AE1D99A}"/>
              </a:ext>
            </a:extLst>
          </p:cNvPr>
          <p:cNvSpPr>
            <a:spLocks xmlns:a="http://schemas.openxmlformats.org/drawingml/2006/main" noGrp="1"/>
          </p:cNvSpPr>
          <p:nvPr/>
        </p:nvSpPr>
        <p:spPr>
          <a:xfrm xmlns:a="http://schemas.openxmlformats.org/drawingml/2006/main">
            <a:off x="1066800" y="302895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X</a:t>
            </a:r>
          </a:p>
        </p:txBody>
      </p:sp>
      <p:sp>
        <p:nvSpPr>
          <p:cNvPr id="10" name="">
            <a:extLst xmlns:a="http://schemas.openxmlformats.org/drawingml/2006/main">
              <a:ext uri="{FF2B5EF4-FFF2-40B4-BE49-F238E27FC236}">
                <a16:creationId xmlns:a16="http://schemas.microsoft.com/office/drawing/2014/main" id="{B94F2C69-5A5F-481B-A094-AAB0125620D8}"/>
              </a:ext>
            </a:extLst>
          </p:cNvPr>
          <p:cNvSpPr>
            <a:spLocks xmlns:a="http://schemas.openxmlformats.org/drawingml/2006/main" noGrp="1"/>
          </p:cNvSpPr>
          <p:nvPr/>
        </p:nvSpPr>
        <p:spPr>
          <a:xfrm xmlns:a="http://schemas.openxmlformats.org/drawingml/2006/main">
            <a:off x="6896100" y="302895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X</a:t>
            </a:r>
          </a:p>
        </p:txBody>
      </p:sp>
      <p:sp>
        <p:nvSpPr>
          <p:cNvPr id="11" name="">
            <a:extLst xmlns:a="http://schemas.openxmlformats.org/drawingml/2006/main">
              <a:ext uri="{FF2B5EF4-FFF2-40B4-BE49-F238E27FC236}">
                <a16:creationId xmlns:a16="http://schemas.microsoft.com/office/drawing/2014/main" id="{85C0E0D0-C8E5-46FF-B3FB-9C8099F9FE32}"/>
              </a:ext>
            </a:extLst>
          </p:cNvPr>
          <p:cNvSpPr>
            <a:spLocks xmlns:a="http://schemas.openxmlformats.org/drawingml/2006/main" noGrp="1"/>
          </p:cNvSpPr>
          <p:nvPr/>
        </p:nvSpPr>
        <p:spPr>
          <a:xfrm xmlns:a="http://schemas.openxmlformats.org/drawingml/2006/main">
            <a:off x="3962400" y="188595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X</a:t>
            </a:r>
          </a:p>
        </p:txBody>
      </p:sp>
      <p:sp>
        <p:nvSpPr>
          <p:cNvPr id="12" name="">
            <a:extLst xmlns:a="http://schemas.openxmlformats.org/drawingml/2006/main">
              <a:ext uri="{FF2B5EF4-FFF2-40B4-BE49-F238E27FC236}">
                <a16:creationId xmlns:a16="http://schemas.microsoft.com/office/drawing/2014/main" id="{CAD20C9C-577C-4849-9FAF-2828AD206A3C}"/>
              </a:ext>
            </a:extLst>
          </p:cNvPr>
          <p:cNvSpPr>
            <a:spLocks xmlns:a="http://schemas.openxmlformats.org/drawingml/2006/main" noGrp="1"/>
          </p:cNvSpPr>
          <p:nvPr/>
        </p:nvSpPr>
        <p:spPr>
          <a:xfrm xmlns:a="http://schemas.openxmlformats.org/drawingml/2006/main">
            <a:off x="3962400" y="4267200"/>
            <a:ext cx="30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B8864F"/>
                </a:solidFill>
                <a:latin typeface="Bahnschrift"/>
                <a:ea typeface="Bahnschrift"/>
                <a:cs typeface="Bahnschrift"/>
              </a:defRPr>
            </a:pPr>
            <a:r>
              <a:rPr sz="1800" b="1" i="0">
                <a:solidFill>
                  <a:srgbClr val="B8864F"/>
                </a:solidFill>
                <a:latin typeface="Bahnschrift"/>
                <a:ea typeface="Bahnschrift"/>
                <a:cs typeface="Bahnschrift"/>
              </a:rPr>
              <a:t>X</a:t>
            </a:r>
          </a:p>
        </p:txBody>
      </p:sp>
      <p:sp>
        <p:nvSpPr>
          <p:cNvPr id="13" name="">
            <a:extLst xmlns:a="http://schemas.openxmlformats.org/drawingml/2006/main">
              <a:ext uri="{FF2B5EF4-FFF2-40B4-BE49-F238E27FC236}">
                <a16:creationId xmlns:a16="http://schemas.microsoft.com/office/drawing/2014/main" id="{F6A5EF92-2B32-4244-90A3-EFE6080572D0}"/>
              </a:ext>
            </a:extLst>
          </p:cNvPr>
          <p:cNvSpPr>
            <a:spLocks xmlns:a="http://schemas.openxmlformats.org/drawingml/2006/main" noGrp="1"/>
          </p:cNvSpPr>
          <p:nvPr/>
        </p:nvSpPr>
        <p:spPr>
          <a:xfrm xmlns:a="http://schemas.openxmlformats.org/drawingml/2006/main">
            <a:off x="876300" y="4953000"/>
            <a:ext cx="647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Use the cap height of the wordmark X as the minimum clear space on every side.</a:t>
            </a:r>
          </a:p>
        </p:txBody>
      </p:sp>
      <p:sp>
        <p:nvSpPr>
          <p:cNvPr id="14" name="">
            <a:extLst xmlns:a="http://schemas.openxmlformats.org/drawingml/2006/main">
              <a:ext uri="{FF2B5EF4-FFF2-40B4-BE49-F238E27FC236}">
                <a16:creationId xmlns:a16="http://schemas.microsoft.com/office/drawing/2014/main" id="{2F7BB3A1-1ABC-484F-A54E-B945AB528641}"/>
              </a:ext>
            </a:extLst>
          </p:cNvPr>
          <p:cNvSpPr>
            <a:spLocks xmlns:a="http://schemas.openxmlformats.org/drawingml/2006/main" noGrp="1"/>
          </p:cNvSpPr>
          <p:nvPr/>
        </p:nvSpPr>
        <p:spPr>
          <a:xfrm xmlns:a="http://schemas.openxmlformats.org/drawingml/2006/main">
            <a:off x="8096250" y="18288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MINIMUM SIZES</a:t>
            </a:r>
          </a:p>
        </p:txBody>
      </p:sp>
      <p:sp>
        <p:nvSpPr>
          <p:cNvPr id="15" name="">
            <a:extLst xmlns:a="http://schemas.openxmlformats.org/drawingml/2006/main">
              <a:ext uri="{FF2B5EF4-FFF2-40B4-BE49-F238E27FC236}">
                <a16:creationId xmlns:a16="http://schemas.microsoft.com/office/drawing/2014/main" id="{7B5564B4-5B63-4AF7-A462-F8609DA520D7}"/>
              </a:ext>
            </a:extLst>
          </p:cNvPr>
          <p:cNvSpPr>
            <a:spLocks xmlns:a="http://schemas.openxmlformats.org/drawingml/2006/main" noGrp="1"/>
          </p:cNvSpPr>
          <p:nvPr/>
        </p:nvSpPr>
        <p:spPr>
          <a:xfrm xmlns:a="http://schemas.openxmlformats.org/drawingml/2006/main">
            <a:off x="8096250" y="23241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PRINT</a:t>
            </a:r>
          </a:p>
        </p:txBody>
      </p:sp>
      <p:sp>
        <p:nvSpPr>
          <p:cNvPr id="16" name="">
            <a:extLst xmlns:a="http://schemas.openxmlformats.org/drawingml/2006/main">
              <a:ext uri="{FF2B5EF4-FFF2-40B4-BE49-F238E27FC236}">
                <a16:creationId xmlns:a16="http://schemas.microsoft.com/office/drawing/2014/main" id="{A4E675EB-4607-43A1-A140-3ADBEDCD3764}"/>
              </a:ext>
            </a:extLst>
          </p:cNvPr>
          <p:cNvSpPr>
            <a:spLocks xmlns:a="http://schemas.openxmlformats.org/drawingml/2006/main" noGrp="1"/>
          </p:cNvSpPr>
          <p:nvPr/>
        </p:nvSpPr>
        <p:spPr>
          <a:xfrm xmlns:a="http://schemas.openxmlformats.org/drawingml/2006/main">
            <a:off x="8096250" y="2609850"/>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Full signature  35 mm</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Wordmark  24 mm</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Micro mark  8 mm</a:t>
            </a:r>
          </a:p>
        </p:txBody>
      </p:sp>
      <p:sp>
        <p:nvSpPr>
          <p:cNvPr id="17" name="">
            <a:extLst xmlns:a="http://schemas.openxmlformats.org/drawingml/2006/main">
              <a:ext uri="{FF2B5EF4-FFF2-40B4-BE49-F238E27FC236}">
                <a16:creationId xmlns:a16="http://schemas.microsoft.com/office/drawing/2014/main" id="{71352707-36AC-47C8-BFC2-BD9B8ABFE10E}"/>
              </a:ext>
            </a:extLst>
          </p:cNvPr>
          <p:cNvSpPr>
            <a:spLocks xmlns:a="http://schemas.openxmlformats.org/drawingml/2006/main" noGrp="1"/>
          </p:cNvSpPr>
          <p:nvPr/>
        </p:nvSpPr>
        <p:spPr>
          <a:xfrm xmlns:a="http://schemas.openxmlformats.org/drawingml/2006/main">
            <a:off x="8096250" y="38290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DIGITAL</a:t>
            </a:r>
          </a:p>
        </p:txBody>
      </p:sp>
      <p:sp>
        <p:nvSpPr>
          <p:cNvPr id="18" name="">
            <a:extLst xmlns:a="http://schemas.openxmlformats.org/drawingml/2006/main">
              <a:ext uri="{FF2B5EF4-FFF2-40B4-BE49-F238E27FC236}">
                <a16:creationId xmlns:a16="http://schemas.microsoft.com/office/drawing/2014/main" id="{9714FC40-9408-4B0A-A615-7CDC764B256C}"/>
              </a:ext>
            </a:extLst>
          </p:cNvPr>
          <p:cNvSpPr>
            <a:spLocks xmlns:a="http://schemas.openxmlformats.org/drawingml/2006/main" noGrp="1"/>
          </p:cNvSpPr>
          <p:nvPr/>
        </p:nvSpPr>
        <p:spPr>
          <a:xfrm xmlns:a="http://schemas.openxmlformats.org/drawingml/2006/main">
            <a:off x="8096250" y="4114800"/>
            <a:ext cx="304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Full signature  180 px</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Wordmark  120 px</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Micro mark  24 px</a:t>
            </a:r>
          </a:p>
        </p:txBody>
      </p:sp>
      <p:sp>
        <p:nvSpPr>
          <p:cNvPr id="19" name="">
            <a:extLst xmlns:a="http://schemas.openxmlformats.org/drawingml/2006/main">
              <a:ext uri="{FF2B5EF4-FFF2-40B4-BE49-F238E27FC236}">
                <a16:creationId xmlns:a16="http://schemas.microsoft.com/office/drawing/2014/main" id="{AC737E91-FB12-4397-BE79-08B988D866E8}"/>
              </a:ext>
            </a:extLst>
          </p:cNvPr>
          <p:cNvSpPr>
            <a:spLocks xmlns:a="http://schemas.openxmlformats.org/drawingml/2006/main" noGrp="1"/>
          </p:cNvSpPr>
          <p:nvPr/>
        </p:nvSpPr>
        <p:spPr>
          <a:xfrm xmlns:a="http://schemas.openxmlformats.org/drawingml/2006/main">
            <a:off x="8096250" y="521970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6C737A"/>
                </a:solidFill>
                <a:latin typeface="Bahnschrift"/>
                <a:ea typeface="Bahnschrift"/>
                <a:cs typeface="Bahnschrift"/>
              </a:defRPr>
            </a:pPr>
            <a:r>
              <a:rPr sz="1200" b="0" i="0">
                <a:solidFill>
                  <a:srgbClr val="6C737A"/>
                </a:solidFill>
                <a:latin typeface="Bahnschrift"/>
                <a:ea typeface="Bahnschrift"/>
                <a:cs typeface="Bahnschrift"/>
              </a:rPr>
              <a:t>Final thresholds must be confirmed against the vector masters and small-size optical tests.</a:t>
            </a:r>
          </a:p>
        </p:txBody>
      </p:sp>
    </p:spTree>
    <p:extLst>
      <p:ext uri="{BB962C8B-B14F-4D97-AF65-F5344CB8AC3E}">
        <p14:creationId xmlns:p14="http://schemas.microsoft.com/office/powerpoint/2010/main" val="407510195"/>
      </p:ext>
    </p:extLst>
  </p:cSld>
</p:sld>
</file>

<file path=ppt/slides/slide19.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F63741-36EC-4424-91B4-94F01308396C}"/>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D65018BE-13B5-40F3-83DD-76C173340F71}"/>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19</a:t>
            </a:r>
          </a:p>
        </p:txBody>
      </p:sp>
      <p:sp>
        <p:nvSpPr>
          <p:cNvPr id="3" name="">
            <a:extLst xmlns:a="http://schemas.openxmlformats.org/drawingml/2006/main">
              <a:ext uri="{FF2B5EF4-FFF2-40B4-BE49-F238E27FC236}">
                <a16:creationId xmlns:a16="http://schemas.microsoft.com/office/drawing/2014/main" id="{73FCA932-B5A3-4064-8EBC-7F77160AA9B6}"/>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Core colour palette</a:t>
            </a:r>
          </a:p>
        </p:txBody>
      </p:sp>
      <p:sp>
        <p:nvSpPr>
          <p:cNvPr id="4" name="">
            <a:extLst xmlns:a="http://schemas.openxmlformats.org/drawingml/2006/main">
              <a:ext uri="{FF2B5EF4-FFF2-40B4-BE49-F238E27FC236}">
                <a16:creationId xmlns:a16="http://schemas.microsoft.com/office/drawing/2014/main" id="{E0941248-3F1A-4669-93A4-F990C1320D6F}"/>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272969-495C-4B85-8981-B39CCA2A2290}"/>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Navy carries authority. Copper reveals value. Cream gives space.</a:t>
            </a:r>
          </a:p>
        </p:txBody>
      </p:sp>
      <p:sp>
        <p:nvSpPr>
          <p:cNvPr id="6" name="">
            <a:extLst xmlns:a="http://schemas.openxmlformats.org/drawingml/2006/main">
              <a:ext uri="{FF2B5EF4-FFF2-40B4-BE49-F238E27FC236}">
                <a16:creationId xmlns:a16="http://schemas.microsoft.com/office/drawing/2014/main" id="{50B21F28-8247-46AD-ADFB-E03B2D281094}"/>
              </a:ext>
            </a:extLst>
          </p:cNvPr>
          <p:cNvSpPr>
            <a:spLocks xmlns:a="http://schemas.openxmlformats.org/drawingml/2006/main" noGrp="1"/>
          </p:cNvSpPr>
          <p:nvPr/>
        </p:nvSpPr>
        <p:spPr>
          <a:xfrm xmlns:a="http://schemas.openxmlformats.org/drawingml/2006/main">
            <a:off x="666750" y="1733550"/>
            <a:ext cx="1924050" cy="2781300"/>
          </a:xfrm>
          <a:prstGeom xmlns:a="http://schemas.openxmlformats.org/drawingml/2006/main" prst="roundRect">
            <a:avLst>
              <a:gd name="adj" fmla="val 5941"/>
            </a:avLst>
          </a:prstGeom>
          <a:solidFill xmlns:a="http://schemas.openxmlformats.org/drawingml/2006/main">
            <a:srgbClr val="1A1F2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2F5701-F30E-49A8-A783-36A58C215B30}"/>
              </a:ext>
            </a:extLst>
          </p:cNvPr>
          <p:cNvSpPr>
            <a:spLocks xmlns:a="http://schemas.openxmlformats.org/drawingml/2006/main" noGrp="1"/>
          </p:cNvSpPr>
          <p:nvPr/>
        </p:nvSpPr>
        <p:spPr>
          <a:xfrm xmlns:a="http://schemas.openxmlformats.org/drawingml/2006/main">
            <a:off x="838200" y="47244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A1F25"/>
                </a:solidFill>
                <a:latin typeface="Bahnschrift"/>
                <a:ea typeface="Bahnschrift"/>
                <a:cs typeface="Bahnschrift"/>
              </a:defRPr>
            </a:pPr>
            <a:r>
              <a:rPr sz="1500" b="1" i="0">
                <a:solidFill>
                  <a:srgbClr val="1A1F25"/>
                </a:solidFill>
                <a:latin typeface="Bahnschrift"/>
                <a:ea typeface="Bahnschrift"/>
                <a:cs typeface="Bahnschrift"/>
              </a:rPr>
              <a:t>AvTrix Navy</a:t>
            </a:r>
          </a:p>
        </p:txBody>
      </p:sp>
      <p:sp>
        <p:nvSpPr>
          <p:cNvPr id="8" name="">
            <a:extLst xmlns:a="http://schemas.openxmlformats.org/drawingml/2006/main">
              <a:ext uri="{FF2B5EF4-FFF2-40B4-BE49-F238E27FC236}">
                <a16:creationId xmlns:a16="http://schemas.microsoft.com/office/drawing/2014/main" id="{354F3C76-D83F-4EA5-BD4F-8E81E786E978}"/>
              </a:ext>
            </a:extLst>
          </p:cNvPr>
          <p:cNvSpPr>
            <a:spLocks xmlns:a="http://schemas.openxmlformats.org/drawingml/2006/main" noGrp="1"/>
          </p:cNvSpPr>
          <p:nvPr/>
        </p:nvSpPr>
        <p:spPr>
          <a:xfrm xmlns:a="http://schemas.openxmlformats.org/drawingml/2006/main">
            <a:off x="838200" y="51054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#1A1F25</a:t>
            </a:r>
          </a:p>
        </p:txBody>
      </p:sp>
      <p:sp>
        <p:nvSpPr>
          <p:cNvPr id="9" name="">
            <a:extLst xmlns:a="http://schemas.openxmlformats.org/drawingml/2006/main">
              <a:ext uri="{FF2B5EF4-FFF2-40B4-BE49-F238E27FC236}">
                <a16:creationId xmlns:a16="http://schemas.microsoft.com/office/drawing/2014/main" id="{5ADA528F-8001-4867-8F79-3E31E0AC8B5E}"/>
              </a:ext>
            </a:extLst>
          </p:cNvPr>
          <p:cNvSpPr>
            <a:spLocks xmlns:a="http://schemas.openxmlformats.org/drawingml/2006/main" noGrp="1"/>
          </p:cNvSpPr>
          <p:nvPr/>
        </p:nvSpPr>
        <p:spPr>
          <a:xfrm xmlns:a="http://schemas.openxmlformats.org/drawingml/2006/main">
            <a:off x="2819400" y="1733550"/>
            <a:ext cx="1924050" cy="2781300"/>
          </a:xfrm>
          <a:prstGeom xmlns:a="http://schemas.openxmlformats.org/drawingml/2006/main" prst="roundRect">
            <a:avLst>
              <a:gd name="adj" fmla="val 5941"/>
            </a:avLst>
          </a:prstGeom>
          <a:solidFill xmlns:a="http://schemas.openxmlformats.org/drawingml/2006/main">
            <a:srgbClr val="B886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A3030E-B7B9-4B2C-BED8-5E2ED3D6C58C}"/>
              </a:ext>
            </a:extLst>
          </p:cNvPr>
          <p:cNvSpPr>
            <a:spLocks xmlns:a="http://schemas.openxmlformats.org/drawingml/2006/main" noGrp="1"/>
          </p:cNvSpPr>
          <p:nvPr/>
        </p:nvSpPr>
        <p:spPr>
          <a:xfrm xmlns:a="http://schemas.openxmlformats.org/drawingml/2006/main">
            <a:off x="2990850" y="47244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A1F25"/>
                </a:solidFill>
                <a:latin typeface="Bahnschrift"/>
                <a:ea typeface="Bahnschrift"/>
                <a:cs typeface="Bahnschrift"/>
              </a:defRPr>
            </a:pPr>
            <a:r>
              <a:rPr sz="1500" b="1" i="0">
                <a:solidFill>
                  <a:srgbClr val="1A1F25"/>
                </a:solidFill>
                <a:latin typeface="Bahnschrift"/>
                <a:ea typeface="Bahnschrift"/>
                <a:cs typeface="Bahnschrift"/>
              </a:rPr>
              <a:t>Heritage Copper</a:t>
            </a:r>
          </a:p>
        </p:txBody>
      </p:sp>
      <p:sp>
        <p:nvSpPr>
          <p:cNvPr id="11" name="">
            <a:extLst xmlns:a="http://schemas.openxmlformats.org/drawingml/2006/main">
              <a:ext uri="{FF2B5EF4-FFF2-40B4-BE49-F238E27FC236}">
                <a16:creationId xmlns:a16="http://schemas.microsoft.com/office/drawing/2014/main" id="{C7B0DF17-E9A1-46A0-92F3-1730208BF729}"/>
              </a:ext>
            </a:extLst>
          </p:cNvPr>
          <p:cNvSpPr>
            <a:spLocks xmlns:a="http://schemas.openxmlformats.org/drawingml/2006/main" noGrp="1"/>
          </p:cNvSpPr>
          <p:nvPr/>
        </p:nvSpPr>
        <p:spPr>
          <a:xfrm xmlns:a="http://schemas.openxmlformats.org/drawingml/2006/main">
            <a:off x="2990850" y="51054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#B8864F</a:t>
            </a:r>
          </a:p>
        </p:txBody>
      </p:sp>
      <p:sp>
        <p:nvSpPr>
          <p:cNvPr id="12" name="">
            <a:extLst xmlns:a="http://schemas.openxmlformats.org/drawingml/2006/main">
              <a:ext uri="{FF2B5EF4-FFF2-40B4-BE49-F238E27FC236}">
                <a16:creationId xmlns:a16="http://schemas.microsoft.com/office/drawing/2014/main" id="{601F47E2-787B-49E1-9A76-5D36AA3994CA}"/>
              </a:ext>
            </a:extLst>
          </p:cNvPr>
          <p:cNvSpPr>
            <a:spLocks xmlns:a="http://schemas.openxmlformats.org/drawingml/2006/main" noGrp="1"/>
          </p:cNvSpPr>
          <p:nvPr/>
        </p:nvSpPr>
        <p:spPr>
          <a:xfrm xmlns:a="http://schemas.openxmlformats.org/drawingml/2006/main">
            <a:off x="4972050" y="1733550"/>
            <a:ext cx="1924050" cy="2781300"/>
          </a:xfrm>
          <a:prstGeom xmlns:a="http://schemas.openxmlformats.org/drawingml/2006/main" prst="roundRect">
            <a:avLst>
              <a:gd name="adj" fmla="val 5941"/>
            </a:avLst>
          </a:prstGeom>
          <a:solidFill xmlns:a="http://schemas.openxmlformats.org/drawingml/2006/main">
            <a:srgbClr val="CBA36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A5E75F-5761-4EA8-8A27-34FC997C646C}"/>
              </a:ext>
            </a:extLst>
          </p:cNvPr>
          <p:cNvSpPr>
            <a:spLocks xmlns:a="http://schemas.openxmlformats.org/drawingml/2006/main" noGrp="1"/>
          </p:cNvSpPr>
          <p:nvPr/>
        </p:nvSpPr>
        <p:spPr>
          <a:xfrm xmlns:a="http://schemas.openxmlformats.org/drawingml/2006/main">
            <a:off x="5143500" y="47244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A1F25"/>
                </a:solidFill>
                <a:latin typeface="Bahnschrift"/>
                <a:ea typeface="Bahnschrift"/>
                <a:cs typeface="Bahnschrift"/>
              </a:defRPr>
            </a:pPr>
            <a:r>
              <a:rPr sz="1500" b="1" i="0">
                <a:solidFill>
                  <a:srgbClr val="1A1F25"/>
                </a:solidFill>
                <a:latin typeface="Bahnschrift"/>
                <a:ea typeface="Bahnschrift"/>
                <a:cs typeface="Bahnschrift"/>
              </a:rPr>
              <a:t>Aviatrix Copper</a:t>
            </a:r>
          </a:p>
        </p:txBody>
      </p:sp>
      <p:sp>
        <p:nvSpPr>
          <p:cNvPr id="14" name="">
            <a:extLst xmlns:a="http://schemas.openxmlformats.org/drawingml/2006/main">
              <a:ext uri="{FF2B5EF4-FFF2-40B4-BE49-F238E27FC236}">
                <a16:creationId xmlns:a16="http://schemas.microsoft.com/office/drawing/2014/main" id="{403885C1-E09D-4905-AE2A-2DB0BEA90C62}"/>
              </a:ext>
            </a:extLst>
          </p:cNvPr>
          <p:cNvSpPr>
            <a:spLocks xmlns:a="http://schemas.openxmlformats.org/drawingml/2006/main" noGrp="1"/>
          </p:cNvSpPr>
          <p:nvPr/>
        </p:nvSpPr>
        <p:spPr>
          <a:xfrm xmlns:a="http://schemas.openxmlformats.org/drawingml/2006/main">
            <a:off x="5143500" y="51054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#CBA36A</a:t>
            </a:r>
          </a:p>
        </p:txBody>
      </p:sp>
      <p:sp>
        <p:nvSpPr>
          <p:cNvPr id="15" name="">
            <a:extLst xmlns:a="http://schemas.openxmlformats.org/drawingml/2006/main">
              <a:ext uri="{FF2B5EF4-FFF2-40B4-BE49-F238E27FC236}">
                <a16:creationId xmlns:a16="http://schemas.microsoft.com/office/drawing/2014/main" id="{F9952289-F7ED-4AE7-8215-BA717FFFF97E}"/>
              </a:ext>
            </a:extLst>
          </p:cNvPr>
          <p:cNvSpPr>
            <a:spLocks xmlns:a="http://schemas.openxmlformats.org/drawingml/2006/main" noGrp="1"/>
          </p:cNvSpPr>
          <p:nvPr/>
        </p:nvSpPr>
        <p:spPr>
          <a:xfrm xmlns:a="http://schemas.openxmlformats.org/drawingml/2006/main">
            <a:off x="7124700" y="1733550"/>
            <a:ext cx="1924050" cy="2781300"/>
          </a:xfrm>
          <a:prstGeom xmlns:a="http://schemas.openxmlformats.org/drawingml/2006/main" prst="roundRect">
            <a:avLst>
              <a:gd name="adj" fmla="val 5941"/>
            </a:avLst>
          </a:prstGeom>
          <a:solidFill xmlns:a="http://schemas.openxmlformats.org/drawingml/2006/main">
            <a:srgbClr val="FCFAF6"/>
          </a:solidFill>
          <a:ln xmlns:a="http://schemas.openxmlformats.org/drawingml/2006/main" w="9525">
            <a:solidFill>
              <a:srgbClr val="D8CCBA"/>
            </a:solidFill>
            <a:prstDash val="solid"/>
          </a:ln>
        </p:spPr>
      </p:sp>
      <p:sp>
        <p:nvSpPr>
          <p:cNvPr id="16" name="">
            <a:extLst xmlns:a="http://schemas.openxmlformats.org/drawingml/2006/main">
              <a:ext uri="{FF2B5EF4-FFF2-40B4-BE49-F238E27FC236}">
                <a16:creationId xmlns:a16="http://schemas.microsoft.com/office/drawing/2014/main" id="{D11425CC-4CB8-4E9A-AA9F-9D9E2A1150A3}"/>
              </a:ext>
            </a:extLst>
          </p:cNvPr>
          <p:cNvSpPr>
            <a:spLocks xmlns:a="http://schemas.openxmlformats.org/drawingml/2006/main" noGrp="1"/>
          </p:cNvSpPr>
          <p:nvPr/>
        </p:nvSpPr>
        <p:spPr>
          <a:xfrm xmlns:a="http://schemas.openxmlformats.org/drawingml/2006/main">
            <a:off x="7296150" y="47244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A1F25"/>
                </a:solidFill>
                <a:latin typeface="Bahnschrift"/>
                <a:ea typeface="Bahnschrift"/>
                <a:cs typeface="Bahnschrift"/>
              </a:defRPr>
            </a:pPr>
            <a:r>
              <a:rPr sz="1500" b="1" i="0">
                <a:solidFill>
                  <a:srgbClr val="1A1F25"/>
                </a:solidFill>
                <a:latin typeface="Bahnschrift"/>
                <a:ea typeface="Bahnschrift"/>
                <a:cs typeface="Bahnschrift"/>
              </a:rPr>
              <a:t>Signal Cream</a:t>
            </a:r>
          </a:p>
        </p:txBody>
      </p:sp>
      <p:sp>
        <p:nvSpPr>
          <p:cNvPr id="17" name="">
            <a:extLst xmlns:a="http://schemas.openxmlformats.org/drawingml/2006/main">
              <a:ext uri="{FF2B5EF4-FFF2-40B4-BE49-F238E27FC236}">
                <a16:creationId xmlns:a16="http://schemas.microsoft.com/office/drawing/2014/main" id="{0FCBF56A-C70C-4B47-9A8B-89916177A48A}"/>
              </a:ext>
            </a:extLst>
          </p:cNvPr>
          <p:cNvSpPr>
            <a:spLocks xmlns:a="http://schemas.openxmlformats.org/drawingml/2006/main" noGrp="1"/>
          </p:cNvSpPr>
          <p:nvPr/>
        </p:nvSpPr>
        <p:spPr>
          <a:xfrm xmlns:a="http://schemas.openxmlformats.org/drawingml/2006/main">
            <a:off x="7296150" y="51054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#FCFAF6</a:t>
            </a:r>
          </a:p>
        </p:txBody>
      </p:sp>
      <p:sp>
        <p:nvSpPr>
          <p:cNvPr id="18" name="">
            <a:extLst xmlns:a="http://schemas.openxmlformats.org/drawingml/2006/main">
              <a:ext uri="{FF2B5EF4-FFF2-40B4-BE49-F238E27FC236}">
                <a16:creationId xmlns:a16="http://schemas.microsoft.com/office/drawing/2014/main" id="{1F8A0282-0B2B-4B22-849C-3EA9E707D496}"/>
              </a:ext>
            </a:extLst>
          </p:cNvPr>
          <p:cNvSpPr>
            <a:spLocks xmlns:a="http://schemas.openxmlformats.org/drawingml/2006/main" noGrp="1"/>
          </p:cNvSpPr>
          <p:nvPr/>
        </p:nvSpPr>
        <p:spPr>
          <a:xfrm xmlns:a="http://schemas.openxmlformats.org/drawingml/2006/main">
            <a:off x="9277350" y="1733550"/>
            <a:ext cx="1924050" cy="2781300"/>
          </a:xfrm>
          <a:prstGeom xmlns:a="http://schemas.openxmlformats.org/drawingml/2006/main" prst="roundRect">
            <a:avLst>
              <a:gd name="adj" fmla="val 5941"/>
            </a:avLst>
          </a:prstGeom>
          <a:solidFill xmlns:a="http://schemas.openxmlformats.org/drawingml/2006/main">
            <a:srgbClr val="F5ED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FFCCA66-6CE5-4597-8433-C7E8323138B9}"/>
              </a:ext>
            </a:extLst>
          </p:cNvPr>
          <p:cNvSpPr>
            <a:spLocks xmlns:a="http://schemas.openxmlformats.org/drawingml/2006/main" noGrp="1"/>
          </p:cNvSpPr>
          <p:nvPr/>
        </p:nvSpPr>
        <p:spPr>
          <a:xfrm xmlns:a="http://schemas.openxmlformats.org/drawingml/2006/main">
            <a:off x="9448800" y="47244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1A1F25"/>
                </a:solidFill>
                <a:latin typeface="Bahnschrift"/>
                <a:ea typeface="Bahnschrift"/>
                <a:cs typeface="Bahnschrift"/>
              </a:defRPr>
            </a:pPr>
            <a:r>
              <a:rPr sz="1500" b="1" i="0">
                <a:solidFill>
                  <a:srgbClr val="1A1F25"/>
                </a:solidFill>
                <a:latin typeface="Bahnschrift"/>
                <a:ea typeface="Bahnschrift"/>
                <a:cs typeface="Bahnschrift"/>
              </a:rPr>
              <a:t>Engineering Sand</a:t>
            </a:r>
          </a:p>
        </p:txBody>
      </p:sp>
      <p:sp>
        <p:nvSpPr>
          <p:cNvPr id="20" name="">
            <a:extLst xmlns:a="http://schemas.openxmlformats.org/drawingml/2006/main">
              <a:ext uri="{FF2B5EF4-FFF2-40B4-BE49-F238E27FC236}">
                <a16:creationId xmlns:a16="http://schemas.microsoft.com/office/drawing/2014/main" id="{0FAEFC35-767A-409C-85A4-B8D769834F86}"/>
              </a:ext>
            </a:extLst>
          </p:cNvPr>
          <p:cNvSpPr>
            <a:spLocks xmlns:a="http://schemas.openxmlformats.org/drawingml/2006/main" noGrp="1"/>
          </p:cNvSpPr>
          <p:nvPr/>
        </p:nvSpPr>
        <p:spPr>
          <a:xfrm xmlns:a="http://schemas.openxmlformats.org/drawingml/2006/main">
            <a:off x="9448800" y="51054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6C737A"/>
                </a:solidFill>
                <a:latin typeface="Bahnschrift"/>
                <a:ea typeface="Bahnschrift"/>
                <a:cs typeface="Bahnschrift"/>
              </a:defRPr>
            </a:pPr>
            <a:r>
              <a:rPr sz="1275" b="0" i="0">
                <a:solidFill>
                  <a:srgbClr val="6C737A"/>
                </a:solidFill>
                <a:latin typeface="Bahnschrift"/>
                <a:ea typeface="Bahnschrift"/>
                <a:cs typeface="Bahnschrift"/>
              </a:rPr>
              <a:t>#F5EDDF</a:t>
            </a:r>
          </a:p>
        </p:txBody>
      </p:sp>
      <p:sp>
        <p:nvSpPr>
          <p:cNvPr id="21" name="">
            <a:extLst xmlns:a="http://schemas.openxmlformats.org/drawingml/2006/main">
              <a:ext uri="{FF2B5EF4-FFF2-40B4-BE49-F238E27FC236}">
                <a16:creationId xmlns:a16="http://schemas.microsoft.com/office/drawing/2014/main" id="{CF1C107C-CC60-402D-8677-B5E48A9E4B66}"/>
              </a:ext>
            </a:extLst>
          </p:cNvPr>
          <p:cNvSpPr>
            <a:spLocks xmlns:a="http://schemas.openxmlformats.org/drawingml/2006/main" noGrp="1"/>
          </p:cNvSpPr>
          <p:nvPr/>
        </p:nvSpPr>
        <p:spPr>
          <a:xfrm xmlns:a="http://schemas.openxmlformats.org/drawingml/2006/main">
            <a:off x="666750" y="57721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B8864F"/>
                </a:solidFill>
                <a:latin typeface="Bahnschrift"/>
                <a:ea typeface="Bahnschrift"/>
                <a:cs typeface="Bahnschrift"/>
              </a:defRPr>
            </a:pPr>
            <a:r>
              <a:rPr sz="1200" b="1" i="0">
                <a:solidFill>
                  <a:srgbClr val="B8864F"/>
                </a:solidFill>
                <a:latin typeface="Bahnschrift"/>
                <a:ea typeface="Bahnschrift"/>
                <a:cs typeface="Bahnschrift"/>
              </a:rPr>
              <a:t>Recommended balance</a:t>
            </a:r>
          </a:p>
        </p:txBody>
      </p:sp>
      <p:sp>
        <p:nvSpPr>
          <p:cNvPr id="22" name="">
            <a:extLst xmlns:a="http://schemas.openxmlformats.org/drawingml/2006/main">
              <a:ext uri="{FF2B5EF4-FFF2-40B4-BE49-F238E27FC236}">
                <a16:creationId xmlns:a16="http://schemas.microsoft.com/office/drawing/2014/main" id="{92BC198D-E916-4865-B186-0715BA7FD84F}"/>
              </a:ext>
            </a:extLst>
          </p:cNvPr>
          <p:cNvSpPr>
            <a:spLocks xmlns:a="http://schemas.openxmlformats.org/drawingml/2006/main" noGrp="1"/>
          </p:cNvSpPr>
          <p:nvPr/>
        </p:nvSpPr>
        <p:spPr>
          <a:xfrm xmlns:a="http://schemas.openxmlformats.org/drawingml/2006/main">
            <a:off x="2781300" y="5743575"/>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i="0">
                <a:solidFill>
                  <a:srgbClr val="1A1F25"/>
                </a:solidFill>
                <a:latin typeface="Bahnschrift"/>
                <a:ea typeface="Bahnschrift"/>
                <a:cs typeface="Bahnschrift"/>
              </a:defRPr>
            </a:pPr>
            <a:r>
              <a:rPr sz="1425" b="0" i="0">
                <a:solidFill>
                  <a:srgbClr val="1A1F25"/>
                </a:solidFill>
                <a:latin typeface="Bahnschrift"/>
                <a:ea typeface="Bahnschrift"/>
                <a:cs typeface="Bahnschrift"/>
              </a:rPr>
              <a:t>60% navy  /  25% cream and sand  /  10% white space  /  5% copper emphasis</a:t>
            </a:r>
          </a:p>
        </p:txBody>
      </p:sp>
    </p:spTree>
    <p:extLst>
      <p:ext uri="{BB962C8B-B14F-4D97-AF65-F5344CB8AC3E}">
        <p14:creationId xmlns:p14="http://schemas.microsoft.com/office/powerpoint/2010/main" val="1262972217"/>
      </p:ext>
    </p:extLst>
  </p:cSld>
</p:sld>
</file>

<file path=ppt/slides/slide20.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1C012CE-F0EF-439C-9529-47FD44B225FD}"/>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B512180E-570C-4731-B0DC-2921B3C5648B}"/>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20</a:t>
            </a:r>
          </a:p>
        </p:txBody>
      </p:sp>
      <p:sp>
        <p:nvSpPr>
          <p:cNvPr id="3" name="">
            <a:extLst xmlns:a="http://schemas.openxmlformats.org/drawingml/2006/main">
              <a:ext uri="{FF2B5EF4-FFF2-40B4-BE49-F238E27FC236}">
                <a16:creationId xmlns:a16="http://schemas.microsoft.com/office/drawing/2014/main" id="{889934C9-6CDB-42D7-9DEC-FAC379F46357}"/>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Approved gradients</a:t>
            </a:r>
          </a:p>
        </p:txBody>
      </p:sp>
      <p:sp>
        <p:nvSpPr>
          <p:cNvPr id="4" name="">
            <a:extLst xmlns:a="http://schemas.openxmlformats.org/drawingml/2006/main">
              <a:ext uri="{FF2B5EF4-FFF2-40B4-BE49-F238E27FC236}">
                <a16:creationId xmlns:a16="http://schemas.microsoft.com/office/drawing/2014/main" id="{8C7B4D40-324C-4DF4-9DD5-FC3DB793E371}"/>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DD8172-5558-4F1F-AD09-991C5BCCE298}"/>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Use gradients as light and depth, never as decoration</a:t>
            </a:r>
          </a:p>
        </p:txBody>
      </p:sp>
      <p:sp>
        <p:nvSpPr>
          <p:cNvPr id="6" name="">
            <a:extLst xmlns:a="http://schemas.openxmlformats.org/drawingml/2006/main">
              <a:ext uri="{FF2B5EF4-FFF2-40B4-BE49-F238E27FC236}">
                <a16:creationId xmlns:a16="http://schemas.microsoft.com/office/drawing/2014/main" id="{680E31B7-7062-4D7C-9ADF-ED11B5406970}"/>
              </a:ext>
            </a:extLst>
          </p:cNvPr>
          <p:cNvSpPr>
            <a:spLocks xmlns:a="http://schemas.openxmlformats.org/drawingml/2006/main" noGrp="1"/>
          </p:cNvSpPr>
          <p:nvPr/>
        </p:nvSpPr>
        <p:spPr>
          <a:xfrm xmlns:a="http://schemas.openxmlformats.org/drawingml/2006/main">
            <a:off x="685800" y="17526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Copper beam</a:t>
            </a:r>
          </a:p>
        </p:txBody>
      </p:sp>
      <p:sp>
        <p:nvSpPr>
          <p:cNvPr id="7" name="">
            <a:extLst xmlns:a="http://schemas.openxmlformats.org/drawingml/2006/main">
              <a:ext uri="{FF2B5EF4-FFF2-40B4-BE49-F238E27FC236}">
                <a16:creationId xmlns:a16="http://schemas.microsoft.com/office/drawing/2014/main" id="{13E855B1-0CD7-48DE-AE0E-7A66B80DA2BB}"/>
              </a:ext>
            </a:extLst>
          </p:cNvPr>
          <p:cNvSpPr>
            <a:spLocks xmlns:a="http://schemas.openxmlformats.org/drawingml/2006/main" noGrp="1"/>
          </p:cNvSpPr>
          <p:nvPr/>
        </p:nvSpPr>
        <p:spPr>
          <a:xfrm xmlns:a="http://schemas.openxmlformats.org/drawingml/2006/main">
            <a:off x="3124200" y="1714500"/>
            <a:ext cx="7810500" cy="609600"/>
          </a:xfrm>
          <a:prstGeom xmlns:a="http://schemas.openxmlformats.org/drawingml/2006/main" prst="roundRect">
            <a:avLst>
              <a:gd name="adj" fmla="val 18750"/>
            </a:avLst>
          </a:prstGeom>
          <a:gradFill xmlns:a="http://schemas.openxmlformats.org/drawingml/2006/main">
            <a:gsLst>
              <a:gs pos="0">
                <a:srgbClr val="B8864F"/>
              </a:gs>
              <a:gs pos="55000">
                <a:srgbClr val="CBA36A"/>
              </a:gs>
              <a:gs pos="100000">
                <a:srgbClr val="F5EDDF"/>
              </a:gs>
            </a:gsLst>
            <a:lin ang="5400000"/>
          </a:gradFill>
          <a:ln xmlns:a="http://schemas.openxmlformats.org/drawingml/2006/main" w="9525">
            <a:solidFill>
              <a:srgbClr val="FCFAF6">
                <a:alpha val="14000"/>
              </a:srgbClr>
            </a:solidFill>
            <a:prstDash val="solid"/>
          </a:ln>
        </p:spPr>
      </p:sp>
      <p:sp>
        <p:nvSpPr>
          <p:cNvPr id="8" name="">
            <a:extLst xmlns:a="http://schemas.openxmlformats.org/drawingml/2006/main">
              <a:ext uri="{FF2B5EF4-FFF2-40B4-BE49-F238E27FC236}">
                <a16:creationId xmlns:a16="http://schemas.microsoft.com/office/drawing/2014/main" id="{A8A549CD-C6CB-4C3D-90AD-9681E50214DC}"/>
              </a:ext>
            </a:extLst>
          </p:cNvPr>
          <p:cNvSpPr>
            <a:spLocks xmlns:a="http://schemas.openxmlformats.org/drawingml/2006/main" noGrp="1"/>
          </p:cNvSpPr>
          <p:nvPr/>
        </p:nvSpPr>
        <p:spPr>
          <a:xfrm xmlns:a="http://schemas.openxmlformats.org/drawingml/2006/main">
            <a:off x="3124200" y="2495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FCFAF6">
                    <a:alpha val="66000"/>
                  </a:srgbClr>
                </a:solidFill>
                <a:latin typeface="Bahnschrift"/>
                <a:ea typeface="Bahnschrift"/>
                <a:cs typeface="Bahnschrift"/>
              </a:defRPr>
            </a:pPr>
            <a:r>
              <a:rPr sz="1125" b="0" i="0">
                <a:solidFill>
                  <a:srgbClr val="FCFAF6">
                    <a:alpha val="66000"/>
                  </a:srgbClr>
                </a:solidFill>
                <a:latin typeface="Bahnschrift"/>
                <a:ea typeface="Bahnschrift"/>
                <a:cs typeface="Bahnschrift"/>
              </a:rPr>
              <a:t>0% #B8864F   55% #CBA36A   100% #F5EDDF</a:t>
            </a:r>
          </a:p>
        </p:txBody>
      </p:sp>
      <p:sp>
        <p:nvSpPr>
          <p:cNvPr id="9" name="">
            <a:extLst xmlns:a="http://schemas.openxmlformats.org/drawingml/2006/main">
              <a:ext uri="{FF2B5EF4-FFF2-40B4-BE49-F238E27FC236}">
                <a16:creationId xmlns:a16="http://schemas.microsoft.com/office/drawing/2014/main" id="{97212621-383C-4CBD-A3B5-CAECBEA2E4BB}"/>
              </a:ext>
            </a:extLst>
          </p:cNvPr>
          <p:cNvSpPr>
            <a:spLocks xmlns:a="http://schemas.openxmlformats.org/drawingml/2006/main" noGrp="1"/>
          </p:cNvSpPr>
          <p:nvPr/>
        </p:nvSpPr>
        <p:spPr>
          <a:xfrm xmlns:a="http://schemas.openxmlformats.org/drawingml/2006/main">
            <a:off x="685800" y="31242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Navy depth</a:t>
            </a:r>
          </a:p>
        </p:txBody>
      </p:sp>
      <p:sp>
        <p:nvSpPr>
          <p:cNvPr id="10" name="">
            <a:extLst xmlns:a="http://schemas.openxmlformats.org/drawingml/2006/main">
              <a:ext uri="{FF2B5EF4-FFF2-40B4-BE49-F238E27FC236}">
                <a16:creationId xmlns:a16="http://schemas.microsoft.com/office/drawing/2014/main" id="{E89E509F-EC7B-46A8-BDC0-C1A4BE07D6FC}"/>
              </a:ext>
            </a:extLst>
          </p:cNvPr>
          <p:cNvSpPr>
            <a:spLocks xmlns:a="http://schemas.openxmlformats.org/drawingml/2006/main" noGrp="1"/>
          </p:cNvSpPr>
          <p:nvPr/>
        </p:nvSpPr>
        <p:spPr>
          <a:xfrm xmlns:a="http://schemas.openxmlformats.org/drawingml/2006/main">
            <a:off x="3124200" y="3086100"/>
            <a:ext cx="7810500" cy="609600"/>
          </a:xfrm>
          <a:prstGeom xmlns:a="http://schemas.openxmlformats.org/drawingml/2006/main" prst="roundRect">
            <a:avLst>
              <a:gd name="adj" fmla="val 18750"/>
            </a:avLst>
          </a:prstGeom>
          <a:gradFill xmlns:a="http://schemas.openxmlformats.org/drawingml/2006/main">
            <a:gsLst>
              <a:gs pos="0">
                <a:srgbClr val="101318"/>
              </a:gs>
              <a:gs pos="55000">
                <a:srgbClr val="1A1F25"/>
              </a:gs>
              <a:gs pos="100000">
                <a:srgbClr val="2B333C"/>
              </a:gs>
            </a:gsLst>
            <a:lin ang="5400000"/>
          </a:gradFill>
          <a:ln xmlns:a="http://schemas.openxmlformats.org/drawingml/2006/main" w="9525">
            <a:solidFill>
              <a:srgbClr val="FCFAF6">
                <a:alpha val="14000"/>
              </a:srgbClr>
            </a:solidFill>
            <a:prstDash val="solid"/>
          </a:ln>
        </p:spPr>
      </p:sp>
      <p:sp>
        <p:nvSpPr>
          <p:cNvPr id="11" name="">
            <a:extLst xmlns:a="http://schemas.openxmlformats.org/drawingml/2006/main">
              <a:ext uri="{FF2B5EF4-FFF2-40B4-BE49-F238E27FC236}">
                <a16:creationId xmlns:a16="http://schemas.microsoft.com/office/drawing/2014/main" id="{895934EB-D712-4342-BC0F-9E74EB897F1D}"/>
              </a:ext>
            </a:extLst>
          </p:cNvPr>
          <p:cNvSpPr>
            <a:spLocks xmlns:a="http://schemas.openxmlformats.org/drawingml/2006/main" noGrp="1"/>
          </p:cNvSpPr>
          <p:nvPr/>
        </p:nvSpPr>
        <p:spPr>
          <a:xfrm xmlns:a="http://schemas.openxmlformats.org/drawingml/2006/main">
            <a:off x="3124200" y="3867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FCFAF6">
                    <a:alpha val="66000"/>
                  </a:srgbClr>
                </a:solidFill>
                <a:latin typeface="Bahnschrift"/>
                <a:ea typeface="Bahnschrift"/>
                <a:cs typeface="Bahnschrift"/>
              </a:defRPr>
            </a:pPr>
            <a:r>
              <a:rPr sz="1125" b="0" i="0">
                <a:solidFill>
                  <a:srgbClr val="FCFAF6">
                    <a:alpha val="66000"/>
                  </a:srgbClr>
                </a:solidFill>
                <a:latin typeface="Bahnschrift"/>
                <a:ea typeface="Bahnschrift"/>
                <a:cs typeface="Bahnschrift"/>
              </a:rPr>
              <a:t>0% #101318   55% #1A1F25   100% #2B333C</a:t>
            </a:r>
          </a:p>
        </p:txBody>
      </p:sp>
      <p:sp>
        <p:nvSpPr>
          <p:cNvPr id="12" name="">
            <a:extLst xmlns:a="http://schemas.openxmlformats.org/drawingml/2006/main">
              <a:ext uri="{FF2B5EF4-FFF2-40B4-BE49-F238E27FC236}">
                <a16:creationId xmlns:a16="http://schemas.microsoft.com/office/drawing/2014/main" id="{CF1C9F57-A934-4514-A5F6-2FFB6D61181C}"/>
              </a:ext>
            </a:extLst>
          </p:cNvPr>
          <p:cNvSpPr>
            <a:spLocks xmlns:a="http://schemas.openxmlformats.org/drawingml/2006/main" noGrp="1"/>
          </p:cNvSpPr>
          <p:nvPr/>
        </p:nvSpPr>
        <p:spPr>
          <a:xfrm xmlns:a="http://schemas.openxmlformats.org/drawingml/2006/main">
            <a:off x="685800" y="4495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i="0">
                <a:solidFill>
                  <a:srgbClr val="FCFAF6"/>
                </a:solidFill>
                <a:latin typeface="Bahnschrift"/>
                <a:ea typeface="Bahnschrift"/>
                <a:cs typeface="Bahnschrift"/>
              </a:defRPr>
            </a:pPr>
            <a:r>
              <a:rPr sz="1875" b="1" i="0">
                <a:solidFill>
                  <a:srgbClr val="FCFAF6"/>
                </a:solidFill>
                <a:latin typeface="Bahnschrift"/>
                <a:ea typeface="Bahnschrift"/>
                <a:cs typeface="Bahnschrift"/>
              </a:rPr>
              <a:t>Cream horizon</a:t>
            </a:r>
          </a:p>
        </p:txBody>
      </p:sp>
      <p:sp>
        <p:nvSpPr>
          <p:cNvPr id="13" name="">
            <a:extLst xmlns:a="http://schemas.openxmlformats.org/drawingml/2006/main">
              <a:ext uri="{FF2B5EF4-FFF2-40B4-BE49-F238E27FC236}">
                <a16:creationId xmlns:a16="http://schemas.microsoft.com/office/drawing/2014/main" id="{13E4CF42-BDF6-4295-A3FC-085C51A633A9}"/>
              </a:ext>
            </a:extLst>
          </p:cNvPr>
          <p:cNvSpPr>
            <a:spLocks xmlns:a="http://schemas.openxmlformats.org/drawingml/2006/main" noGrp="1"/>
          </p:cNvSpPr>
          <p:nvPr/>
        </p:nvSpPr>
        <p:spPr>
          <a:xfrm xmlns:a="http://schemas.openxmlformats.org/drawingml/2006/main">
            <a:off x="3124200" y="4457700"/>
            <a:ext cx="7810500" cy="609600"/>
          </a:xfrm>
          <a:prstGeom xmlns:a="http://schemas.openxmlformats.org/drawingml/2006/main" prst="roundRect">
            <a:avLst>
              <a:gd name="adj" fmla="val 18750"/>
            </a:avLst>
          </a:prstGeom>
          <a:gradFill xmlns:a="http://schemas.openxmlformats.org/drawingml/2006/main">
            <a:gsLst>
              <a:gs pos="0">
                <a:srgbClr val="F5EDDF"/>
              </a:gs>
              <a:gs pos="70000">
                <a:srgbClr val="FCFAF6"/>
              </a:gs>
              <a:gs pos="100000">
                <a:srgbClr val="FFFFFF"/>
              </a:gs>
            </a:gsLst>
            <a:lin ang="5400000"/>
          </a:gradFill>
          <a:ln xmlns:a="http://schemas.openxmlformats.org/drawingml/2006/main" w="9525">
            <a:solidFill>
              <a:srgbClr val="FCFAF6">
                <a:alpha val="14000"/>
              </a:srgbClr>
            </a:solidFill>
            <a:prstDash val="solid"/>
          </a:ln>
        </p:spPr>
      </p:sp>
      <p:sp>
        <p:nvSpPr>
          <p:cNvPr id="14" name="">
            <a:extLst xmlns:a="http://schemas.openxmlformats.org/drawingml/2006/main">
              <a:ext uri="{FF2B5EF4-FFF2-40B4-BE49-F238E27FC236}">
                <a16:creationId xmlns:a16="http://schemas.microsoft.com/office/drawing/2014/main" id="{8E5E141A-1262-48A6-A239-9F5C9D9719C7}"/>
              </a:ext>
            </a:extLst>
          </p:cNvPr>
          <p:cNvSpPr>
            <a:spLocks xmlns:a="http://schemas.openxmlformats.org/drawingml/2006/main" noGrp="1"/>
          </p:cNvSpPr>
          <p:nvPr/>
        </p:nvSpPr>
        <p:spPr>
          <a:xfrm xmlns:a="http://schemas.openxmlformats.org/drawingml/2006/main">
            <a:off x="3124200" y="52387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i="0">
                <a:solidFill>
                  <a:srgbClr val="FCFAF6">
                    <a:alpha val="66000"/>
                  </a:srgbClr>
                </a:solidFill>
                <a:latin typeface="Bahnschrift"/>
                <a:ea typeface="Bahnschrift"/>
                <a:cs typeface="Bahnschrift"/>
              </a:defRPr>
            </a:pPr>
            <a:r>
              <a:rPr sz="1125" b="0" i="0">
                <a:solidFill>
                  <a:srgbClr val="FCFAF6">
                    <a:alpha val="66000"/>
                  </a:srgbClr>
                </a:solidFill>
                <a:latin typeface="Bahnschrift"/>
                <a:ea typeface="Bahnschrift"/>
                <a:cs typeface="Bahnschrift"/>
              </a:rPr>
              <a:t>0% #F5EDDF   70% #FCFAF6   100% #FFFFFF</a:t>
            </a:r>
          </a:p>
        </p:txBody>
      </p:sp>
      <p:sp>
        <p:nvSpPr>
          <p:cNvPr id="15" name="">
            <a:extLst xmlns:a="http://schemas.openxmlformats.org/drawingml/2006/main">
              <a:ext uri="{FF2B5EF4-FFF2-40B4-BE49-F238E27FC236}">
                <a16:creationId xmlns:a16="http://schemas.microsoft.com/office/drawing/2014/main" id="{7B01B6D9-965B-45AA-852C-1ADB8FFEA22D}"/>
              </a:ext>
            </a:extLst>
          </p:cNvPr>
          <p:cNvSpPr>
            <a:spLocks xmlns:a="http://schemas.openxmlformats.org/drawingml/2006/main" noGrp="1"/>
          </p:cNvSpPr>
          <p:nvPr/>
        </p:nvSpPr>
        <p:spPr>
          <a:xfrm xmlns:a="http://schemas.openxmlformats.org/drawingml/2006/main">
            <a:off x="685800" y="59245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4000"/>
                  </a:srgbClr>
                </a:solidFill>
                <a:latin typeface="Bahnschrift"/>
                <a:ea typeface="Bahnschrift"/>
                <a:cs typeface="Bahnschrift"/>
              </a:defRPr>
            </a:pPr>
            <a:r>
              <a:rPr sz="1350" b="0" i="0">
                <a:solidFill>
                  <a:srgbClr val="FCFAF6">
                    <a:alpha val="74000"/>
                  </a:srgbClr>
                </a:solidFill>
                <a:latin typeface="Bahnschrift"/>
                <a:ea typeface="Bahnschrift"/>
                <a:cs typeface="Bahnschrift"/>
              </a:rPr>
              <a:t>Allowed: covers, section dividers, photography overlays and selective data emphasis. Avoid rainbow blends, high-saturation effects and gradients inside small body text.</a:t>
            </a:r>
          </a:p>
        </p:txBody>
      </p:sp>
    </p:spTree>
    <p:extLst>
      <p:ext uri="{BB962C8B-B14F-4D97-AF65-F5344CB8AC3E}">
        <p14:creationId xmlns:p14="http://schemas.microsoft.com/office/powerpoint/2010/main" val="255911864"/>
      </p:ext>
    </p:extLst>
  </p:cSld>
</p:sld>
</file>

<file path=ppt/slides/slide21.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7875A5-BB58-41AC-9373-1C45183273E1}"/>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F032E362-FF6F-40FE-B6F3-EE2A5D17598A}"/>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21</a:t>
            </a:r>
          </a:p>
        </p:txBody>
      </p:sp>
      <p:sp>
        <p:nvSpPr>
          <p:cNvPr id="3" name="">
            <a:extLst xmlns:a="http://schemas.openxmlformats.org/drawingml/2006/main">
              <a:ext uri="{FF2B5EF4-FFF2-40B4-BE49-F238E27FC236}">
                <a16:creationId xmlns:a16="http://schemas.microsoft.com/office/drawing/2014/main" id="{8DE92E69-7757-4C5C-97FD-DE3D0715BC61}"/>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Typography</a:t>
            </a:r>
          </a:p>
        </p:txBody>
      </p:sp>
      <p:sp>
        <p:nvSpPr>
          <p:cNvPr id="4" name="">
            <a:extLst xmlns:a="http://schemas.openxmlformats.org/drawingml/2006/main">
              <a:ext uri="{FF2B5EF4-FFF2-40B4-BE49-F238E27FC236}">
                <a16:creationId xmlns:a16="http://schemas.microsoft.com/office/drawing/2014/main" id="{D313BEDC-F670-409A-9627-154B066C05D2}"/>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11C8A2-84AF-4A32-AE08-1B660E097B70}"/>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A technical sans serif supported by an editorial voice</a:t>
            </a:r>
          </a:p>
        </p:txBody>
      </p:sp>
      <p:sp>
        <p:nvSpPr>
          <p:cNvPr id="6" name="">
            <a:extLst xmlns:a="http://schemas.openxmlformats.org/drawingml/2006/main">
              <a:ext uri="{FF2B5EF4-FFF2-40B4-BE49-F238E27FC236}">
                <a16:creationId xmlns:a16="http://schemas.microsoft.com/office/drawing/2014/main" id="{0DA0F9F4-3EBE-4CAA-B8AA-B48DBCEC1487}"/>
              </a:ext>
            </a:extLst>
          </p:cNvPr>
          <p:cNvSpPr>
            <a:spLocks xmlns:a="http://schemas.openxmlformats.org/drawingml/2006/main" noGrp="1"/>
          </p:cNvSpPr>
          <p:nvPr/>
        </p:nvSpPr>
        <p:spPr>
          <a:xfrm xmlns:a="http://schemas.openxmlformats.org/drawingml/2006/main">
            <a:off x="666750" y="1676400"/>
            <a:ext cx="542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i="0">
                <a:solidFill>
                  <a:srgbClr val="1A1F25"/>
                </a:solidFill>
                <a:latin typeface="Bahnschrift"/>
                <a:ea typeface="Bahnschrift"/>
                <a:cs typeface="Bahnschrift"/>
              </a:defRPr>
            </a:pPr>
            <a:r>
              <a:rPr sz="3450" b="1" i="0">
                <a:solidFill>
                  <a:srgbClr val="1A1F25"/>
                </a:solidFill>
                <a:latin typeface="Bahnschrift"/>
                <a:ea typeface="Bahnschrift"/>
                <a:cs typeface="Bahnschrift"/>
              </a:rPr>
              <a:t>BAHNSCHRIFT</a:t>
            </a:r>
          </a:p>
        </p:txBody>
      </p:sp>
      <p:sp>
        <p:nvSpPr>
          <p:cNvPr id="7" name="">
            <a:extLst xmlns:a="http://schemas.openxmlformats.org/drawingml/2006/main">
              <a:ext uri="{FF2B5EF4-FFF2-40B4-BE49-F238E27FC236}">
                <a16:creationId xmlns:a16="http://schemas.microsoft.com/office/drawing/2014/main" id="{4EF2F072-0FA6-48DE-85F3-998ACE32F14C}"/>
              </a:ext>
            </a:extLst>
          </p:cNvPr>
          <p:cNvSpPr>
            <a:spLocks xmlns:a="http://schemas.openxmlformats.org/drawingml/2006/main" noGrp="1"/>
          </p:cNvSpPr>
          <p:nvPr/>
        </p:nvSpPr>
        <p:spPr>
          <a:xfrm xmlns:a="http://schemas.openxmlformats.org/drawingml/2006/main">
            <a:off x="685800" y="23812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PRIMARY  |  HEADINGS, DATA, NAVIGATION</a:t>
            </a:r>
          </a:p>
        </p:txBody>
      </p:sp>
      <p:sp>
        <p:nvSpPr>
          <p:cNvPr id="8" name="">
            <a:extLst xmlns:a="http://schemas.openxmlformats.org/drawingml/2006/main">
              <a:ext uri="{FF2B5EF4-FFF2-40B4-BE49-F238E27FC236}">
                <a16:creationId xmlns:a16="http://schemas.microsoft.com/office/drawing/2014/main" id="{AA99BB40-0E57-4D6A-B9D4-6658FA7DEBA4}"/>
              </a:ext>
            </a:extLst>
          </p:cNvPr>
          <p:cNvSpPr>
            <a:spLocks xmlns:a="http://schemas.openxmlformats.org/drawingml/2006/main" noGrp="1"/>
          </p:cNvSpPr>
          <p:nvPr/>
        </p:nvSpPr>
        <p:spPr>
          <a:xfrm xmlns:a="http://schemas.openxmlformats.org/drawingml/2006/main">
            <a:off x="685800" y="2781300"/>
            <a:ext cx="509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6C737A"/>
                </a:solidFill>
                <a:latin typeface="Bahnschrift"/>
                <a:ea typeface="Bahnschrift"/>
                <a:cs typeface="Bahnschrift"/>
              </a:defRPr>
            </a:pPr>
            <a:r>
              <a:rPr sz="1650" b="0" i="0">
                <a:solidFill>
                  <a:srgbClr val="6C737A"/>
                </a:solidFill>
                <a:latin typeface="Bahnschrift"/>
                <a:ea typeface="Bahnschrift"/>
                <a:cs typeface="Bahnschrift"/>
              </a:rPr>
              <a:t>ABCDEFGHIJKLMNOPQRSTUVWXYZ</a:t>
            </a:r>
          </a:p>
          <a:p xmlns:a="http://schemas.openxmlformats.org/drawingml/2006/main">
            <a:pPr>
              <a:defRPr sz="1650" b="0" i="0">
                <a:solidFill>
                  <a:srgbClr val="6C737A"/>
                </a:solidFill>
                <a:latin typeface="Bahnschrift"/>
                <a:ea typeface="Bahnschrift"/>
                <a:cs typeface="Bahnschrift"/>
              </a:defRPr>
            </a:pPr>
            <a:r>
              <a:rPr sz="1650" b="0" i="0">
                <a:solidFill>
                  <a:srgbClr val="6C737A"/>
                </a:solidFill>
                <a:latin typeface="Bahnschrift"/>
                <a:ea typeface="Bahnschrift"/>
                <a:cs typeface="Bahnschrift"/>
              </a:rPr>
              <a:t>abcdefghijklmnopqrstuvwxyz  0123456789</a:t>
            </a:r>
          </a:p>
        </p:txBody>
      </p:sp>
      <p:sp>
        <p:nvSpPr>
          <p:cNvPr id="9" name="">
            <a:extLst xmlns:a="http://schemas.openxmlformats.org/drawingml/2006/main">
              <a:ext uri="{FF2B5EF4-FFF2-40B4-BE49-F238E27FC236}">
                <a16:creationId xmlns:a16="http://schemas.microsoft.com/office/drawing/2014/main" id="{0608D0C0-7CF8-4FC1-9A01-7DB9C0308CA9}"/>
              </a:ext>
            </a:extLst>
          </p:cNvPr>
          <p:cNvSpPr>
            <a:spLocks xmlns:a="http://schemas.openxmlformats.org/drawingml/2006/main" noGrp="1"/>
          </p:cNvSpPr>
          <p:nvPr/>
        </p:nvSpPr>
        <p:spPr>
          <a:xfrm xmlns:a="http://schemas.openxmlformats.org/drawingml/2006/main">
            <a:off x="6096000" y="1657350"/>
            <a:ext cx="38100" cy="0"/>
          </a:xfrm>
          <a:prstGeom xmlns:a="http://schemas.openxmlformats.org/drawingml/2006/main" prst="rect">
            <a:avLst/>
          </a:prstGeom>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F8D31F-B885-4FBE-B486-655CEF15D8A5}"/>
              </a:ext>
            </a:extLst>
          </p:cNvPr>
          <p:cNvSpPr>
            <a:spLocks xmlns:a="http://schemas.openxmlformats.org/drawingml/2006/main" noGrp="1"/>
          </p:cNvSpPr>
          <p:nvPr/>
        </p:nvSpPr>
        <p:spPr>
          <a:xfrm xmlns:a="http://schemas.openxmlformats.org/drawingml/2006/main">
            <a:off x="6610350" y="1676400"/>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0" i="0">
                <a:solidFill>
                  <a:srgbClr val="B8864F"/>
                </a:solidFill>
                <a:latin typeface="Georgia"/>
                <a:ea typeface="Georgia"/>
                <a:cs typeface="Georgia"/>
              </a:defRPr>
            </a:pPr>
            <a:r>
              <a:rPr sz="3525" b="0" i="0">
                <a:solidFill>
                  <a:srgbClr val="B8864F"/>
                </a:solidFill>
                <a:latin typeface="Georgia"/>
                <a:ea typeface="Georgia"/>
                <a:cs typeface="Georgia"/>
              </a:rPr>
              <a:t>Georgia</a:t>
            </a:r>
          </a:p>
        </p:txBody>
      </p:sp>
      <p:sp>
        <p:nvSpPr>
          <p:cNvPr id="11" name="">
            <a:extLst xmlns:a="http://schemas.openxmlformats.org/drawingml/2006/main">
              <a:ext uri="{FF2B5EF4-FFF2-40B4-BE49-F238E27FC236}">
                <a16:creationId xmlns:a16="http://schemas.microsoft.com/office/drawing/2014/main" id="{1178E82F-3CBA-49D4-9D60-6CD75D93DFB1}"/>
              </a:ext>
            </a:extLst>
          </p:cNvPr>
          <p:cNvSpPr>
            <a:spLocks xmlns:a="http://schemas.openxmlformats.org/drawingml/2006/main" noGrp="1"/>
          </p:cNvSpPr>
          <p:nvPr/>
        </p:nvSpPr>
        <p:spPr>
          <a:xfrm xmlns:a="http://schemas.openxmlformats.org/drawingml/2006/main">
            <a:off x="6629400" y="23812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EDITORIAL  |  NARRATIVE AND QUOTATIONS</a:t>
            </a:r>
          </a:p>
        </p:txBody>
      </p:sp>
      <p:sp>
        <p:nvSpPr>
          <p:cNvPr id="12" name="">
            <a:extLst xmlns:a="http://schemas.openxmlformats.org/drawingml/2006/main">
              <a:ext uri="{FF2B5EF4-FFF2-40B4-BE49-F238E27FC236}">
                <a16:creationId xmlns:a16="http://schemas.microsoft.com/office/drawing/2014/main" id="{FDB39A8D-A5CD-4CF8-961D-03306F476526}"/>
              </a:ext>
            </a:extLst>
          </p:cNvPr>
          <p:cNvSpPr>
            <a:spLocks xmlns:a="http://schemas.openxmlformats.org/drawingml/2006/main" noGrp="1"/>
          </p:cNvSpPr>
          <p:nvPr/>
        </p:nvSpPr>
        <p:spPr>
          <a:xfrm xmlns:a="http://schemas.openxmlformats.org/drawingml/2006/main">
            <a:off x="6629400" y="28003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i="1">
                <a:solidFill>
                  <a:srgbClr val="1A1F25"/>
                </a:solidFill>
                <a:latin typeface="Georgia"/>
                <a:ea typeface="Georgia"/>
                <a:cs typeface="Georgia"/>
              </a:defRPr>
            </a:pPr>
            <a:r>
              <a:rPr sz="1800" b="0" i="1">
                <a:solidFill>
                  <a:srgbClr val="1A1F25"/>
                </a:solidFill>
                <a:latin typeface="Georgia"/>
                <a:ea typeface="Georgia"/>
                <a:cs typeface="Georgia"/>
              </a:rPr>
              <a:t>Insight informed by experience.</a:t>
            </a:r>
          </a:p>
          <a:p xmlns:a="http://schemas.openxmlformats.org/drawingml/2006/main">
            <a:pPr>
              <a:defRPr sz="1800" b="0" i="1">
                <a:solidFill>
                  <a:srgbClr val="1A1F25"/>
                </a:solidFill>
                <a:latin typeface="Georgia"/>
                <a:ea typeface="Georgia"/>
                <a:cs typeface="Georgia"/>
              </a:defRPr>
            </a:pPr>
            <a:r>
              <a:rPr sz="1800" b="0" i="1">
                <a:solidFill>
                  <a:srgbClr val="1A1F25"/>
                </a:solidFill>
                <a:latin typeface="Georgia"/>
                <a:ea typeface="Georgia"/>
                <a:cs typeface="Georgia"/>
              </a:rPr>
              <a:t>Engineering context turns information into judgement.</a:t>
            </a:r>
          </a:p>
        </p:txBody>
      </p:sp>
      <p:sp>
        <p:nvSpPr>
          <p:cNvPr id="13" name="">
            <a:extLst xmlns:a="http://schemas.openxmlformats.org/drawingml/2006/main">
              <a:ext uri="{FF2B5EF4-FFF2-40B4-BE49-F238E27FC236}">
                <a16:creationId xmlns:a16="http://schemas.microsoft.com/office/drawing/2014/main" id="{CEB0B351-AB83-4128-8391-1FBC2D16B981}"/>
              </a:ext>
            </a:extLst>
          </p:cNvPr>
          <p:cNvSpPr>
            <a:spLocks xmlns:a="http://schemas.openxmlformats.org/drawingml/2006/main" noGrp="1"/>
          </p:cNvSpPr>
          <p:nvPr/>
        </p:nvSpPr>
        <p:spPr>
          <a:xfrm xmlns:a="http://schemas.openxmlformats.org/drawingml/2006/main">
            <a:off x="666750" y="43434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RECOMMENDED HIERARCHY</a:t>
            </a:r>
          </a:p>
        </p:txBody>
      </p:sp>
      <p:sp>
        <p:nvSpPr>
          <p:cNvPr id="14" name="">
            <a:extLst xmlns:a="http://schemas.openxmlformats.org/drawingml/2006/main">
              <a:ext uri="{FF2B5EF4-FFF2-40B4-BE49-F238E27FC236}">
                <a16:creationId xmlns:a16="http://schemas.microsoft.com/office/drawing/2014/main" id="{7E40DE29-85F8-4052-AE56-BA1AE37ABEAC}"/>
              </a:ext>
            </a:extLst>
          </p:cNvPr>
          <p:cNvSpPr>
            <a:spLocks xmlns:a="http://schemas.openxmlformats.org/drawingml/2006/main" noGrp="1"/>
          </p:cNvSpPr>
          <p:nvPr/>
        </p:nvSpPr>
        <p:spPr>
          <a:xfrm xmlns:a="http://schemas.openxmlformats.org/drawingml/2006/main">
            <a:off x="666750" y="4705350"/>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1A1F25"/>
                </a:solidFill>
                <a:latin typeface="Bahnschrift"/>
                <a:ea typeface="Bahnschrift"/>
                <a:cs typeface="Bahnschrift"/>
              </a:defRPr>
            </a:pPr>
            <a:r>
              <a:rPr sz="1500" b="0" i="0">
                <a:solidFill>
                  <a:srgbClr val="1A1F25"/>
                </a:solidFill>
                <a:latin typeface="Bahnschrift"/>
                <a:ea typeface="Bahnschrift"/>
                <a:cs typeface="Bahnschrift"/>
              </a:rPr>
              <a:t>Display  38-56 pt</a:t>
            </a:r>
          </a:p>
          <a:p xmlns:a="http://schemas.openxmlformats.org/drawingml/2006/main">
            <a:pPr>
              <a:defRPr sz="1500" b="0" i="0">
                <a:solidFill>
                  <a:srgbClr val="1A1F25"/>
                </a:solidFill>
                <a:latin typeface="Bahnschrift"/>
                <a:ea typeface="Bahnschrift"/>
                <a:cs typeface="Bahnschrift"/>
              </a:defRPr>
            </a:pPr>
            <a:r>
              <a:rPr sz="1500" b="0" i="0">
                <a:solidFill>
                  <a:srgbClr val="1A1F25"/>
                </a:solidFill>
                <a:latin typeface="Bahnschrift"/>
                <a:ea typeface="Bahnschrift"/>
                <a:cs typeface="Bahnschrift"/>
              </a:rPr>
              <a:t>Section title  28-36 pt</a:t>
            </a:r>
          </a:p>
          <a:p xmlns:a="http://schemas.openxmlformats.org/drawingml/2006/main">
            <a:pPr>
              <a:defRPr sz="1500" b="0" i="0">
                <a:solidFill>
                  <a:srgbClr val="1A1F25"/>
                </a:solidFill>
                <a:latin typeface="Bahnschrift"/>
                <a:ea typeface="Bahnschrift"/>
                <a:cs typeface="Bahnschrift"/>
              </a:defRPr>
            </a:pPr>
            <a:r>
              <a:rPr sz="1500" b="0" i="0">
                <a:solidFill>
                  <a:srgbClr val="1A1F25"/>
                </a:solidFill>
                <a:latin typeface="Bahnschrift"/>
                <a:ea typeface="Bahnschrift"/>
                <a:cs typeface="Bahnschrift"/>
              </a:rPr>
              <a:t>Body  16-20 pt</a:t>
            </a:r>
          </a:p>
          <a:p xmlns:a="http://schemas.openxmlformats.org/drawingml/2006/main">
            <a:pPr>
              <a:defRPr sz="1500" b="0" i="0">
                <a:solidFill>
                  <a:srgbClr val="1A1F25"/>
                </a:solidFill>
                <a:latin typeface="Bahnschrift"/>
                <a:ea typeface="Bahnschrift"/>
                <a:cs typeface="Bahnschrift"/>
              </a:defRPr>
            </a:pPr>
            <a:r>
              <a:rPr sz="1500" b="0" i="0">
                <a:solidFill>
                  <a:srgbClr val="1A1F25"/>
                </a:solidFill>
                <a:latin typeface="Bahnschrift"/>
                <a:ea typeface="Bahnschrift"/>
                <a:cs typeface="Bahnschrift"/>
              </a:rPr>
              <a:t>Caption  10-12 pt</a:t>
            </a:r>
          </a:p>
        </p:txBody>
      </p:sp>
      <p:sp>
        <p:nvSpPr>
          <p:cNvPr id="15" name="">
            <a:extLst xmlns:a="http://schemas.openxmlformats.org/drawingml/2006/main">
              <a:ext uri="{FF2B5EF4-FFF2-40B4-BE49-F238E27FC236}">
                <a16:creationId xmlns:a16="http://schemas.microsoft.com/office/drawing/2014/main" id="{442449E5-22AE-4785-A5B1-A47A429AEE92}"/>
              </a:ext>
            </a:extLst>
          </p:cNvPr>
          <p:cNvSpPr>
            <a:spLocks xmlns:a="http://schemas.openxmlformats.org/drawingml/2006/main" noGrp="1"/>
          </p:cNvSpPr>
          <p:nvPr/>
        </p:nvSpPr>
        <p:spPr>
          <a:xfrm xmlns:a="http://schemas.openxmlformats.org/drawingml/2006/main">
            <a:off x="4095750" y="4495800"/>
            <a:ext cx="685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Use sentence case. Keep line lengths measured. Use bold weight for decisions, not for entire paragraphs. Never outline, stretch or artificially condense type.</a:t>
            </a:r>
          </a:p>
        </p:txBody>
      </p:sp>
    </p:spTree>
    <p:extLst>
      <p:ext uri="{BB962C8B-B14F-4D97-AF65-F5344CB8AC3E}">
        <p14:creationId xmlns:p14="http://schemas.microsoft.com/office/powerpoint/2010/main" val="1809350750"/>
      </p:ext>
    </p:extLst>
  </p:cSld>
</p:sld>
</file>

<file path=ppt/slides/slide22.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0516BC-7BA1-47B5-896B-35192D2921CD}"/>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CC12CAA5-0B6B-4943-A19D-6651717D5264}"/>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22</a:t>
            </a:r>
          </a:p>
        </p:txBody>
      </p:sp>
      <p:sp>
        <p:nvSpPr>
          <p:cNvPr id="3" name="">
            <a:extLst xmlns:a="http://schemas.openxmlformats.org/drawingml/2006/main">
              <a:ext uri="{FF2B5EF4-FFF2-40B4-BE49-F238E27FC236}">
                <a16:creationId xmlns:a16="http://schemas.microsoft.com/office/drawing/2014/main" id="{F074E94B-DFF2-4EC0-B88F-1C9355D7C125}"/>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Graphic language</a:t>
            </a:r>
          </a:p>
        </p:txBody>
      </p:sp>
      <p:sp>
        <p:nvSpPr>
          <p:cNvPr id="4" name="">
            <a:extLst xmlns:a="http://schemas.openxmlformats.org/drawingml/2006/main">
              <a:ext uri="{FF2B5EF4-FFF2-40B4-BE49-F238E27FC236}">
                <a16:creationId xmlns:a16="http://schemas.microsoft.com/office/drawing/2014/main" id="{0A1771BD-ECBA-4BEF-9CB3-2FEEDC7F2E28}"/>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C7B48D-6668-4C91-95E6-10A7022486D9}"/>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Motion and precision without visual noise</a:t>
            </a:r>
          </a:p>
        </p:txBody>
      </p:sp>
      <p:sp>
        <p:nvSpPr>
          <p:cNvPr id="6" name="">
            <a:extLst xmlns:a="http://schemas.openxmlformats.org/drawingml/2006/main">
              <a:ext uri="{FF2B5EF4-FFF2-40B4-BE49-F238E27FC236}">
                <a16:creationId xmlns:a16="http://schemas.microsoft.com/office/drawing/2014/main" id="{023F736A-4213-40D1-9C18-4560C033FB67}"/>
              </a:ext>
            </a:extLst>
          </p:cNvPr>
          <p:cNvSpPr>
            <a:spLocks xmlns:a="http://schemas.openxmlformats.org/drawingml/2006/main" noGrp="1"/>
          </p:cNvSpPr>
          <p:nvPr/>
        </p:nvSpPr>
        <p:spPr>
          <a:xfrm xmlns:a="http://schemas.openxmlformats.org/drawingml/2006/main">
            <a:off x="666750" y="17145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DD78CD27-FA7B-4066-B46A-95809ECFF21D}"/>
              </a:ext>
            </a:extLst>
          </p:cNvPr>
          <p:cNvSpPr>
            <a:spLocks xmlns:a="http://schemas.openxmlformats.org/drawingml/2006/main" noGrp="1"/>
          </p:cNvSpPr>
          <p:nvPr/>
        </p:nvSpPr>
        <p:spPr>
          <a:xfrm xmlns:a="http://schemas.openxmlformats.org/drawingml/2006/main">
            <a:off x="1257300" y="17145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1A1F25"/>
                </a:solidFill>
                <a:latin typeface="Bahnschrift"/>
                <a:ea typeface="Bahnschrift"/>
                <a:cs typeface="Bahnschrift"/>
              </a:defRPr>
            </a:pPr>
            <a:r>
              <a:rPr sz="2100" b="1" i="0">
                <a:solidFill>
                  <a:srgbClr val="1A1F25"/>
                </a:solidFill>
                <a:latin typeface="Bahnschrift"/>
                <a:ea typeface="Bahnschrift"/>
                <a:cs typeface="Bahnschrift"/>
              </a:rPr>
              <a:t>Three wings</a:t>
            </a:r>
          </a:p>
        </p:txBody>
      </p:sp>
      <p:sp>
        <p:nvSpPr>
          <p:cNvPr id="8" name="">
            <a:extLst xmlns:a="http://schemas.openxmlformats.org/drawingml/2006/main">
              <a:ext uri="{FF2B5EF4-FFF2-40B4-BE49-F238E27FC236}">
                <a16:creationId xmlns:a16="http://schemas.microsoft.com/office/drawing/2014/main" id="{BF8FCCF6-D1D0-498B-9A73-3C4ED425EE69}"/>
              </a:ext>
            </a:extLst>
          </p:cNvPr>
          <p:cNvSpPr>
            <a:spLocks xmlns:a="http://schemas.openxmlformats.org/drawingml/2006/main" noGrp="1"/>
          </p:cNvSpPr>
          <p:nvPr/>
        </p:nvSpPr>
        <p:spPr>
          <a:xfrm xmlns:a="http://schemas.openxmlformats.org/drawingml/2006/main">
            <a:off x="1257300" y="2209800"/>
            <a:ext cx="78105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17F6A5-A616-4D1E-BB3D-D18320A144A6}"/>
              </a:ext>
            </a:extLst>
          </p:cNvPr>
          <p:cNvSpPr>
            <a:spLocks xmlns:a="http://schemas.openxmlformats.org/drawingml/2006/main" noGrp="1"/>
          </p:cNvSpPr>
          <p:nvPr/>
        </p:nvSpPr>
        <p:spPr>
          <a:xfrm xmlns:a="http://schemas.openxmlformats.org/drawingml/2006/main">
            <a:off x="1257300" y="24574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A repeated three-part rhythm representing engineering insight, sourcing and fleet strength.</a:t>
            </a:r>
          </a:p>
        </p:txBody>
      </p:sp>
      <p:sp>
        <p:nvSpPr>
          <p:cNvPr id="10" name="">
            <a:extLst xmlns:a="http://schemas.openxmlformats.org/drawingml/2006/main">
              <a:ext uri="{FF2B5EF4-FFF2-40B4-BE49-F238E27FC236}">
                <a16:creationId xmlns:a16="http://schemas.microsoft.com/office/drawing/2014/main" id="{B49A144A-5D6D-489C-8DB2-2C55CAD2914F}"/>
              </a:ext>
            </a:extLst>
          </p:cNvPr>
          <p:cNvSpPr>
            <a:spLocks xmlns:a="http://schemas.openxmlformats.org/drawingml/2006/main" noGrp="1"/>
          </p:cNvSpPr>
          <p:nvPr/>
        </p:nvSpPr>
        <p:spPr>
          <a:xfrm xmlns:a="http://schemas.openxmlformats.org/drawingml/2006/main">
            <a:off x="6096000" y="17145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C64A3950-C8B2-4132-8AAC-30ADF3F5CA59}"/>
              </a:ext>
            </a:extLst>
          </p:cNvPr>
          <p:cNvSpPr>
            <a:spLocks xmlns:a="http://schemas.openxmlformats.org/drawingml/2006/main" noGrp="1"/>
          </p:cNvSpPr>
          <p:nvPr/>
        </p:nvSpPr>
        <p:spPr>
          <a:xfrm xmlns:a="http://schemas.openxmlformats.org/drawingml/2006/main">
            <a:off x="6686550" y="17145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1A1F25"/>
                </a:solidFill>
                <a:latin typeface="Bahnschrift"/>
                <a:ea typeface="Bahnschrift"/>
                <a:cs typeface="Bahnschrift"/>
              </a:defRPr>
            </a:pPr>
            <a:r>
              <a:rPr sz="2100" b="1" i="0">
                <a:solidFill>
                  <a:srgbClr val="1A1F25"/>
                </a:solidFill>
                <a:latin typeface="Bahnschrift"/>
                <a:ea typeface="Bahnschrift"/>
                <a:cs typeface="Bahnschrift"/>
              </a:rPr>
              <a:t>Flight path</a:t>
            </a:r>
          </a:p>
        </p:txBody>
      </p:sp>
      <p:sp>
        <p:nvSpPr>
          <p:cNvPr id="12" name="">
            <a:extLst xmlns:a="http://schemas.openxmlformats.org/drawingml/2006/main">
              <a:ext uri="{FF2B5EF4-FFF2-40B4-BE49-F238E27FC236}">
                <a16:creationId xmlns:a16="http://schemas.microsoft.com/office/drawing/2014/main" id="{450B50D2-6B56-4E85-B0D1-01E565D95628}"/>
              </a:ext>
            </a:extLst>
          </p:cNvPr>
          <p:cNvSpPr>
            <a:spLocks xmlns:a="http://schemas.openxmlformats.org/drawingml/2006/main" noGrp="1"/>
          </p:cNvSpPr>
          <p:nvPr/>
        </p:nvSpPr>
        <p:spPr>
          <a:xfrm xmlns:a="http://schemas.openxmlformats.org/drawingml/2006/main">
            <a:off x="6686550" y="2209800"/>
            <a:ext cx="78105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D8F6E8-7903-4952-A102-3AAFEDF67291}"/>
              </a:ext>
            </a:extLst>
          </p:cNvPr>
          <p:cNvSpPr>
            <a:spLocks xmlns:a="http://schemas.openxmlformats.org/drawingml/2006/main" noGrp="1"/>
          </p:cNvSpPr>
          <p:nvPr/>
        </p:nvSpPr>
        <p:spPr>
          <a:xfrm xmlns:a="http://schemas.openxmlformats.org/drawingml/2006/main">
            <a:off x="6686550" y="24574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A fine directional line used to connect evidence, decisions and outcomes.</a:t>
            </a:r>
          </a:p>
        </p:txBody>
      </p:sp>
      <p:sp>
        <p:nvSpPr>
          <p:cNvPr id="14" name="">
            <a:extLst xmlns:a="http://schemas.openxmlformats.org/drawingml/2006/main">
              <a:ext uri="{FF2B5EF4-FFF2-40B4-BE49-F238E27FC236}">
                <a16:creationId xmlns:a16="http://schemas.microsoft.com/office/drawing/2014/main" id="{1001CCDA-789B-416F-907C-83552D4EB085}"/>
              </a:ext>
            </a:extLst>
          </p:cNvPr>
          <p:cNvSpPr>
            <a:spLocks xmlns:a="http://schemas.openxmlformats.org/drawingml/2006/main" noGrp="1"/>
          </p:cNvSpPr>
          <p:nvPr/>
        </p:nvSpPr>
        <p:spPr>
          <a:xfrm xmlns:a="http://schemas.openxmlformats.org/drawingml/2006/main">
            <a:off x="666750" y="38100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F582E1BA-053E-42F8-8791-07CD2896F031}"/>
              </a:ext>
            </a:extLst>
          </p:cNvPr>
          <p:cNvSpPr>
            <a:spLocks xmlns:a="http://schemas.openxmlformats.org/drawingml/2006/main" noGrp="1"/>
          </p:cNvSpPr>
          <p:nvPr/>
        </p:nvSpPr>
        <p:spPr>
          <a:xfrm xmlns:a="http://schemas.openxmlformats.org/drawingml/2006/main">
            <a:off x="1257300" y="38100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1A1F25"/>
                </a:solidFill>
                <a:latin typeface="Bahnschrift"/>
                <a:ea typeface="Bahnschrift"/>
                <a:cs typeface="Bahnschrift"/>
              </a:defRPr>
            </a:pPr>
            <a:r>
              <a:rPr sz="2100" b="1" i="0">
                <a:solidFill>
                  <a:srgbClr val="1A1F25"/>
                </a:solidFill>
                <a:latin typeface="Bahnschrift"/>
                <a:ea typeface="Bahnschrift"/>
                <a:cs typeface="Bahnschrift"/>
              </a:rPr>
              <a:t>X device</a:t>
            </a:r>
          </a:p>
        </p:txBody>
      </p:sp>
      <p:sp>
        <p:nvSpPr>
          <p:cNvPr id="16" name="">
            <a:extLst xmlns:a="http://schemas.openxmlformats.org/drawingml/2006/main">
              <a:ext uri="{FF2B5EF4-FFF2-40B4-BE49-F238E27FC236}">
                <a16:creationId xmlns:a16="http://schemas.microsoft.com/office/drawing/2014/main" id="{1C9CD489-D371-4F89-9745-1F4A28332BF3}"/>
              </a:ext>
            </a:extLst>
          </p:cNvPr>
          <p:cNvSpPr>
            <a:spLocks xmlns:a="http://schemas.openxmlformats.org/drawingml/2006/main" noGrp="1"/>
          </p:cNvSpPr>
          <p:nvPr/>
        </p:nvSpPr>
        <p:spPr>
          <a:xfrm xmlns:a="http://schemas.openxmlformats.org/drawingml/2006/main">
            <a:off x="1257300" y="4305300"/>
            <a:ext cx="78105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A3486C9-2B2C-40CA-9480-80A5BAD83FFA}"/>
              </a:ext>
            </a:extLst>
          </p:cNvPr>
          <p:cNvSpPr>
            <a:spLocks xmlns:a="http://schemas.openxmlformats.org/drawingml/2006/main" noGrp="1"/>
          </p:cNvSpPr>
          <p:nvPr/>
        </p:nvSpPr>
        <p:spPr>
          <a:xfrm xmlns:a="http://schemas.openxmlformats.org/drawingml/2006/main">
            <a:off x="1257300" y="45529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A point of convergence and decision. Use as a crop, aperture or emphasis field.</a:t>
            </a:r>
          </a:p>
        </p:txBody>
      </p:sp>
      <p:sp>
        <p:nvSpPr>
          <p:cNvPr id="18" name="">
            <a:extLst xmlns:a="http://schemas.openxmlformats.org/drawingml/2006/main">
              <a:ext uri="{FF2B5EF4-FFF2-40B4-BE49-F238E27FC236}">
                <a16:creationId xmlns:a16="http://schemas.microsoft.com/office/drawing/2014/main" id="{6529C674-B646-41FC-867A-55650A219358}"/>
              </a:ext>
            </a:extLst>
          </p:cNvPr>
          <p:cNvSpPr>
            <a:spLocks xmlns:a="http://schemas.openxmlformats.org/drawingml/2006/main" noGrp="1"/>
          </p:cNvSpPr>
          <p:nvPr/>
        </p:nvSpPr>
        <p:spPr>
          <a:xfrm xmlns:a="http://schemas.openxmlformats.org/drawingml/2006/main">
            <a:off x="6096000" y="3810000"/>
            <a:ext cx="514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04</a:t>
            </a:r>
          </a:p>
        </p:txBody>
      </p:sp>
      <p:sp>
        <p:nvSpPr>
          <p:cNvPr id="19" name="">
            <a:extLst xmlns:a="http://schemas.openxmlformats.org/drawingml/2006/main">
              <a:ext uri="{FF2B5EF4-FFF2-40B4-BE49-F238E27FC236}">
                <a16:creationId xmlns:a16="http://schemas.microsoft.com/office/drawing/2014/main" id="{935155F8-AE58-4683-9C97-622C02568779}"/>
              </a:ext>
            </a:extLst>
          </p:cNvPr>
          <p:cNvSpPr>
            <a:spLocks xmlns:a="http://schemas.openxmlformats.org/drawingml/2006/main" noGrp="1"/>
          </p:cNvSpPr>
          <p:nvPr/>
        </p:nvSpPr>
        <p:spPr>
          <a:xfrm xmlns:a="http://schemas.openxmlformats.org/drawingml/2006/main">
            <a:off x="6686550" y="38100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1A1F25"/>
                </a:solidFill>
                <a:latin typeface="Bahnschrift"/>
                <a:ea typeface="Bahnschrift"/>
                <a:cs typeface="Bahnschrift"/>
              </a:defRPr>
            </a:pPr>
            <a:r>
              <a:rPr sz="2100" b="1" i="0">
                <a:solidFill>
                  <a:srgbClr val="1A1F25"/>
                </a:solidFill>
                <a:latin typeface="Bahnschrift"/>
                <a:ea typeface="Bahnschrift"/>
                <a:cs typeface="Bahnschrift"/>
              </a:rPr>
              <a:t>Copper signal</a:t>
            </a:r>
          </a:p>
        </p:txBody>
      </p:sp>
      <p:sp>
        <p:nvSpPr>
          <p:cNvPr id="20" name="">
            <a:extLst xmlns:a="http://schemas.openxmlformats.org/drawingml/2006/main">
              <a:ext uri="{FF2B5EF4-FFF2-40B4-BE49-F238E27FC236}">
                <a16:creationId xmlns:a16="http://schemas.microsoft.com/office/drawing/2014/main" id="{04009AAC-2FEB-479E-B14F-333BDCCB6244}"/>
              </a:ext>
            </a:extLst>
          </p:cNvPr>
          <p:cNvSpPr>
            <a:spLocks xmlns:a="http://schemas.openxmlformats.org/drawingml/2006/main" noGrp="1"/>
          </p:cNvSpPr>
          <p:nvPr/>
        </p:nvSpPr>
        <p:spPr>
          <a:xfrm xmlns:a="http://schemas.openxmlformats.org/drawingml/2006/main">
            <a:off x="6686550" y="4305300"/>
            <a:ext cx="78105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DE74D19-92A5-492B-B791-C7CC504B9AB7}"/>
              </a:ext>
            </a:extLst>
          </p:cNvPr>
          <p:cNvSpPr>
            <a:spLocks xmlns:a="http://schemas.openxmlformats.org/drawingml/2006/main" noGrp="1"/>
          </p:cNvSpPr>
          <p:nvPr/>
        </p:nvSpPr>
        <p:spPr>
          <a:xfrm xmlns:a="http://schemas.openxmlformats.org/drawingml/2006/main">
            <a:off x="6686550" y="455295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i="0">
                <a:solidFill>
                  <a:srgbClr val="6C737A"/>
                </a:solidFill>
                <a:latin typeface="Bahnschrift"/>
                <a:ea typeface="Bahnschrift"/>
                <a:cs typeface="Bahnschrift"/>
              </a:defRPr>
            </a:pPr>
            <a:r>
              <a:rPr sz="1500" b="0" i="0">
                <a:solidFill>
                  <a:srgbClr val="6C737A"/>
                </a:solidFill>
                <a:latin typeface="Bahnschrift"/>
                <a:ea typeface="Bahnschrift"/>
                <a:cs typeface="Bahnschrift"/>
              </a:rPr>
              <a:t>A small, deliberate highlight for insight, selection, risk or recommended action.</a:t>
            </a:r>
          </a:p>
        </p:txBody>
      </p:sp>
    </p:spTree>
    <p:extLst>
      <p:ext uri="{BB962C8B-B14F-4D97-AF65-F5344CB8AC3E}">
        <p14:creationId xmlns:p14="http://schemas.microsoft.com/office/powerpoint/2010/main" val="983408315"/>
      </p:ext>
    </p:extLst>
  </p:cSld>
</p:sld>
</file>

<file path=ppt/slides/slide23.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249E03E-8224-4D7A-AE53-28486A4339B5}"/>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2F6AAEF2-49D1-4502-BD32-4F1E04A37B39}"/>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23</a:t>
            </a:r>
          </a:p>
        </p:txBody>
      </p:sp>
      <p:sp>
        <p:nvSpPr>
          <p:cNvPr id="3" name="">
            <a:extLst xmlns:a="http://schemas.openxmlformats.org/drawingml/2006/main">
              <a:ext uri="{FF2B5EF4-FFF2-40B4-BE49-F238E27FC236}">
                <a16:creationId xmlns:a16="http://schemas.microsoft.com/office/drawing/2014/main" id="{63F0605D-8B41-451B-AABA-4E57AA56E7ED}"/>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Three wings, flight path and X</a:t>
            </a:r>
          </a:p>
        </p:txBody>
      </p:sp>
      <p:sp>
        <p:nvSpPr>
          <p:cNvPr id="4" name="">
            <a:extLst xmlns:a="http://schemas.openxmlformats.org/drawingml/2006/main">
              <a:ext uri="{FF2B5EF4-FFF2-40B4-BE49-F238E27FC236}">
                <a16:creationId xmlns:a16="http://schemas.microsoft.com/office/drawing/2014/main" id="{610134D1-0EED-466A-81F8-8C8A24F40937}"/>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9A61C7-4B43-4A17-B813-F80630566597}"/>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6000"/>
                  </a:srgbClr>
                </a:solidFill>
                <a:latin typeface="Bahnschrift"/>
                <a:ea typeface="Bahnschrift"/>
                <a:cs typeface="Bahnschrift"/>
              </a:defRPr>
            </a:pPr>
            <a:r>
              <a:rPr sz="1350" b="0" i="0">
                <a:solidFill>
                  <a:srgbClr val="FCFAF6">
                    <a:alpha val="76000"/>
                  </a:srgbClr>
                </a:solidFill>
                <a:latin typeface="Bahnschrift"/>
                <a:ea typeface="Bahnschrift"/>
                <a:cs typeface="Bahnschrift"/>
              </a:rPr>
              <a:t>The devices form a single visual grammar</a:t>
            </a:r>
          </a:p>
        </p:txBody>
      </p:sp>
      <p:sp>
        <p:nvSpPr>
          <p:cNvPr id="6" name="">
            <a:extLst xmlns:a="http://schemas.openxmlformats.org/drawingml/2006/main">
              <a:ext uri="{FF2B5EF4-FFF2-40B4-BE49-F238E27FC236}">
                <a16:creationId xmlns:a16="http://schemas.microsoft.com/office/drawing/2014/main" id="{B5C63F16-9461-4784-B455-EAC6585BEE8C}"/>
              </a:ext>
            </a:extLst>
          </p:cNvPr>
          <p:cNvSpPr>
            <a:spLocks xmlns:a="http://schemas.openxmlformats.org/drawingml/2006/main" noGrp="1"/>
          </p:cNvSpPr>
          <p:nvPr/>
        </p:nvSpPr>
        <p:spPr>
          <a:xfrm xmlns:a="http://schemas.openxmlformats.org/drawingml/2006/main">
            <a:off x="857250" y="2038350"/>
            <a:ext cx="2952750" cy="285750"/>
          </a:xfrm>
          <a:prstGeom xmlns:a="http://schemas.openxmlformats.org/drawingml/2006/main" prst="roundRect">
            <a:avLst>
              <a:gd name="adj" fmla="val 50000"/>
            </a:avLst>
          </a:prstGeom>
          <a:solidFill xmlns:a="http://schemas.openxmlformats.org/drawingml/2006/main">
            <a:srgbClr val="CBA36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49F4E1-4039-4EBC-971D-76F0DD47BAC4}"/>
              </a:ext>
            </a:extLst>
          </p:cNvPr>
          <p:cNvSpPr>
            <a:spLocks xmlns:a="http://schemas.openxmlformats.org/drawingml/2006/main" noGrp="1"/>
          </p:cNvSpPr>
          <p:nvPr/>
        </p:nvSpPr>
        <p:spPr>
          <a:xfrm xmlns:a="http://schemas.openxmlformats.org/drawingml/2006/main">
            <a:off x="857250" y="2533650"/>
            <a:ext cx="2381250" cy="285750"/>
          </a:xfrm>
          <a:prstGeom xmlns:a="http://schemas.openxmlformats.org/drawingml/2006/main" prst="roundRect">
            <a:avLst>
              <a:gd name="adj" fmla="val 50000"/>
            </a:avLst>
          </a:prstGeom>
          <a:solidFill xmlns:a="http://schemas.openxmlformats.org/drawingml/2006/main">
            <a:srgbClr val="CBA36A">
              <a:alpha val="72000"/>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856F1B-1C46-4ED0-913F-3D1E57E749F7}"/>
              </a:ext>
            </a:extLst>
          </p:cNvPr>
          <p:cNvSpPr>
            <a:spLocks xmlns:a="http://schemas.openxmlformats.org/drawingml/2006/main" noGrp="1"/>
          </p:cNvSpPr>
          <p:nvPr/>
        </p:nvSpPr>
        <p:spPr>
          <a:xfrm xmlns:a="http://schemas.openxmlformats.org/drawingml/2006/main">
            <a:off x="857250" y="3028950"/>
            <a:ext cx="1809750" cy="285750"/>
          </a:xfrm>
          <a:prstGeom xmlns:a="http://schemas.openxmlformats.org/drawingml/2006/main" prst="roundRect">
            <a:avLst>
              <a:gd name="adj" fmla="val 50000"/>
            </a:avLst>
          </a:prstGeom>
          <a:solidFill xmlns:a="http://schemas.openxmlformats.org/drawingml/2006/main">
            <a:srgbClr val="CBA36A">
              <a:alpha val="42000"/>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14FA77-CEB7-4CEE-ADC7-1090F9D3B319}"/>
              </a:ext>
            </a:extLst>
          </p:cNvPr>
          <p:cNvSpPr>
            <a:spLocks xmlns:a="http://schemas.openxmlformats.org/drawingml/2006/main" noGrp="1"/>
          </p:cNvSpPr>
          <p:nvPr/>
        </p:nvSpPr>
        <p:spPr>
          <a:xfrm xmlns:a="http://schemas.openxmlformats.org/drawingml/2006/main">
            <a:off x="857250" y="36004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THREE WINGS</a:t>
            </a:r>
          </a:p>
        </p:txBody>
      </p:sp>
      <p:sp>
        <p:nvSpPr>
          <p:cNvPr id="10" name="">
            <a:extLst xmlns:a="http://schemas.openxmlformats.org/drawingml/2006/main">
              <a:ext uri="{FF2B5EF4-FFF2-40B4-BE49-F238E27FC236}">
                <a16:creationId xmlns:a16="http://schemas.microsoft.com/office/drawing/2014/main" id="{BCB2BA73-2FCB-4389-B7BD-E4FCC8947162}"/>
              </a:ext>
            </a:extLst>
          </p:cNvPr>
          <p:cNvSpPr>
            <a:spLocks xmlns:a="http://schemas.openxmlformats.org/drawingml/2006/main" noGrp="1"/>
          </p:cNvSpPr>
          <p:nvPr/>
        </p:nvSpPr>
        <p:spPr>
          <a:xfrm xmlns:a="http://schemas.openxmlformats.org/drawingml/2006/main">
            <a:off x="857250" y="398145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Keep the three elements aligned and directional. Do not add a fourth wing or turn the device into generic speed lines.</a:t>
            </a:r>
          </a:p>
        </p:txBody>
      </p:sp>
      <p:sp>
        <p:nvSpPr>
          <p:cNvPr id="11" name="">
            <a:extLst xmlns:a="http://schemas.openxmlformats.org/drawingml/2006/main">
              <a:ext uri="{FF2B5EF4-FFF2-40B4-BE49-F238E27FC236}">
                <a16:creationId xmlns:a16="http://schemas.microsoft.com/office/drawing/2014/main" id="{F8690690-F260-47EA-A242-CE3254036749}"/>
              </a:ext>
            </a:extLst>
          </p:cNvPr>
          <p:cNvSpPr>
            <a:spLocks xmlns:a="http://schemas.openxmlformats.org/drawingml/2006/main" noGrp="1"/>
          </p:cNvSpPr>
          <p:nvPr/>
        </p:nvSpPr>
        <p:spPr>
          <a:xfrm xmlns:a="http://schemas.openxmlformats.org/drawingml/2006/main">
            <a:off x="4629150" y="2647950"/>
            <a:ext cx="1123950" cy="28575"/>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9FB0E8-6339-4E61-8A6E-A786AFC376E5}"/>
              </a:ext>
            </a:extLst>
          </p:cNvPr>
          <p:cNvSpPr>
            <a:spLocks xmlns:a="http://schemas.openxmlformats.org/drawingml/2006/main" noGrp="1"/>
          </p:cNvSpPr>
          <p:nvPr/>
        </p:nvSpPr>
        <p:spPr>
          <a:xfrm xmlns:a="http://schemas.openxmlformats.org/drawingml/2006/main">
            <a:off x="5734050" y="2419350"/>
            <a:ext cx="1009650" cy="28575"/>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E7B0823-7639-4343-A370-142F65F6E117}"/>
              </a:ext>
            </a:extLst>
          </p:cNvPr>
          <p:cNvSpPr>
            <a:spLocks xmlns:a="http://schemas.openxmlformats.org/drawingml/2006/main" noGrp="1"/>
          </p:cNvSpPr>
          <p:nvPr/>
        </p:nvSpPr>
        <p:spPr>
          <a:xfrm xmlns:a="http://schemas.openxmlformats.org/drawingml/2006/main">
            <a:off x="6724650" y="2171700"/>
            <a:ext cx="876300" cy="28575"/>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F598FF-1186-4638-B4E7-ABABE6411F8E}"/>
              </a:ext>
            </a:extLst>
          </p:cNvPr>
          <p:cNvSpPr>
            <a:spLocks xmlns:a="http://schemas.openxmlformats.org/drawingml/2006/main" noGrp="1"/>
          </p:cNvSpPr>
          <p:nvPr/>
        </p:nvSpPr>
        <p:spPr>
          <a:xfrm xmlns:a="http://schemas.openxmlformats.org/drawingml/2006/main">
            <a:off x="7524750" y="2066925"/>
            <a:ext cx="190500" cy="190500"/>
          </a:xfrm>
          <a:prstGeom xmlns:a="http://schemas.openxmlformats.org/drawingml/2006/main" prst="roundRect">
            <a:avLst>
              <a:gd name="adj" fmla="val 50000"/>
            </a:avLst>
          </a:prstGeom>
          <a:solidFill xmlns:a="http://schemas.openxmlformats.org/drawingml/2006/main">
            <a:srgbClr val="CBA36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37848D3-8420-4898-99F3-33A19F389275}"/>
              </a:ext>
            </a:extLst>
          </p:cNvPr>
          <p:cNvSpPr>
            <a:spLocks xmlns:a="http://schemas.openxmlformats.org/drawingml/2006/main" noGrp="1"/>
          </p:cNvSpPr>
          <p:nvPr/>
        </p:nvSpPr>
        <p:spPr>
          <a:xfrm xmlns:a="http://schemas.openxmlformats.org/drawingml/2006/main">
            <a:off x="4629150" y="36004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FLIGHT PATH</a:t>
            </a:r>
          </a:p>
        </p:txBody>
      </p:sp>
      <p:sp>
        <p:nvSpPr>
          <p:cNvPr id="16" name="">
            <a:extLst xmlns:a="http://schemas.openxmlformats.org/drawingml/2006/main">
              <a:ext uri="{FF2B5EF4-FFF2-40B4-BE49-F238E27FC236}">
                <a16:creationId xmlns:a16="http://schemas.microsoft.com/office/drawing/2014/main" id="{F92C45F0-D73E-4839-B1E6-B1484839228F}"/>
              </a:ext>
            </a:extLst>
          </p:cNvPr>
          <p:cNvSpPr>
            <a:spLocks xmlns:a="http://schemas.openxmlformats.org/drawingml/2006/main" noGrp="1"/>
          </p:cNvSpPr>
          <p:nvPr/>
        </p:nvSpPr>
        <p:spPr>
          <a:xfrm xmlns:a="http://schemas.openxmlformats.org/drawingml/2006/main">
            <a:off x="4629150" y="398145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Use a single fine route with one clear destination. Avoid loops, map clichés and decorative dotted paths.</a:t>
            </a:r>
          </a:p>
        </p:txBody>
      </p:sp>
      <p:sp>
        <p:nvSpPr>
          <p:cNvPr id="17" name="">
            <a:extLst xmlns:a="http://schemas.openxmlformats.org/drawingml/2006/main">
              <a:ext uri="{FF2B5EF4-FFF2-40B4-BE49-F238E27FC236}">
                <a16:creationId xmlns:a16="http://schemas.microsoft.com/office/drawing/2014/main" id="{29B1AA7F-2499-4F36-B5F4-CD330CE71A5A}"/>
              </a:ext>
            </a:extLst>
          </p:cNvPr>
          <p:cNvSpPr>
            <a:spLocks xmlns:a="http://schemas.openxmlformats.org/drawingml/2006/main" noGrp="1"/>
          </p:cNvSpPr>
          <p:nvPr/>
        </p:nvSpPr>
        <p:spPr>
          <a:xfrm xmlns:a="http://schemas.openxmlformats.org/drawingml/2006/main">
            <a:off x="8934450" y="1676400"/>
            <a:ext cx="2000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650" b="1" i="0">
                <a:solidFill>
                  <a:srgbClr val="CBA36A"/>
                </a:solidFill>
                <a:latin typeface="Bahnschrift"/>
                <a:ea typeface="Bahnschrift"/>
                <a:cs typeface="Bahnschrift"/>
              </a:defRPr>
            </a:pPr>
            <a:r>
              <a:rPr sz="10650" b="1" i="0">
                <a:solidFill>
                  <a:srgbClr val="CBA36A"/>
                </a:solidFill>
                <a:latin typeface="Bahnschrift"/>
                <a:ea typeface="Bahnschrift"/>
                <a:cs typeface="Bahnschrift"/>
              </a:rPr>
              <a:t>X</a:t>
            </a:r>
          </a:p>
        </p:txBody>
      </p:sp>
      <p:sp>
        <p:nvSpPr>
          <p:cNvPr id="18" name="">
            <a:extLst xmlns:a="http://schemas.openxmlformats.org/drawingml/2006/main">
              <a:ext uri="{FF2B5EF4-FFF2-40B4-BE49-F238E27FC236}">
                <a16:creationId xmlns:a16="http://schemas.microsoft.com/office/drawing/2014/main" id="{B8A2D3DE-2333-4A4F-9091-E36B052DDCDB}"/>
              </a:ext>
            </a:extLst>
          </p:cNvPr>
          <p:cNvSpPr>
            <a:spLocks xmlns:a="http://schemas.openxmlformats.org/drawingml/2006/main" noGrp="1"/>
          </p:cNvSpPr>
          <p:nvPr/>
        </p:nvSpPr>
        <p:spPr>
          <a:xfrm xmlns:a="http://schemas.openxmlformats.org/drawingml/2006/main">
            <a:off x="8934450" y="3600450"/>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X DEVICE</a:t>
            </a:r>
          </a:p>
        </p:txBody>
      </p:sp>
      <p:sp>
        <p:nvSpPr>
          <p:cNvPr id="19" name="">
            <a:extLst xmlns:a="http://schemas.openxmlformats.org/drawingml/2006/main">
              <a:ext uri="{FF2B5EF4-FFF2-40B4-BE49-F238E27FC236}">
                <a16:creationId xmlns:a16="http://schemas.microsoft.com/office/drawing/2014/main" id="{FA39AFB0-9BF2-4570-9C3E-014A06FBA112}"/>
              </a:ext>
            </a:extLst>
          </p:cNvPr>
          <p:cNvSpPr>
            <a:spLocks xmlns:a="http://schemas.openxmlformats.org/drawingml/2006/main" noGrp="1"/>
          </p:cNvSpPr>
          <p:nvPr/>
        </p:nvSpPr>
        <p:spPr>
          <a:xfrm xmlns:a="http://schemas.openxmlformats.org/drawingml/2006/main">
            <a:off x="8934450" y="39814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2000"/>
                  </a:srgbClr>
                </a:solidFill>
                <a:latin typeface="Bahnschrift"/>
                <a:ea typeface="Bahnschrift"/>
                <a:cs typeface="Bahnschrift"/>
              </a:defRPr>
            </a:pPr>
            <a:r>
              <a:rPr sz="1350" b="0" i="0">
                <a:solidFill>
                  <a:srgbClr val="FCFAF6">
                    <a:alpha val="72000"/>
                  </a:srgbClr>
                </a:solidFill>
                <a:latin typeface="Bahnschrift"/>
                <a:ea typeface="Bahnschrift"/>
                <a:cs typeface="Bahnschrift"/>
              </a:rPr>
              <a:t>Use for convergence, framing or emphasis. The X must support the signature, not compete with it.</a:t>
            </a:r>
          </a:p>
        </p:txBody>
      </p:sp>
    </p:spTree>
    <p:extLst>
      <p:ext uri="{BB962C8B-B14F-4D97-AF65-F5344CB8AC3E}">
        <p14:creationId xmlns:p14="http://schemas.microsoft.com/office/powerpoint/2010/main" val="73151914"/>
      </p:ext>
    </p:extLst>
  </p:cSld>
</p:sld>
</file>

<file path=ppt/slides/slide24.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161633-BA37-4125-9909-46371B9ECFA4}"/>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5F64EBCB-0CD0-4B14-861D-3363AECEB319}"/>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24</a:t>
            </a:r>
          </a:p>
        </p:txBody>
      </p:sp>
      <p:sp>
        <p:nvSpPr>
          <p:cNvPr id="3" name="">
            <a:extLst xmlns:a="http://schemas.openxmlformats.org/drawingml/2006/main">
              <a:ext uri="{FF2B5EF4-FFF2-40B4-BE49-F238E27FC236}">
                <a16:creationId xmlns:a16="http://schemas.microsoft.com/office/drawing/2014/main" id="{6B022713-1A18-47AE-B7BF-74C5C7894CEC}"/>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Aviatrix imagery</a:t>
            </a:r>
          </a:p>
        </p:txBody>
      </p:sp>
      <p:sp>
        <p:nvSpPr>
          <p:cNvPr id="4" name="">
            <a:extLst xmlns:a="http://schemas.openxmlformats.org/drawingml/2006/main">
              <a:ext uri="{FF2B5EF4-FFF2-40B4-BE49-F238E27FC236}">
                <a16:creationId xmlns:a16="http://schemas.microsoft.com/office/drawing/2014/main" id="{275F4A92-157B-4A9B-A2D6-2306FF6C5DBF}"/>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C94EBB-3B5F-4905-8A20-E991E5AFAF0F}"/>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Human authority grounded in real aviation environments</a:t>
            </a:r>
          </a:p>
        </p:txBody>
      </p:sp>
      <p:sp>
        <p:nvSpPr>
          <p:cNvPr id="6" name="">
            <a:extLst xmlns:a="http://schemas.openxmlformats.org/drawingml/2006/main">
              <a:ext uri="{FF2B5EF4-FFF2-40B4-BE49-F238E27FC236}">
                <a16:creationId xmlns:a16="http://schemas.microsoft.com/office/drawing/2014/main" id="{C86CC42B-507C-4AE2-835D-C56B4CF5E639}"/>
              </a:ext>
            </a:extLst>
          </p:cNvPr>
          <p:cNvSpPr>
            <a:spLocks xmlns:a="http://schemas.openxmlformats.org/drawingml/2006/main" noGrp="1"/>
          </p:cNvSpPr>
          <p:nvPr/>
        </p:nvSpPr>
        <p:spPr>
          <a:xfrm xmlns:a="http://schemas.openxmlformats.org/drawingml/2006/main">
            <a:off x="666750" y="1676400"/>
            <a:ext cx="590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i="0">
                <a:solidFill>
                  <a:srgbClr val="1A1F25"/>
                </a:solidFill>
                <a:latin typeface="Georgia"/>
                <a:ea typeface="Georgia"/>
                <a:cs typeface="Georgia"/>
              </a:defRPr>
            </a:pPr>
            <a:r>
              <a:rPr sz="2850" b="0" i="0">
                <a:solidFill>
                  <a:srgbClr val="1A1F25"/>
                </a:solidFill>
                <a:latin typeface="Georgia"/>
                <a:ea typeface="Georgia"/>
                <a:cs typeface="Georgia"/>
              </a:rPr>
              <a:t>Show capability before glamour.</a:t>
            </a:r>
          </a:p>
        </p:txBody>
      </p:sp>
      <p:sp>
        <p:nvSpPr>
          <p:cNvPr id="7" name="">
            <a:extLst xmlns:a="http://schemas.openxmlformats.org/drawingml/2006/main">
              <a:ext uri="{FF2B5EF4-FFF2-40B4-BE49-F238E27FC236}">
                <a16:creationId xmlns:a16="http://schemas.microsoft.com/office/drawing/2014/main" id="{7B7E2F8B-A751-477C-AA17-981942614299}"/>
              </a:ext>
            </a:extLst>
          </p:cNvPr>
          <p:cNvSpPr>
            <a:spLocks xmlns:a="http://schemas.openxmlformats.org/drawingml/2006/main" noGrp="1"/>
          </p:cNvSpPr>
          <p:nvPr/>
        </p:nvSpPr>
        <p:spPr>
          <a:xfrm xmlns:a="http://schemas.openxmlformats.org/drawingml/2006/main">
            <a:off x="666750" y="24574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People</a:t>
            </a:r>
          </a:p>
        </p:txBody>
      </p:sp>
      <p:sp>
        <p:nvSpPr>
          <p:cNvPr id="8" name="">
            <a:extLst xmlns:a="http://schemas.openxmlformats.org/drawingml/2006/main">
              <a:ext uri="{FF2B5EF4-FFF2-40B4-BE49-F238E27FC236}">
                <a16:creationId xmlns:a16="http://schemas.microsoft.com/office/drawing/2014/main" id="{AFBD496F-68D8-4250-AEC2-37A7D7151FBF}"/>
              </a:ext>
            </a:extLst>
          </p:cNvPr>
          <p:cNvSpPr>
            <a:spLocks xmlns:a="http://schemas.openxmlformats.org/drawingml/2006/main" noGrp="1"/>
          </p:cNvSpPr>
          <p:nvPr/>
        </p:nvSpPr>
        <p:spPr>
          <a:xfrm xmlns:a="http://schemas.openxmlformats.org/drawingml/2006/main">
            <a:off x="2381250" y="2457450"/>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Confident, observant and technically credible. Natural expressions, working environments, restrained styling.</a:t>
            </a:r>
          </a:p>
        </p:txBody>
      </p:sp>
      <p:sp>
        <p:nvSpPr>
          <p:cNvPr id="9" name="">
            <a:extLst xmlns:a="http://schemas.openxmlformats.org/drawingml/2006/main">
              <a:ext uri="{FF2B5EF4-FFF2-40B4-BE49-F238E27FC236}">
                <a16:creationId xmlns:a16="http://schemas.microsoft.com/office/drawing/2014/main" id="{0791FDE0-B725-4AE3-B5F8-234E219B2CA0}"/>
              </a:ext>
            </a:extLst>
          </p:cNvPr>
          <p:cNvSpPr>
            <a:spLocks xmlns:a="http://schemas.openxmlformats.org/drawingml/2006/main" noGrp="1"/>
          </p:cNvSpPr>
          <p:nvPr/>
        </p:nvSpPr>
        <p:spPr>
          <a:xfrm xmlns:a="http://schemas.openxmlformats.org/drawingml/2006/main">
            <a:off x="666750" y="32956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Aircraft</a:t>
            </a:r>
          </a:p>
        </p:txBody>
      </p:sp>
      <p:sp>
        <p:nvSpPr>
          <p:cNvPr id="10" name="">
            <a:extLst xmlns:a="http://schemas.openxmlformats.org/drawingml/2006/main">
              <a:ext uri="{FF2B5EF4-FFF2-40B4-BE49-F238E27FC236}">
                <a16:creationId xmlns:a16="http://schemas.microsoft.com/office/drawing/2014/main" id="{F7068740-8018-48A8-8AD4-4212C32E58A2}"/>
              </a:ext>
            </a:extLst>
          </p:cNvPr>
          <p:cNvSpPr>
            <a:spLocks xmlns:a="http://schemas.openxmlformats.org/drawingml/2006/main" noGrp="1"/>
          </p:cNvSpPr>
          <p:nvPr/>
        </p:nvSpPr>
        <p:spPr>
          <a:xfrm xmlns:a="http://schemas.openxmlformats.org/drawingml/2006/main">
            <a:off x="2381250" y="3295650"/>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Structural detail, wing geometry, maintenance environments and fleet scale. Avoid tourism imagery.</a:t>
            </a:r>
          </a:p>
        </p:txBody>
      </p:sp>
      <p:sp>
        <p:nvSpPr>
          <p:cNvPr id="11" name="">
            <a:extLst xmlns:a="http://schemas.openxmlformats.org/drawingml/2006/main">
              <a:ext uri="{FF2B5EF4-FFF2-40B4-BE49-F238E27FC236}">
                <a16:creationId xmlns:a16="http://schemas.microsoft.com/office/drawing/2014/main" id="{0FF99D88-8106-4145-B31C-9A3AC42CB930}"/>
              </a:ext>
            </a:extLst>
          </p:cNvPr>
          <p:cNvSpPr>
            <a:spLocks xmlns:a="http://schemas.openxmlformats.org/drawingml/2006/main" noGrp="1"/>
          </p:cNvSpPr>
          <p:nvPr/>
        </p:nvSpPr>
        <p:spPr>
          <a:xfrm xmlns:a="http://schemas.openxmlformats.org/drawingml/2006/main">
            <a:off x="666750" y="41338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Light</a:t>
            </a:r>
          </a:p>
        </p:txBody>
      </p:sp>
      <p:sp>
        <p:nvSpPr>
          <p:cNvPr id="12" name="">
            <a:extLst xmlns:a="http://schemas.openxmlformats.org/drawingml/2006/main">
              <a:ext uri="{FF2B5EF4-FFF2-40B4-BE49-F238E27FC236}">
                <a16:creationId xmlns:a16="http://schemas.microsoft.com/office/drawing/2014/main" id="{668EC71A-D6E5-4546-8D50-6691A4F64789}"/>
              </a:ext>
            </a:extLst>
          </p:cNvPr>
          <p:cNvSpPr>
            <a:spLocks xmlns:a="http://schemas.openxmlformats.org/drawingml/2006/main" noGrp="1"/>
          </p:cNvSpPr>
          <p:nvPr/>
        </p:nvSpPr>
        <p:spPr>
          <a:xfrm xmlns:a="http://schemas.openxmlformats.org/drawingml/2006/main">
            <a:off x="2381250" y="4133850"/>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Navy shadows, cream daylight and selective copper warmth. Keep skin tones and metal surfaces natural.</a:t>
            </a:r>
          </a:p>
        </p:txBody>
      </p:sp>
      <p:sp>
        <p:nvSpPr>
          <p:cNvPr id="13" name="">
            <a:extLst xmlns:a="http://schemas.openxmlformats.org/drawingml/2006/main">
              <a:ext uri="{FF2B5EF4-FFF2-40B4-BE49-F238E27FC236}">
                <a16:creationId xmlns:a16="http://schemas.microsoft.com/office/drawing/2014/main" id="{94316EE1-C32B-4635-9618-B888E1E3D929}"/>
              </a:ext>
            </a:extLst>
          </p:cNvPr>
          <p:cNvSpPr>
            <a:spLocks xmlns:a="http://schemas.openxmlformats.org/drawingml/2006/main" noGrp="1"/>
          </p:cNvSpPr>
          <p:nvPr/>
        </p:nvSpPr>
        <p:spPr>
          <a:xfrm xmlns:a="http://schemas.openxmlformats.org/drawingml/2006/main">
            <a:off x="666750" y="49720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B8864F"/>
                </a:solidFill>
                <a:latin typeface="Bahnschrift"/>
                <a:ea typeface="Bahnschrift"/>
                <a:cs typeface="Bahnschrift"/>
              </a:defRPr>
            </a:pPr>
            <a:r>
              <a:rPr sz="1650" b="1" i="0">
                <a:solidFill>
                  <a:srgbClr val="B8864F"/>
                </a:solidFill>
                <a:latin typeface="Bahnschrift"/>
                <a:ea typeface="Bahnschrift"/>
                <a:cs typeface="Bahnschrift"/>
              </a:rPr>
              <a:t>Composition</a:t>
            </a:r>
          </a:p>
        </p:txBody>
      </p:sp>
      <p:sp>
        <p:nvSpPr>
          <p:cNvPr id="14" name="">
            <a:extLst xmlns:a="http://schemas.openxmlformats.org/drawingml/2006/main">
              <a:ext uri="{FF2B5EF4-FFF2-40B4-BE49-F238E27FC236}">
                <a16:creationId xmlns:a16="http://schemas.microsoft.com/office/drawing/2014/main" id="{FD2186A1-7B0F-4743-B8D2-5320E81FE9D0}"/>
              </a:ext>
            </a:extLst>
          </p:cNvPr>
          <p:cNvSpPr>
            <a:spLocks xmlns:a="http://schemas.openxmlformats.org/drawingml/2006/main" noGrp="1"/>
          </p:cNvSpPr>
          <p:nvPr/>
        </p:nvSpPr>
        <p:spPr>
          <a:xfrm xmlns:a="http://schemas.openxmlformats.org/drawingml/2006/main">
            <a:off x="2381250" y="4972050"/>
            <a:ext cx="542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Strong negative space, precise crops and quiet horizons that support editorial typography.</a:t>
            </a:r>
          </a:p>
        </p:txBody>
      </p:sp>
      <p:sp>
        <p:nvSpPr>
          <p:cNvPr id="15" name="">
            <a:extLst xmlns:a="http://schemas.openxmlformats.org/drawingml/2006/main">
              <a:ext uri="{FF2B5EF4-FFF2-40B4-BE49-F238E27FC236}">
                <a16:creationId xmlns:a16="http://schemas.microsoft.com/office/drawing/2014/main" id="{92937C8C-6685-44D9-B088-7B3017F520C6}"/>
              </a:ext>
            </a:extLst>
          </p:cNvPr>
          <p:cNvSpPr>
            <a:spLocks xmlns:a="http://schemas.openxmlformats.org/drawingml/2006/main" noGrp="1"/>
          </p:cNvSpPr>
          <p:nvPr/>
        </p:nvSpPr>
        <p:spPr>
          <a:xfrm xmlns:a="http://schemas.openxmlformats.org/drawingml/2006/main">
            <a:off x="8477250" y="1657350"/>
            <a:ext cx="2857500" cy="3886200"/>
          </a:xfrm>
          <a:prstGeom xmlns:a="http://schemas.openxmlformats.org/drawingml/2006/main" prst="roundRect">
            <a:avLst>
              <a:gd name="adj" fmla="val 50000"/>
            </a:avLst>
          </a:prstGeom>
          <a:gradFill xmlns:a="http://schemas.openxmlformats.org/drawingml/2006/main">
            <a:gsLst>
              <a:gs pos="0">
                <a:srgbClr val="1A1F25"/>
              </a:gs>
              <a:gs pos="52000">
                <a:srgbClr val="2B333C"/>
              </a:gs>
              <a:gs pos="100000">
                <a:srgbClr val="B8864F"/>
              </a:gs>
            </a:gsLst>
            <a:lin ang="1080000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110C5CC-69ED-4B96-865A-4E9A73F7073A}"/>
              </a:ext>
            </a:extLst>
          </p:cNvPr>
          <p:cNvSpPr>
            <a:spLocks xmlns:a="http://schemas.openxmlformats.org/drawingml/2006/main" noGrp="1"/>
          </p:cNvSpPr>
          <p:nvPr/>
        </p:nvSpPr>
        <p:spPr>
          <a:xfrm xmlns:a="http://schemas.openxmlformats.org/drawingml/2006/main">
            <a:off x="8896350" y="306705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i="0">
                <a:solidFill>
                  <a:srgbClr val="FCFAF6"/>
                </a:solidFill>
                <a:latin typeface="Bahnschrift"/>
                <a:ea typeface="Bahnschrift"/>
                <a:cs typeface="Bahnschrift"/>
              </a:defRPr>
            </a:pPr>
            <a:r>
              <a:rPr sz="2100" b="1" i="0">
                <a:solidFill>
                  <a:srgbClr val="FCFAF6"/>
                </a:solidFill>
                <a:latin typeface="Bahnschrift"/>
                <a:ea typeface="Bahnschrift"/>
                <a:cs typeface="Bahnschrift"/>
              </a:rPr>
              <a:t>AVIATRIX</a:t>
            </a:r>
          </a:p>
        </p:txBody>
      </p:sp>
      <p:sp>
        <p:nvSpPr>
          <p:cNvPr id="17" name="">
            <a:extLst xmlns:a="http://schemas.openxmlformats.org/drawingml/2006/main">
              <a:ext uri="{FF2B5EF4-FFF2-40B4-BE49-F238E27FC236}">
                <a16:creationId xmlns:a16="http://schemas.microsoft.com/office/drawing/2014/main" id="{2A59CF34-7A2A-4BEA-8EDE-FE1BCAD85693}"/>
              </a:ext>
            </a:extLst>
          </p:cNvPr>
          <p:cNvSpPr>
            <a:spLocks xmlns:a="http://schemas.openxmlformats.org/drawingml/2006/main" noGrp="1"/>
          </p:cNvSpPr>
          <p:nvPr/>
        </p:nvSpPr>
        <p:spPr>
          <a:xfrm xmlns:a="http://schemas.openxmlformats.org/drawingml/2006/main">
            <a:off x="8858250" y="35433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CALM AUTHORITY</a:t>
            </a:r>
          </a:p>
        </p:txBody>
      </p:sp>
    </p:spTree>
    <p:extLst>
      <p:ext uri="{BB962C8B-B14F-4D97-AF65-F5344CB8AC3E}">
        <p14:creationId xmlns:p14="http://schemas.microsoft.com/office/powerpoint/2010/main" val="1428735959"/>
      </p:ext>
    </p:extLst>
  </p:cSld>
</p:sld>
</file>

<file path=ppt/slides/slide25.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044C08B-647C-4AEC-A66C-220275DF88A1}"/>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F1609DD8-2EFA-4038-A5EA-46E0F23F94BE}"/>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25</a:t>
            </a:r>
          </a:p>
        </p:txBody>
      </p:sp>
      <p:sp>
        <p:nvSpPr>
          <p:cNvPr id="3" name="">
            <a:extLst xmlns:a="http://schemas.openxmlformats.org/drawingml/2006/main">
              <a:ext uri="{FF2B5EF4-FFF2-40B4-BE49-F238E27FC236}">
                <a16:creationId xmlns:a16="http://schemas.microsoft.com/office/drawing/2014/main" id="{2B2F7E19-041B-49C8-AF57-9698859AD904}"/>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Iconography</a:t>
            </a:r>
          </a:p>
        </p:txBody>
      </p:sp>
      <p:sp>
        <p:nvSpPr>
          <p:cNvPr id="4" name="">
            <a:extLst xmlns:a="http://schemas.openxmlformats.org/drawingml/2006/main">
              <a:ext uri="{FF2B5EF4-FFF2-40B4-BE49-F238E27FC236}">
                <a16:creationId xmlns:a16="http://schemas.microsoft.com/office/drawing/2014/main" id="{B584C5C5-38D0-47FE-A8B9-792B275F9932}"/>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DC24A9-5B7F-4554-B40F-E93351FE0980}"/>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Functional, precise and visually quiet</a:t>
            </a:r>
          </a:p>
        </p:txBody>
      </p:sp>
      <p:sp>
        <p:nvSpPr>
          <p:cNvPr id="6" name="">
            <a:extLst xmlns:a="http://schemas.openxmlformats.org/drawingml/2006/main">
              <a:ext uri="{FF2B5EF4-FFF2-40B4-BE49-F238E27FC236}">
                <a16:creationId xmlns:a16="http://schemas.microsoft.com/office/drawing/2014/main" id="{531B6EF0-6C9A-42F8-9D84-8888BE6C2844}"/>
              </a:ext>
            </a:extLst>
          </p:cNvPr>
          <p:cNvSpPr>
            <a:spLocks xmlns:a="http://schemas.openxmlformats.org/drawingml/2006/main" noGrp="1"/>
          </p:cNvSpPr>
          <p:nvPr/>
        </p:nvSpPr>
        <p:spPr>
          <a:xfrm xmlns:a="http://schemas.openxmlformats.org/drawingml/2006/main">
            <a:off x="666750" y="1828800"/>
            <a:ext cx="552450" cy="552450"/>
          </a:xfrm>
          <a:prstGeom xmlns:a="http://schemas.openxmlformats.org/drawingml/2006/main" prst="roundRect">
            <a:avLst>
              <a:gd name="adj" fmla="val 20690"/>
            </a:avLst>
          </a:prstGeom>
          <a:solidFill xmlns:a="http://schemas.openxmlformats.org/drawingml/2006/main">
            <a:srgbClr val="1A1F2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CFEF922-1CA1-4041-AC1B-E9A87DA26EF4}"/>
              </a:ext>
            </a:extLst>
          </p:cNvPr>
          <p:cNvSpPr>
            <a:spLocks xmlns:a="http://schemas.openxmlformats.org/drawingml/2006/main" noGrp="1"/>
          </p:cNvSpPr>
          <p:nvPr/>
        </p:nvSpPr>
        <p:spPr>
          <a:xfrm xmlns:a="http://schemas.openxmlformats.org/drawingml/2006/main">
            <a:off x="828675" y="1914525"/>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FCFAF6"/>
                </a:solidFill>
                <a:latin typeface="Bahnschrift"/>
                <a:ea typeface="Bahnschrift"/>
                <a:cs typeface="Bahnschrift"/>
              </a:defRPr>
            </a:pPr>
            <a:r>
              <a:rPr sz="1950" b="1" i="0">
                <a:solidFill>
                  <a:srgbClr val="FCFAF6"/>
                </a:solidFill>
                <a:latin typeface="Bahnschrift"/>
                <a:ea typeface="Bahnschrift"/>
                <a:cs typeface="Bahnschrift"/>
              </a:rPr>
              <a:t>E</a:t>
            </a:r>
          </a:p>
        </p:txBody>
      </p:sp>
      <p:sp>
        <p:nvSpPr>
          <p:cNvPr id="8" name="">
            <a:extLst xmlns:a="http://schemas.openxmlformats.org/drawingml/2006/main">
              <a:ext uri="{FF2B5EF4-FFF2-40B4-BE49-F238E27FC236}">
                <a16:creationId xmlns:a16="http://schemas.microsoft.com/office/drawing/2014/main" id="{97AB31C8-993B-4D10-A391-AEC9F41F7949}"/>
              </a:ext>
            </a:extLst>
          </p:cNvPr>
          <p:cNvSpPr>
            <a:spLocks xmlns:a="http://schemas.openxmlformats.org/drawingml/2006/main" noGrp="1"/>
          </p:cNvSpPr>
          <p:nvPr/>
        </p:nvSpPr>
        <p:spPr>
          <a:xfrm xmlns:a="http://schemas.openxmlformats.org/drawingml/2006/main">
            <a:off x="666750" y="2647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Engineering</a:t>
            </a:r>
          </a:p>
        </p:txBody>
      </p:sp>
      <p:sp>
        <p:nvSpPr>
          <p:cNvPr id="9" name="">
            <a:extLst xmlns:a="http://schemas.openxmlformats.org/drawingml/2006/main">
              <a:ext uri="{FF2B5EF4-FFF2-40B4-BE49-F238E27FC236}">
                <a16:creationId xmlns:a16="http://schemas.microsoft.com/office/drawing/2014/main" id="{2A6B9378-F961-4A3D-BCDB-34ADDE5A7649}"/>
              </a:ext>
            </a:extLst>
          </p:cNvPr>
          <p:cNvSpPr>
            <a:spLocks xmlns:a="http://schemas.openxmlformats.org/drawingml/2006/main" noGrp="1"/>
          </p:cNvSpPr>
          <p:nvPr/>
        </p:nvSpPr>
        <p:spPr>
          <a:xfrm xmlns:a="http://schemas.openxmlformats.org/drawingml/2006/main">
            <a:off x="666750" y="308610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component, records, configuration, inspection</a:t>
            </a:r>
          </a:p>
        </p:txBody>
      </p:sp>
      <p:sp>
        <p:nvSpPr>
          <p:cNvPr id="10" name="">
            <a:extLst xmlns:a="http://schemas.openxmlformats.org/drawingml/2006/main">
              <a:ext uri="{FF2B5EF4-FFF2-40B4-BE49-F238E27FC236}">
                <a16:creationId xmlns:a16="http://schemas.microsoft.com/office/drawing/2014/main" id="{A2CD60AA-D1C4-4834-B606-BE14DBA7B8E8}"/>
              </a:ext>
            </a:extLst>
          </p:cNvPr>
          <p:cNvSpPr>
            <a:spLocks xmlns:a="http://schemas.openxmlformats.org/drawingml/2006/main" noGrp="1"/>
          </p:cNvSpPr>
          <p:nvPr/>
        </p:nvSpPr>
        <p:spPr>
          <a:xfrm xmlns:a="http://schemas.openxmlformats.org/drawingml/2006/main">
            <a:off x="3333750" y="1828800"/>
            <a:ext cx="552450" cy="552450"/>
          </a:xfrm>
          <a:prstGeom xmlns:a="http://schemas.openxmlformats.org/drawingml/2006/main" prst="roundRect">
            <a:avLst>
              <a:gd name="adj" fmla="val 20690"/>
            </a:avLst>
          </a:prstGeom>
          <a:solidFill xmlns:a="http://schemas.openxmlformats.org/drawingml/2006/main">
            <a:srgbClr val="1A1F2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D549BE-17A5-4408-99B1-4FBA515D1936}"/>
              </a:ext>
            </a:extLst>
          </p:cNvPr>
          <p:cNvSpPr>
            <a:spLocks xmlns:a="http://schemas.openxmlformats.org/drawingml/2006/main" noGrp="1"/>
          </p:cNvSpPr>
          <p:nvPr/>
        </p:nvSpPr>
        <p:spPr>
          <a:xfrm xmlns:a="http://schemas.openxmlformats.org/drawingml/2006/main">
            <a:off x="3495675" y="1914525"/>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FCFAF6"/>
                </a:solidFill>
                <a:latin typeface="Bahnschrift"/>
                <a:ea typeface="Bahnschrift"/>
                <a:cs typeface="Bahnschrift"/>
              </a:defRPr>
            </a:pPr>
            <a:r>
              <a:rPr sz="1950" b="1" i="0">
                <a:solidFill>
                  <a:srgbClr val="FCFAF6"/>
                </a:solidFill>
                <a:latin typeface="Bahnschrift"/>
                <a:ea typeface="Bahnschrift"/>
                <a:cs typeface="Bahnschrift"/>
              </a:rPr>
              <a:t>P</a:t>
            </a:r>
          </a:p>
        </p:txBody>
      </p:sp>
      <p:sp>
        <p:nvSpPr>
          <p:cNvPr id="12" name="">
            <a:extLst xmlns:a="http://schemas.openxmlformats.org/drawingml/2006/main">
              <a:ext uri="{FF2B5EF4-FFF2-40B4-BE49-F238E27FC236}">
                <a16:creationId xmlns:a16="http://schemas.microsoft.com/office/drawing/2014/main" id="{5FD45396-588C-478D-B05E-7F3A99D6F835}"/>
              </a:ext>
            </a:extLst>
          </p:cNvPr>
          <p:cNvSpPr>
            <a:spLocks xmlns:a="http://schemas.openxmlformats.org/drawingml/2006/main" noGrp="1"/>
          </p:cNvSpPr>
          <p:nvPr/>
        </p:nvSpPr>
        <p:spPr>
          <a:xfrm xmlns:a="http://schemas.openxmlformats.org/drawingml/2006/main">
            <a:off x="3333750" y="2647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Procurement</a:t>
            </a:r>
          </a:p>
        </p:txBody>
      </p:sp>
      <p:sp>
        <p:nvSpPr>
          <p:cNvPr id="13" name="">
            <a:extLst xmlns:a="http://schemas.openxmlformats.org/drawingml/2006/main">
              <a:ext uri="{FF2B5EF4-FFF2-40B4-BE49-F238E27FC236}">
                <a16:creationId xmlns:a16="http://schemas.microsoft.com/office/drawing/2014/main" id="{FF065CBA-E440-4451-8C54-A7E3A58457CB}"/>
              </a:ext>
            </a:extLst>
          </p:cNvPr>
          <p:cNvSpPr>
            <a:spLocks xmlns:a="http://schemas.openxmlformats.org/drawingml/2006/main" noGrp="1"/>
          </p:cNvSpPr>
          <p:nvPr/>
        </p:nvSpPr>
        <p:spPr>
          <a:xfrm xmlns:a="http://schemas.openxmlformats.org/drawingml/2006/main">
            <a:off x="3333750" y="308610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supplier, quote, lead time, availability</a:t>
            </a:r>
          </a:p>
        </p:txBody>
      </p:sp>
      <p:sp>
        <p:nvSpPr>
          <p:cNvPr id="14" name="">
            <a:extLst xmlns:a="http://schemas.openxmlformats.org/drawingml/2006/main">
              <a:ext uri="{FF2B5EF4-FFF2-40B4-BE49-F238E27FC236}">
                <a16:creationId xmlns:a16="http://schemas.microsoft.com/office/drawing/2014/main" id="{EB3E2794-8328-4B54-8FAD-C4A281557AD7}"/>
              </a:ext>
            </a:extLst>
          </p:cNvPr>
          <p:cNvSpPr>
            <a:spLocks xmlns:a="http://schemas.openxmlformats.org/drawingml/2006/main" noGrp="1"/>
          </p:cNvSpPr>
          <p:nvPr/>
        </p:nvSpPr>
        <p:spPr>
          <a:xfrm xmlns:a="http://schemas.openxmlformats.org/drawingml/2006/main">
            <a:off x="6000750" y="1828800"/>
            <a:ext cx="552450" cy="552450"/>
          </a:xfrm>
          <a:prstGeom xmlns:a="http://schemas.openxmlformats.org/drawingml/2006/main" prst="roundRect">
            <a:avLst>
              <a:gd name="adj" fmla="val 20690"/>
            </a:avLst>
          </a:prstGeom>
          <a:solidFill xmlns:a="http://schemas.openxmlformats.org/drawingml/2006/main">
            <a:srgbClr val="1A1F2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2AC9C5-D049-4F79-8713-075D8FC7A5DE}"/>
              </a:ext>
            </a:extLst>
          </p:cNvPr>
          <p:cNvSpPr>
            <a:spLocks xmlns:a="http://schemas.openxmlformats.org/drawingml/2006/main" noGrp="1"/>
          </p:cNvSpPr>
          <p:nvPr/>
        </p:nvSpPr>
        <p:spPr>
          <a:xfrm xmlns:a="http://schemas.openxmlformats.org/drawingml/2006/main">
            <a:off x="6162675" y="1914525"/>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FCFAF6"/>
                </a:solidFill>
                <a:latin typeface="Bahnschrift"/>
                <a:ea typeface="Bahnschrift"/>
                <a:cs typeface="Bahnschrift"/>
              </a:defRPr>
            </a:pPr>
            <a:r>
              <a:rPr sz="1950" b="1" i="0">
                <a:solidFill>
                  <a:srgbClr val="FCFAF6"/>
                </a:solidFill>
                <a:latin typeface="Bahnschrift"/>
                <a:ea typeface="Bahnschrift"/>
                <a:cs typeface="Bahnschrift"/>
              </a:rPr>
              <a:t>F</a:t>
            </a:r>
          </a:p>
        </p:txBody>
      </p:sp>
      <p:sp>
        <p:nvSpPr>
          <p:cNvPr id="16" name="">
            <a:extLst xmlns:a="http://schemas.openxmlformats.org/drawingml/2006/main">
              <a:ext uri="{FF2B5EF4-FFF2-40B4-BE49-F238E27FC236}">
                <a16:creationId xmlns:a16="http://schemas.microsoft.com/office/drawing/2014/main" id="{47512C58-ECF8-4CB2-BB10-D1A8CE289EF5}"/>
              </a:ext>
            </a:extLst>
          </p:cNvPr>
          <p:cNvSpPr>
            <a:spLocks xmlns:a="http://schemas.openxmlformats.org/drawingml/2006/main" noGrp="1"/>
          </p:cNvSpPr>
          <p:nvPr/>
        </p:nvSpPr>
        <p:spPr>
          <a:xfrm xmlns:a="http://schemas.openxmlformats.org/drawingml/2006/main">
            <a:off x="6000750" y="2647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Fleet</a:t>
            </a:r>
          </a:p>
        </p:txBody>
      </p:sp>
      <p:sp>
        <p:nvSpPr>
          <p:cNvPr id="17" name="">
            <a:extLst xmlns:a="http://schemas.openxmlformats.org/drawingml/2006/main">
              <a:ext uri="{FF2B5EF4-FFF2-40B4-BE49-F238E27FC236}">
                <a16:creationId xmlns:a16="http://schemas.microsoft.com/office/drawing/2014/main" id="{A003C48D-1647-461C-B59C-28C01896ACA7}"/>
              </a:ext>
            </a:extLst>
          </p:cNvPr>
          <p:cNvSpPr>
            <a:spLocks xmlns:a="http://schemas.openxmlformats.org/drawingml/2006/main" noGrp="1"/>
          </p:cNvSpPr>
          <p:nvPr/>
        </p:nvSpPr>
        <p:spPr>
          <a:xfrm xmlns:a="http://schemas.openxmlformats.org/drawingml/2006/main">
            <a:off x="6000750" y="308610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aircraft, utilisation, reliability, lifecycle</a:t>
            </a:r>
          </a:p>
        </p:txBody>
      </p:sp>
      <p:sp>
        <p:nvSpPr>
          <p:cNvPr id="18" name="">
            <a:extLst xmlns:a="http://schemas.openxmlformats.org/drawingml/2006/main">
              <a:ext uri="{FF2B5EF4-FFF2-40B4-BE49-F238E27FC236}">
                <a16:creationId xmlns:a16="http://schemas.microsoft.com/office/drawing/2014/main" id="{933A0DEC-418F-42AD-A4A8-F5D78F532B59}"/>
              </a:ext>
            </a:extLst>
          </p:cNvPr>
          <p:cNvSpPr>
            <a:spLocks xmlns:a="http://schemas.openxmlformats.org/drawingml/2006/main" noGrp="1"/>
          </p:cNvSpPr>
          <p:nvPr/>
        </p:nvSpPr>
        <p:spPr>
          <a:xfrm xmlns:a="http://schemas.openxmlformats.org/drawingml/2006/main">
            <a:off x="8667750" y="1828800"/>
            <a:ext cx="552450" cy="552450"/>
          </a:xfrm>
          <a:prstGeom xmlns:a="http://schemas.openxmlformats.org/drawingml/2006/main" prst="roundRect">
            <a:avLst>
              <a:gd name="adj" fmla="val 20690"/>
            </a:avLst>
          </a:prstGeom>
          <a:solidFill xmlns:a="http://schemas.openxmlformats.org/drawingml/2006/main">
            <a:srgbClr val="B8864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E17D55-5E37-4262-90A8-F952F82A59F0}"/>
              </a:ext>
            </a:extLst>
          </p:cNvPr>
          <p:cNvSpPr>
            <a:spLocks xmlns:a="http://schemas.openxmlformats.org/drawingml/2006/main" noGrp="1"/>
          </p:cNvSpPr>
          <p:nvPr/>
        </p:nvSpPr>
        <p:spPr>
          <a:xfrm xmlns:a="http://schemas.openxmlformats.org/drawingml/2006/main">
            <a:off x="8829675" y="1914525"/>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i="0">
                <a:solidFill>
                  <a:srgbClr val="FCFAF6"/>
                </a:solidFill>
                <a:latin typeface="Bahnschrift"/>
                <a:ea typeface="Bahnschrift"/>
                <a:cs typeface="Bahnschrift"/>
              </a:defRPr>
            </a:pPr>
            <a:r>
              <a:rPr sz="1950" b="1" i="0">
                <a:solidFill>
                  <a:srgbClr val="FCFAF6"/>
                </a:solidFill>
                <a:latin typeface="Bahnschrift"/>
                <a:ea typeface="Bahnschrift"/>
                <a:cs typeface="Bahnschrift"/>
              </a:rPr>
              <a:t>! </a:t>
            </a:r>
          </a:p>
        </p:txBody>
      </p:sp>
      <p:sp>
        <p:nvSpPr>
          <p:cNvPr id="20" name="">
            <a:extLst xmlns:a="http://schemas.openxmlformats.org/drawingml/2006/main">
              <a:ext uri="{FF2B5EF4-FFF2-40B4-BE49-F238E27FC236}">
                <a16:creationId xmlns:a16="http://schemas.microsoft.com/office/drawing/2014/main" id="{57EB3AA8-BEE6-44EC-A39C-EBAF5C432870}"/>
              </a:ext>
            </a:extLst>
          </p:cNvPr>
          <p:cNvSpPr>
            <a:spLocks xmlns:a="http://schemas.openxmlformats.org/drawingml/2006/main" noGrp="1"/>
          </p:cNvSpPr>
          <p:nvPr/>
        </p:nvSpPr>
        <p:spPr>
          <a:xfrm xmlns:a="http://schemas.openxmlformats.org/drawingml/2006/main">
            <a:off x="8667750" y="2647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1A1F25"/>
                </a:solidFill>
                <a:latin typeface="Bahnschrift"/>
                <a:ea typeface="Bahnschrift"/>
                <a:cs typeface="Bahnschrift"/>
              </a:defRPr>
            </a:pPr>
            <a:r>
              <a:rPr sz="1800" b="1" i="0">
                <a:solidFill>
                  <a:srgbClr val="1A1F25"/>
                </a:solidFill>
                <a:latin typeface="Bahnschrift"/>
                <a:ea typeface="Bahnschrift"/>
                <a:cs typeface="Bahnschrift"/>
              </a:rPr>
              <a:t>Status</a:t>
            </a:r>
          </a:p>
        </p:txBody>
      </p:sp>
      <p:sp>
        <p:nvSpPr>
          <p:cNvPr id="21" name="">
            <a:extLst xmlns:a="http://schemas.openxmlformats.org/drawingml/2006/main">
              <a:ext uri="{FF2B5EF4-FFF2-40B4-BE49-F238E27FC236}">
                <a16:creationId xmlns:a16="http://schemas.microsoft.com/office/drawing/2014/main" id="{FB6E7726-AA8C-465C-BEA1-4F6C9382FD47}"/>
              </a:ext>
            </a:extLst>
          </p:cNvPr>
          <p:cNvSpPr>
            <a:spLocks xmlns:a="http://schemas.openxmlformats.org/drawingml/2006/main" noGrp="1"/>
          </p:cNvSpPr>
          <p:nvPr/>
        </p:nvSpPr>
        <p:spPr>
          <a:xfrm xmlns:a="http://schemas.openxmlformats.org/drawingml/2006/main">
            <a:off x="8667750" y="3086100"/>
            <a:ext cx="219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verified, caution, action, restricted</a:t>
            </a:r>
          </a:p>
        </p:txBody>
      </p:sp>
      <p:sp>
        <p:nvSpPr>
          <p:cNvPr id="22" name="">
            <a:extLst xmlns:a="http://schemas.openxmlformats.org/drawingml/2006/main">
              <a:ext uri="{FF2B5EF4-FFF2-40B4-BE49-F238E27FC236}">
                <a16:creationId xmlns:a16="http://schemas.microsoft.com/office/drawing/2014/main" id="{AA41F34B-2191-4F62-96EF-4873C3B5A5E1}"/>
              </a:ext>
            </a:extLst>
          </p:cNvPr>
          <p:cNvSpPr>
            <a:spLocks xmlns:a="http://schemas.openxmlformats.org/drawingml/2006/main" noGrp="1"/>
          </p:cNvSpPr>
          <p:nvPr/>
        </p:nvSpPr>
        <p:spPr>
          <a:xfrm xmlns:a="http://schemas.openxmlformats.org/drawingml/2006/main">
            <a:off x="666750" y="4324350"/>
            <a:ext cx="10572750" cy="19050"/>
          </a:xfrm>
          <a:prstGeom xmlns:a="http://schemas.openxmlformats.org/drawingml/2006/main" prst="rect">
            <a:avLst/>
          </a:prstGeom>
          <a:solidFill xmlns:a="http://schemas.openxmlformats.org/drawingml/2006/main">
            <a:srgbClr val="D8CCB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826C0EA-B116-4681-A1F2-FF29B5F485C7}"/>
              </a:ext>
            </a:extLst>
          </p:cNvPr>
          <p:cNvSpPr>
            <a:spLocks xmlns:a="http://schemas.openxmlformats.org/drawingml/2006/main" noGrp="1"/>
          </p:cNvSpPr>
          <p:nvPr/>
        </p:nvSpPr>
        <p:spPr>
          <a:xfrm xmlns:a="http://schemas.openxmlformats.org/drawingml/2006/main">
            <a:off x="666750" y="464820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CONSTRUCTION</a:t>
            </a:r>
          </a:p>
        </p:txBody>
      </p:sp>
      <p:sp>
        <p:nvSpPr>
          <p:cNvPr id="24" name="">
            <a:extLst xmlns:a="http://schemas.openxmlformats.org/drawingml/2006/main">
              <a:ext uri="{FF2B5EF4-FFF2-40B4-BE49-F238E27FC236}">
                <a16:creationId xmlns:a16="http://schemas.microsoft.com/office/drawing/2014/main" id="{49A21378-8A97-4EDF-B2AE-B418E4C27DE9}"/>
              </a:ext>
            </a:extLst>
          </p:cNvPr>
          <p:cNvSpPr>
            <a:spLocks xmlns:a="http://schemas.openxmlformats.org/drawingml/2006/main" noGrp="1"/>
          </p:cNvSpPr>
          <p:nvPr/>
        </p:nvSpPr>
        <p:spPr>
          <a:xfrm xmlns:a="http://schemas.openxmlformats.org/drawingml/2006/main">
            <a:off x="2381250" y="461010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Use a consistent 24 px grid, 1.5-2 px stroke, rounded line joins and simple silhouettes. Fill only selected or critical states.</a:t>
            </a:r>
          </a:p>
        </p:txBody>
      </p:sp>
      <p:sp>
        <p:nvSpPr>
          <p:cNvPr id="25" name="">
            <a:extLst xmlns:a="http://schemas.openxmlformats.org/drawingml/2006/main">
              <a:ext uri="{FF2B5EF4-FFF2-40B4-BE49-F238E27FC236}">
                <a16:creationId xmlns:a16="http://schemas.microsoft.com/office/drawing/2014/main" id="{494CCF9A-FB6B-4A0C-9000-3810017AD408}"/>
              </a:ext>
            </a:extLst>
          </p:cNvPr>
          <p:cNvSpPr>
            <a:spLocks xmlns:a="http://schemas.openxmlformats.org/drawingml/2006/main" noGrp="1"/>
          </p:cNvSpPr>
          <p:nvPr/>
        </p:nvSpPr>
        <p:spPr>
          <a:xfrm xmlns:a="http://schemas.openxmlformats.org/drawingml/2006/main">
            <a:off x="666750" y="53911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COLOUR</a:t>
            </a:r>
          </a:p>
        </p:txBody>
      </p:sp>
      <p:sp>
        <p:nvSpPr>
          <p:cNvPr id="26" name="">
            <a:extLst xmlns:a="http://schemas.openxmlformats.org/drawingml/2006/main">
              <a:ext uri="{FF2B5EF4-FFF2-40B4-BE49-F238E27FC236}">
                <a16:creationId xmlns:a16="http://schemas.microsoft.com/office/drawing/2014/main" id="{2358C501-1848-4B76-8832-1CE3A8C47BFB}"/>
              </a:ext>
            </a:extLst>
          </p:cNvPr>
          <p:cNvSpPr>
            <a:spLocks xmlns:a="http://schemas.openxmlformats.org/drawingml/2006/main" noGrp="1"/>
          </p:cNvSpPr>
          <p:nvPr/>
        </p:nvSpPr>
        <p:spPr>
          <a:xfrm xmlns:a="http://schemas.openxmlformats.org/drawingml/2006/main">
            <a:off x="2381250" y="535305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Navy by default. Copper for active insight and decision points. Green and red remain functional status colours, not brand accents.</a:t>
            </a:r>
          </a:p>
        </p:txBody>
      </p:sp>
    </p:spTree>
    <p:extLst>
      <p:ext uri="{BB962C8B-B14F-4D97-AF65-F5344CB8AC3E}">
        <p14:creationId xmlns:p14="http://schemas.microsoft.com/office/powerpoint/2010/main" val="1062455003"/>
      </p:ext>
    </p:extLst>
  </p:cSld>
</p:sld>
</file>

<file path=ppt/slides/slide26.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08ecdb0f32b4a4b"/>
          <a:srcRect xmlns:a="http://schemas.openxmlformats.org/drawingml/2006/main" l="25378" t="0" r="25378"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F54FA2-6EAF-468F-AC1C-9C22663E849B}"/>
              </a:ext>
            </a:extLst>
          </p:cNvPr>
          <p:cNvSpPr>
            <a:spLocks xmlns:a="http://schemas.openxmlformats.org/drawingml/2006/main" noGrp="1"/>
          </p:cNvSpPr>
          <p:nvPr/>
        </p:nvSpPr>
        <p:spPr>
          <a:xfrm xmlns:a="http://schemas.openxmlformats.org/drawingml/2006/main">
            <a:off x="5753100" y="0"/>
            <a:ext cx="6438900" cy="6858000"/>
          </a:xfrm>
          <a:prstGeom xmlns:a="http://schemas.openxmlformats.org/drawingml/2006/main" prst="rect">
            <a:avLst/>
          </a:prstGeom>
          <a:gradFill xmlns:a="http://schemas.openxmlformats.org/drawingml/2006/main">
            <a:gsLst>
              <a:gs pos="0">
                <a:srgbClr val="1A1F25"/>
              </a:gs>
              <a:gs pos="14000">
                <a:srgbClr val="1A1F25">
                  <a:alpha val="86000"/>
                </a:srgbClr>
              </a:gs>
              <a:gs pos="55000">
                <a:srgbClr val="1A1F25">
                  <a:alpha val="10000"/>
                </a:srgbClr>
              </a:gs>
              <a:gs pos="100000">
                <a:srgbClr val="1A1F25">
                  <a:alpha val="0"/>
                </a:srgbClr>
              </a:gs>
            </a:gsLst>
            <a:lin ang="54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EBA91F-19AB-4542-9507-EF1AA88A3C37}"/>
              </a:ext>
            </a:extLst>
          </p:cNvPr>
          <p:cNvSpPr>
            <a:spLocks xmlns:a="http://schemas.openxmlformats.org/drawingml/2006/main" noGrp="1"/>
          </p:cNvSpPr>
          <p:nvPr/>
        </p:nvSpPr>
        <p:spPr>
          <a:xfrm xmlns:a="http://schemas.openxmlformats.org/drawingml/2006/main">
            <a:off x="647700" y="514350"/>
            <a:ext cx="666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Engineering and data visualisation</a:t>
            </a:r>
          </a:p>
        </p:txBody>
      </p:sp>
      <p:sp>
        <p:nvSpPr>
          <p:cNvPr id="4" name="">
            <a:extLst xmlns:a="http://schemas.openxmlformats.org/drawingml/2006/main">
              <a:ext uri="{FF2B5EF4-FFF2-40B4-BE49-F238E27FC236}">
                <a16:creationId xmlns:a16="http://schemas.microsoft.com/office/drawing/2014/main" id="{B5E963C4-54E2-4FD7-9DF6-869727B2B1C0}"/>
              </a:ext>
            </a:extLst>
          </p:cNvPr>
          <p:cNvSpPr>
            <a:spLocks xmlns:a="http://schemas.openxmlformats.org/drawingml/2006/main" noGrp="1"/>
          </p:cNvSpPr>
          <p:nvPr/>
        </p:nvSpPr>
        <p:spPr>
          <a:xfrm xmlns:a="http://schemas.openxmlformats.org/drawingml/2006/main">
            <a:off x="647700" y="1485900"/>
            <a:ext cx="8001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E5E79D-BF88-49A6-974B-E461EF4AD4DA}"/>
              </a:ext>
            </a:extLst>
          </p:cNvPr>
          <p:cNvSpPr>
            <a:spLocks xmlns:a="http://schemas.openxmlformats.org/drawingml/2006/main" noGrp="1"/>
          </p:cNvSpPr>
          <p:nvPr/>
        </p:nvSpPr>
        <p:spPr>
          <a:xfrm xmlns:a="http://schemas.openxmlformats.org/drawingml/2006/main">
            <a:off x="647700" y="1752600"/>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i="0">
                <a:solidFill>
                  <a:srgbClr val="FCFAF6"/>
                </a:solidFill>
                <a:latin typeface="Georgia"/>
                <a:ea typeface="Georgia"/>
                <a:cs typeface="Georgia"/>
              </a:defRPr>
            </a:pPr>
            <a:r>
              <a:rPr sz="1950" b="0" i="0">
                <a:solidFill>
                  <a:srgbClr val="FCFAF6"/>
                </a:solidFill>
                <a:latin typeface="Georgia"/>
                <a:ea typeface="Georgia"/>
                <a:cs typeface="Georgia"/>
              </a:rPr>
              <a:t>Data should help a decision, show confidence and keep technical context visible.</a:t>
            </a:r>
          </a:p>
        </p:txBody>
      </p:sp>
      <p:sp>
        <p:nvSpPr>
          <p:cNvPr id="6" name="">
            <a:extLst xmlns:a="http://schemas.openxmlformats.org/drawingml/2006/main">
              <a:ext uri="{FF2B5EF4-FFF2-40B4-BE49-F238E27FC236}">
                <a16:creationId xmlns:a16="http://schemas.microsoft.com/office/drawing/2014/main" id="{E9C2327F-4CB6-423E-9ECB-1CE270CF96AE}"/>
              </a:ext>
            </a:extLst>
          </p:cNvPr>
          <p:cNvSpPr>
            <a:spLocks xmlns:a="http://schemas.openxmlformats.org/drawingml/2006/main" noGrp="1"/>
          </p:cNvSpPr>
          <p:nvPr/>
        </p:nvSpPr>
        <p:spPr>
          <a:xfrm xmlns:a="http://schemas.openxmlformats.org/drawingml/2006/main">
            <a:off x="666750" y="30670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CBA36A"/>
                </a:solidFill>
                <a:latin typeface="Bahnschrift"/>
                <a:ea typeface="Bahnschrift"/>
                <a:cs typeface="Bahnschrift"/>
              </a:defRPr>
            </a:pPr>
            <a:r>
              <a:rPr sz="1200" b="1" i="0">
                <a:solidFill>
                  <a:srgbClr val="CBA36A"/>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8A5BD898-98AA-4BFA-8253-5BA960FE1BC8}"/>
              </a:ext>
            </a:extLst>
          </p:cNvPr>
          <p:cNvSpPr>
            <a:spLocks xmlns:a="http://schemas.openxmlformats.org/drawingml/2006/main" noGrp="1"/>
          </p:cNvSpPr>
          <p:nvPr/>
        </p:nvSpPr>
        <p:spPr>
          <a:xfrm xmlns:a="http://schemas.openxmlformats.org/drawingml/2006/main">
            <a:off x="1181100" y="3067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FCFAF6"/>
                </a:solidFill>
                <a:latin typeface="Bahnschrift"/>
                <a:ea typeface="Bahnschrift"/>
                <a:cs typeface="Bahnschrift"/>
              </a:defRPr>
            </a:pPr>
            <a:r>
              <a:rPr sz="1500" b="1" i="0">
                <a:solidFill>
                  <a:srgbClr val="FCFAF6"/>
                </a:solidFill>
                <a:latin typeface="Bahnschrift"/>
                <a:ea typeface="Bahnschrift"/>
                <a:cs typeface="Bahnschrift"/>
              </a:rPr>
              <a:t>Start with the question</a:t>
            </a:r>
          </a:p>
        </p:txBody>
      </p:sp>
      <p:sp>
        <p:nvSpPr>
          <p:cNvPr id="8" name="">
            <a:extLst xmlns:a="http://schemas.openxmlformats.org/drawingml/2006/main">
              <a:ext uri="{FF2B5EF4-FFF2-40B4-BE49-F238E27FC236}">
                <a16:creationId xmlns:a16="http://schemas.microsoft.com/office/drawing/2014/main" id="{AB64C061-7C67-4D6B-9862-B583B1CABBE1}"/>
              </a:ext>
            </a:extLst>
          </p:cNvPr>
          <p:cNvSpPr>
            <a:spLocks xmlns:a="http://schemas.openxmlformats.org/drawingml/2006/main" noGrp="1"/>
          </p:cNvSpPr>
          <p:nvPr/>
        </p:nvSpPr>
        <p:spPr>
          <a:xfrm xmlns:a="http://schemas.openxmlformats.org/drawingml/2006/main">
            <a:off x="3238500" y="30670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FCFAF6">
                    <a:alpha val="70000"/>
                  </a:srgbClr>
                </a:solidFill>
                <a:latin typeface="Bahnschrift"/>
                <a:ea typeface="Bahnschrift"/>
                <a:cs typeface="Bahnschrift"/>
              </a:defRPr>
            </a:pPr>
            <a:r>
              <a:rPr sz="1200" b="0" i="0">
                <a:solidFill>
                  <a:srgbClr val="FCFAF6">
                    <a:alpha val="70000"/>
                  </a:srgbClr>
                </a:solidFill>
                <a:latin typeface="Bahnschrift"/>
                <a:ea typeface="Bahnschrift"/>
                <a:cs typeface="Bahnschrift"/>
              </a:rPr>
              <a:t>Title charts with the decision or comparison they support.</a:t>
            </a:r>
          </a:p>
        </p:txBody>
      </p:sp>
      <p:sp>
        <p:nvSpPr>
          <p:cNvPr id="9" name="">
            <a:extLst xmlns:a="http://schemas.openxmlformats.org/drawingml/2006/main">
              <a:ext uri="{FF2B5EF4-FFF2-40B4-BE49-F238E27FC236}">
                <a16:creationId xmlns:a16="http://schemas.microsoft.com/office/drawing/2014/main" id="{B51C24A6-B5A7-43F2-A5D7-BD65CDD8FA63}"/>
              </a:ext>
            </a:extLst>
          </p:cNvPr>
          <p:cNvSpPr>
            <a:spLocks xmlns:a="http://schemas.openxmlformats.org/drawingml/2006/main" noGrp="1"/>
          </p:cNvSpPr>
          <p:nvPr/>
        </p:nvSpPr>
        <p:spPr>
          <a:xfrm xmlns:a="http://schemas.openxmlformats.org/drawingml/2006/main">
            <a:off x="666750" y="38100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CBA36A"/>
                </a:solidFill>
                <a:latin typeface="Bahnschrift"/>
                <a:ea typeface="Bahnschrift"/>
                <a:cs typeface="Bahnschrift"/>
              </a:defRPr>
            </a:pPr>
            <a:r>
              <a:rPr sz="1200" b="1" i="0">
                <a:solidFill>
                  <a:srgbClr val="CBA36A"/>
                </a:solidFill>
                <a:latin typeface="Bahnschrift"/>
                <a:ea typeface="Bahnschrift"/>
                <a:cs typeface="Bahnschrift"/>
              </a:rPr>
              <a:t>02</a:t>
            </a:r>
          </a:p>
        </p:txBody>
      </p:sp>
      <p:sp>
        <p:nvSpPr>
          <p:cNvPr id="10" name="">
            <a:extLst xmlns:a="http://schemas.openxmlformats.org/drawingml/2006/main">
              <a:ext uri="{FF2B5EF4-FFF2-40B4-BE49-F238E27FC236}">
                <a16:creationId xmlns:a16="http://schemas.microsoft.com/office/drawing/2014/main" id="{FA95460E-BB30-4278-98E2-9BAFC4567193}"/>
              </a:ext>
            </a:extLst>
          </p:cNvPr>
          <p:cNvSpPr>
            <a:spLocks xmlns:a="http://schemas.openxmlformats.org/drawingml/2006/main" noGrp="1"/>
          </p:cNvSpPr>
          <p:nvPr/>
        </p:nvSpPr>
        <p:spPr>
          <a:xfrm xmlns:a="http://schemas.openxmlformats.org/drawingml/2006/main">
            <a:off x="1181100" y="38100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FCFAF6"/>
                </a:solidFill>
                <a:latin typeface="Bahnschrift"/>
                <a:ea typeface="Bahnschrift"/>
                <a:cs typeface="Bahnschrift"/>
              </a:defRPr>
            </a:pPr>
            <a:r>
              <a:rPr sz="1500" b="1" i="0">
                <a:solidFill>
                  <a:srgbClr val="FCFAF6"/>
                </a:solidFill>
                <a:latin typeface="Bahnschrift"/>
                <a:ea typeface="Bahnschrift"/>
                <a:cs typeface="Bahnschrift"/>
              </a:rPr>
              <a:t>Use copper for the answer</a:t>
            </a:r>
          </a:p>
        </p:txBody>
      </p:sp>
      <p:sp>
        <p:nvSpPr>
          <p:cNvPr id="11" name="">
            <a:extLst xmlns:a="http://schemas.openxmlformats.org/drawingml/2006/main">
              <a:ext uri="{FF2B5EF4-FFF2-40B4-BE49-F238E27FC236}">
                <a16:creationId xmlns:a16="http://schemas.microsoft.com/office/drawing/2014/main" id="{473D7D2F-65B8-4946-8F85-8C1778ACC852}"/>
              </a:ext>
            </a:extLst>
          </p:cNvPr>
          <p:cNvSpPr>
            <a:spLocks xmlns:a="http://schemas.openxmlformats.org/drawingml/2006/main" noGrp="1"/>
          </p:cNvSpPr>
          <p:nvPr/>
        </p:nvSpPr>
        <p:spPr>
          <a:xfrm xmlns:a="http://schemas.openxmlformats.org/drawingml/2006/main">
            <a:off x="3238500" y="38100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FCFAF6">
                    <a:alpha val="70000"/>
                  </a:srgbClr>
                </a:solidFill>
                <a:latin typeface="Bahnschrift"/>
                <a:ea typeface="Bahnschrift"/>
                <a:cs typeface="Bahnschrift"/>
              </a:defRPr>
            </a:pPr>
            <a:r>
              <a:rPr sz="1200" b="0" i="0">
                <a:solidFill>
                  <a:srgbClr val="FCFAF6">
                    <a:alpha val="70000"/>
                  </a:srgbClr>
                </a:solidFill>
                <a:latin typeface="Bahnschrift"/>
                <a:ea typeface="Bahnschrift"/>
                <a:cs typeface="Bahnschrift"/>
              </a:rPr>
              <a:t>Highlight the selected route, risk or insight. Keep context in muted navy and grey.</a:t>
            </a:r>
          </a:p>
        </p:txBody>
      </p:sp>
      <p:sp>
        <p:nvSpPr>
          <p:cNvPr id="12" name="">
            <a:extLst xmlns:a="http://schemas.openxmlformats.org/drawingml/2006/main">
              <a:ext uri="{FF2B5EF4-FFF2-40B4-BE49-F238E27FC236}">
                <a16:creationId xmlns:a16="http://schemas.microsoft.com/office/drawing/2014/main" id="{2A17D3AE-F39E-47B9-B481-0CD27BD5EFFE}"/>
              </a:ext>
            </a:extLst>
          </p:cNvPr>
          <p:cNvSpPr>
            <a:spLocks xmlns:a="http://schemas.openxmlformats.org/drawingml/2006/main" noGrp="1"/>
          </p:cNvSpPr>
          <p:nvPr/>
        </p:nvSpPr>
        <p:spPr>
          <a:xfrm xmlns:a="http://schemas.openxmlformats.org/drawingml/2006/main">
            <a:off x="666750" y="455295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CBA36A"/>
                </a:solidFill>
                <a:latin typeface="Bahnschrift"/>
                <a:ea typeface="Bahnschrift"/>
                <a:cs typeface="Bahnschrift"/>
              </a:defRPr>
            </a:pPr>
            <a:r>
              <a:rPr sz="1200" b="1" i="0">
                <a:solidFill>
                  <a:srgbClr val="CBA36A"/>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8AA5DD8B-C950-4594-A4BC-02EF8111873A}"/>
              </a:ext>
            </a:extLst>
          </p:cNvPr>
          <p:cNvSpPr>
            <a:spLocks xmlns:a="http://schemas.openxmlformats.org/drawingml/2006/main" noGrp="1"/>
          </p:cNvSpPr>
          <p:nvPr/>
        </p:nvSpPr>
        <p:spPr>
          <a:xfrm xmlns:a="http://schemas.openxmlformats.org/drawingml/2006/main">
            <a:off x="1181100" y="4552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FCFAF6"/>
                </a:solidFill>
                <a:latin typeface="Bahnschrift"/>
                <a:ea typeface="Bahnschrift"/>
                <a:cs typeface="Bahnschrift"/>
              </a:defRPr>
            </a:pPr>
            <a:r>
              <a:rPr sz="1500" b="1" i="0">
                <a:solidFill>
                  <a:srgbClr val="FCFAF6"/>
                </a:solidFill>
                <a:latin typeface="Bahnschrift"/>
                <a:ea typeface="Bahnschrift"/>
                <a:cs typeface="Bahnschrift"/>
              </a:rPr>
              <a:t>Show confidence</a:t>
            </a:r>
          </a:p>
        </p:txBody>
      </p:sp>
      <p:sp>
        <p:nvSpPr>
          <p:cNvPr id="14" name="">
            <a:extLst xmlns:a="http://schemas.openxmlformats.org/drawingml/2006/main">
              <a:ext uri="{FF2B5EF4-FFF2-40B4-BE49-F238E27FC236}">
                <a16:creationId xmlns:a16="http://schemas.microsoft.com/office/drawing/2014/main" id="{F551CBF1-2A7B-4AF9-81FC-60F40D9EAAB2}"/>
              </a:ext>
            </a:extLst>
          </p:cNvPr>
          <p:cNvSpPr>
            <a:spLocks xmlns:a="http://schemas.openxmlformats.org/drawingml/2006/main" noGrp="1"/>
          </p:cNvSpPr>
          <p:nvPr/>
        </p:nvSpPr>
        <p:spPr>
          <a:xfrm xmlns:a="http://schemas.openxmlformats.org/drawingml/2006/main">
            <a:off x="3238500" y="45529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FCFAF6">
                    <a:alpha val="70000"/>
                  </a:srgbClr>
                </a:solidFill>
                <a:latin typeface="Bahnschrift"/>
                <a:ea typeface="Bahnschrift"/>
                <a:cs typeface="Bahnschrift"/>
              </a:defRPr>
            </a:pPr>
            <a:r>
              <a:rPr sz="1200" b="0" i="0">
                <a:solidFill>
                  <a:srgbClr val="FCFAF6">
                    <a:alpha val="70000"/>
                  </a:srgbClr>
                </a:solidFill>
                <a:latin typeface="Bahnschrift"/>
                <a:ea typeface="Bahnschrift"/>
                <a:cs typeface="Bahnschrift"/>
              </a:rPr>
              <a:t>Include source, date, units, assumptions and status where they affect interpretation.</a:t>
            </a:r>
          </a:p>
        </p:txBody>
      </p:sp>
      <p:sp>
        <p:nvSpPr>
          <p:cNvPr id="15" name="">
            <a:extLst xmlns:a="http://schemas.openxmlformats.org/drawingml/2006/main">
              <a:ext uri="{FF2B5EF4-FFF2-40B4-BE49-F238E27FC236}">
                <a16:creationId xmlns:a16="http://schemas.microsoft.com/office/drawing/2014/main" id="{7106BFAD-599C-436F-8192-74C48CEAF1D5}"/>
              </a:ext>
            </a:extLst>
          </p:cNvPr>
          <p:cNvSpPr>
            <a:spLocks xmlns:a="http://schemas.openxmlformats.org/drawingml/2006/main" noGrp="1"/>
          </p:cNvSpPr>
          <p:nvPr/>
        </p:nvSpPr>
        <p:spPr>
          <a:xfrm xmlns:a="http://schemas.openxmlformats.org/drawingml/2006/main">
            <a:off x="666750" y="5295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i="0">
                <a:solidFill>
                  <a:srgbClr val="CBA36A"/>
                </a:solidFill>
                <a:latin typeface="Bahnschrift"/>
                <a:ea typeface="Bahnschrift"/>
                <a:cs typeface="Bahnschrift"/>
              </a:defRPr>
            </a:pPr>
            <a:r>
              <a:rPr sz="1200" b="1" i="0">
                <a:solidFill>
                  <a:srgbClr val="CBA36A"/>
                </a:solidFill>
                <a:latin typeface="Bahnschrift"/>
                <a:ea typeface="Bahnschrift"/>
                <a:cs typeface="Bahnschrift"/>
              </a:rPr>
              <a:t>04</a:t>
            </a:r>
          </a:p>
        </p:txBody>
      </p:sp>
      <p:sp>
        <p:nvSpPr>
          <p:cNvPr id="16" name="">
            <a:extLst xmlns:a="http://schemas.openxmlformats.org/drawingml/2006/main">
              <a:ext uri="{FF2B5EF4-FFF2-40B4-BE49-F238E27FC236}">
                <a16:creationId xmlns:a16="http://schemas.microsoft.com/office/drawing/2014/main" id="{3A3CD544-35A8-4F60-82B6-D9EA34387B91}"/>
              </a:ext>
            </a:extLst>
          </p:cNvPr>
          <p:cNvSpPr>
            <a:spLocks xmlns:a="http://schemas.openxmlformats.org/drawingml/2006/main" noGrp="1"/>
          </p:cNvSpPr>
          <p:nvPr/>
        </p:nvSpPr>
        <p:spPr>
          <a:xfrm xmlns:a="http://schemas.openxmlformats.org/drawingml/2006/main">
            <a:off x="1181100" y="52959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FCFAF6"/>
                </a:solidFill>
                <a:latin typeface="Bahnschrift"/>
                <a:ea typeface="Bahnschrift"/>
                <a:cs typeface="Bahnschrift"/>
              </a:defRPr>
            </a:pPr>
            <a:r>
              <a:rPr sz="1500" b="1" i="0">
                <a:solidFill>
                  <a:srgbClr val="FCFAF6"/>
                </a:solidFill>
                <a:latin typeface="Bahnschrift"/>
                <a:ea typeface="Bahnschrift"/>
                <a:cs typeface="Bahnschrift"/>
              </a:rPr>
              <a:t>Prefer clarity</a:t>
            </a:r>
          </a:p>
        </p:txBody>
      </p:sp>
      <p:sp>
        <p:nvSpPr>
          <p:cNvPr id="17" name="">
            <a:extLst xmlns:a="http://schemas.openxmlformats.org/drawingml/2006/main">
              <a:ext uri="{FF2B5EF4-FFF2-40B4-BE49-F238E27FC236}">
                <a16:creationId xmlns:a16="http://schemas.microsoft.com/office/drawing/2014/main" id="{6F8DDE81-9346-45B7-AA29-D0A926A43371}"/>
              </a:ext>
            </a:extLst>
          </p:cNvPr>
          <p:cNvSpPr>
            <a:spLocks xmlns:a="http://schemas.openxmlformats.org/drawingml/2006/main" noGrp="1"/>
          </p:cNvSpPr>
          <p:nvPr/>
        </p:nvSpPr>
        <p:spPr>
          <a:xfrm xmlns:a="http://schemas.openxmlformats.org/drawingml/2006/main">
            <a:off x="3238500" y="52959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i="0">
                <a:solidFill>
                  <a:srgbClr val="FCFAF6">
                    <a:alpha val="70000"/>
                  </a:srgbClr>
                </a:solidFill>
                <a:latin typeface="Bahnschrift"/>
                <a:ea typeface="Bahnschrift"/>
                <a:cs typeface="Bahnschrift"/>
              </a:defRPr>
            </a:pPr>
            <a:r>
              <a:rPr sz="1200" b="0" i="0">
                <a:solidFill>
                  <a:srgbClr val="FCFAF6">
                    <a:alpha val="70000"/>
                  </a:srgbClr>
                </a:solidFill>
                <a:latin typeface="Bahnschrift"/>
                <a:ea typeface="Bahnschrift"/>
                <a:cs typeface="Bahnschrift"/>
              </a:rPr>
              <a:t>Use direct labels and simple scales. Avoid 3D charts, decorative gauges and unexplained scores.</a:t>
            </a:r>
          </a:p>
        </p:txBody>
      </p:sp>
      <p:sp>
        <p:nvSpPr>
          <p:cNvPr id="18" name="">
            <a:extLst xmlns:a="http://schemas.openxmlformats.org/drawingml/2006/main">
              <a:ext uri="{FF2B5EF4-FFF2-40B4-BE49-F238E27FC236}">
                <a16:creationId xmlns:a16="http://schemas.microsoft.com/office/drawing/2014/main" id="{F0913048-1A3C-4E15-829D-433931432675}"/>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19" name="">
            <a:extLst xmlns:a="http://schemas.openxmlformats.org/drawingml/2006/main">
              <a:ext uri="{FF2B5EF4-FFF2-40B4-BE49-F238E27FC236}">
                <a16:creationId xmlns:a16="http://schemas.microsoft.com/office/drawing/2014/main" id="{90BACFCE-5580-4C65-8E0C-BD85AE16A2DE}"/>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26</a:t>
            </a:r>
          </a:p>
        </p:txBody>
      </p:sp>
    </p:spTree>
    <p:extLst>
      <p:ext uri="{BB962C8B-B14F-4D97-AF65-F5344CB8AC3E}">
        <p14:creationId xmlns:p14="http://schemas.microsoft.com/office/powerpoint/2010/main" val="1984392503"/>
      </p:ext>
    </p:extLst>
  </p:cSld>
</p:sld>
</file>

<file path=ppt/slides/slide27.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101E9F7-9A87-440A-A1B9-F980CC204EF5}"/>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0D804E48-45F6-46F6-BFCB-C1E567AA000F}"/>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27</a:t>
            </a:r>
          </a:p>
        </p:txBody>
      </p:sp>
      <p:sp>
        <p:nvSpPr>
          <p:cNvPr id="3" name="">
            <a:extLst xmlns:a="http://schemas.openxmlformats.org/drawingml/2006/main">
              <a:ext uri="{FF2B5EF4-FFF2-40B4-BE49-F238E27FC236}">
                <a16:creationId xmlns:a16="http://schemas.microsoft.com/office/drawing/2014/main" id="{F5442A04-64C9-46DC-ABD1-3E39A482E009}"/>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Corporate document system</a:t>
            </a:r>
          </a:p>
        </p:txBody>
      </p:sp>
      <p:sp>
        <p:nvSpPr>
          <p:cNvPr id="4" name="">
            <a:extLst xmlns:a="http://schemas.openxmlformats.org/drawingml/2006/main">
              <a:ext uri="{FF2B5EF4-FFF2-40B4-BE49-F238E27FC236}">
                <a16:creationId xmlns:a16="http://schemas.microsoft.com/office/drawing/2014/main" id="{C38029D0-55EB-4D1B-B70F-91AC77DEB12F}"/>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34ABD6-5066-4F31-A890-381FE9450E5A}"/>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Reports should feel engineered, not decorated</a:t>
            </a:r>
          </a:p>
        </p:txBody>
      </p:sp>
      <p:sp>
        <p:nvSpPr>
          <p:cNvPr id="6" name="">
            <a:extLst xmlns:a="http://schemas.openxmlformats.org/drawingml/2006/main">
              <a:ext uri="{FF2B5EF4-FFF2-40B4-BE49-F238E27FC236}">
                <a16:creationId xmlns:a16="http://schemas.microsoft.com/office/drawing/2014/main" id="{E91E356B-CCAD-49BB-B11F-B8D9FD57BD00}"/>
              </a:ext>
            </a:extLst>
          </p:cNvPr>
          <p:cNvSpPr>
            <a:spLocks xmlns:a="http://schemas.openxmlformats.org/drawingml/2006/main" noGrp="1"/>
          </p:cNvSpPr>
          <p:nvPr/>
        </p:nvSpPr>
        <p:spPr>
          <a:xfrm xmlns:a="http://schemas.openxmlformats.org/drawingml/2006/main">
            <a:off x="666750" y="16764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i="0">
                <a:solidFill>
                  <a:srgbClr val="B8864F"/>
                </a:solidFill>
                <a:latin typeface="Bahnschrift"/>
                <a:ea typeface="Bahnschrift"/>
                <a:cs typeface="Bahnschrift"/>
              </a:defRPr>
            </a:pPr>
            <a:r>
              <a:rPr sz="1275" b="1" i="0">
                <a:solidFill>
                  <a:srgbClr val="B8864F"/>
                </a:solidFill>
                <a:latin typeface="Bahnschrift"/>
                <a:ea typeface="Bahnschrift"/>
                <a:cs typeface="Bahnschrift"/>
              </a:rPr>
              <a:t>Signature document</a:t>
            </a:r>
          </a:p>
        </p:txBody>
      </p:sp>
      <p:sp>
        <p:nvSpPr>
          <p:cNvPr id="7" name="">
            <a:extLst xmlns:a="http://schemas.openxmlformats.org/drawingml/2006/main">
              <a:ext uri="{FF2B5EF4-FFF2-40B4-BE49-F238E27FC236}">
                <a16:creationId xmlns:a16="http://schemas.microsoft.com/office/drawing/2014/main" id="{BA6FD0B6-6B66-4A2D-AE7E-82BBD7C3EA27}"/>
              </a:ext>
            </a:extLst>
          </p:cNvPr>
          <p:cNvSpPr>
            <a:spLocks xmlns:a="http://schemas.openxmlformats.org/drawingml/2006/main" noGrp="1"/>
          </p:cNvSpPr>
          <p:nvPr/>
        </p:nvSpPr>
        <p:spPr>
          <a:xfrm xmlns:a="http://schemas.openxmlformats.org/drawingml/2006/main">
            <a:off x="666750" y="20383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i="0">
                <a:solidFill>
                  <a:srgbClr val="1A1F25"/>
                </a:solidFill>
                <a:latin typeface="Bahnschrift"/>
                <a:ea typeface="Bahnschrift"/>
                <a:cs typeface="Bahnschrift"/>
              </a:defRPr>
            </a:pPr>
            <a:r>
              <a:rPr sz="2625" b="1" i="0">
                <a:solidFill>
                  <a:srgbClr val="1A1F25"/>
                </a:solidFill>
                <a:latin typeface="Bahnschrift"/>
                <a:ea typeface="Bahnschrift"/>
                <a:cs typeface="Bahnschrift"/>
              </a:rPr>
              <a:t>Component Intelligence Report</a:t>
            </a:r>
          </a:p>
        </p:txBody>
      </p:sp>
      <p:sp>
        <p:nvSpPr>
          <p:cNvPr id="8" name="">
            <a:extLst xmlns:a="http://schemas.openxmlformats.org/drawingml/2006/main">
              <a:ext uri="{FF2B5EF4-FFF2-40B4-BE49-F238E27FC236}">
                <a16:creationId xmlns:a16="http://schemas.microsoft.com/office/drawing/2014/main" id="{DCDAFF17-0C23-4A30-AF7B-D317719BAB39}"/>
              </a:ext>
            </a:extLst>
          </p:cNvPr>
          <p:cNvSpPr>
            <a:spLocks xmlns:a="http://schemas.openxmlformats.org/drawingml/2006/main" noGrp="1"/>
          </p:cNvSpPr>
          <p:nvPr/>
        </p:nvSpPr>
        <p:spPr>
          <a:xfrm xmlns:a="http://schemas.openxmlformats.org/drawingml/2006/main">
            <a:off x="666750" y="2705100"/>
            <a:ext cx="5143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i="0">
                <a:solidFill>
                  <a:srgbClr val="6C737A"/>
                </a:solidFill>
                <a:latin typeface="Bahnschrift"/>
                <a:ea typeface="Bahnschrift"/>
                <a:cs typeface="Bahnschrift"/>
              </a:defRPr>
            </a:pPr>
            <a:r>
              <a:rPr sz="1650" b="0" i="0">
                <a:solidFill>
                  <a:srgbClr val="6C737A"/>
                </a:solidFill>
                <a:latin typeface="Bahnschrift"/>
                <a:ea typeface="Bahnschrift"/>
                <a:cs typeface="Bahnschrift"/>
              </a:rPr>
              <a:t>A decision-ready report connecting part identity, configuration, records, supplier landscape, market position, sourcing options and recommended action.</a:t>
            </a:r>
          </a:p>
        </p:txBody>
      </p:sp>
      <p:sp>
        <p:nvSpPr>
          <p:cNvPr id="9" name="">
            <a:extLst xmlns:a="http://schemas.openxmlformats.org/drawingml/2006/main">
              <a:ext uri="{FF2B5EF4-FFF2-40B4-BE49-F238E27FC236}">
                <a16:creationId xmlns:a16="http://schemas.microsoft.com/office/drawing/2014/main" id="{CB3398A4-9A87-4647-BFC8-64CD735140FD}"/>
              </a:ext>
            </a:extLst>
          </p:cNvPr>
          <p:cNvSpPr>
            <a:spLocks xmlns:a="http://schemas.openxmlformats.org/drawingml/2006/main" noGrp="1"/>
          </p:cNvSpPr>
          <p:nvPr/>
        </p:nvSpPr>
        <p:spPr>
          <a:xfrm xmlns:a="http://schemas.openxmlformats.org/drawingml/2006/main">
            <a:off x="666750" y="4095750"/>
            <a:ext cx="51435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43091E-934B-4B6D-9ACF-72F98F1A736B}"/>
              </a:ext>
            </a:extLst>
          </p:cNvPr>
          <p:cNvSpPr>
            <a:spLocks xmlns:a="http://schemas.openxmlformats.org/drawingml/2006/main" noGrp="1"/>
          </p:cNvSpPr>
          <p:nvPr/>
        </p:nvSpPr>
        <p:spPr>
          <a:xfrm xmlns:a="http://schemas.openxmlformats.org/drawingml/2006/main">
            <a:off x="666750" y="4438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CORE TEMPLATES</a:t>
            </a:r>
          </a:p>
        </p:txBody>
      </p:sp>
      <p:sp>
        <p:nvSpPr>
          <p:cNvPr id="11" name="">
            <a:extLst xmlns:a="http://schemas.openxmlformats.org/drawingml/2006/main">
              <a:ext uri="{FF2B5EF4-FFF2-40B4-BE49-F238E27FC236}">
                <a16:creationId xmlns:a16="http://schemas.microsoft.com/office/drawing/2014/main" id="{FC641DDA-B079-458B-95C6-79267DDE9F7B}"/>
              </a:ext>
            </a:extLst>
          </p:cNvPr>
          <p:cNvSpPr>
            <a:spLocks xmlns:a="http://schemas.openxmlformats.org/drawingml/2006/main" noGrp="1"/>
          </p:cNvSpPr>
          <p:nvPr/>
        </p:nvSpPr>
        <p:spPr>
          <a:xfrm xmlns:a="http://schemas.openxmlformats.org/drawingml/2006/main">
            <a:off x="666750" y="4819650"/>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Letterhead and correspondence</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Quotation and RFQ</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Capability statement</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Proposal and pitch deck</a:t>
            </a:r>
          </a:p>
        </p:txBody>
      </p:sp>
      <p:sp>
        <p:nvSpPr>
          <p:cNvPr id="12" name="">
            <a:extLst xmlns:a="http://schemas.openxmlformats.org/drawingml/2006/main">
              <a:ext uri="{FF2B5EF4-FFF2-40B4-BE49-F238E27FC236}">
                <a16:creationId xmlns:a16="http://schemas.microsoft.com/office/drawing/2014/main" id="{D326C2A3-94DB-43F9-9256-1D0520C59625}"/>
              </a:ext>
            </a:extLst>
          </p:cNvPr>
          <p:cNvSpPr>
            <a:spLocks xmlns:a="http://schemas.openxmlformats.org/drawingml/2006/main" noGrp="1"/>
          </p:cNvSpPr>
          <p:nvPr/>
        </p:nvSpPr>
        <p:spPr>
          <a:xfrm xmlns:a="http://schemas.openxmlformats.org/drawingml/2006/main">
            <a:off x="3638550" y="4819650"/>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Supplier communication</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Procurement analysis</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Fleet intelligence report</a:t>
            </a:r>
          </a:p>
          <a:p xmlns:a="http://schemas.openxmlformats.org/drawingml/2006/main">
            <a:pPr>
              <a:defRPr sz="1350" b="0" i="0">
                <a:solidFill>
                  <a:srgbClr val="1A1F25"/>
                </a:solidFill>
                <a:latin typeface="Bahnschrift"/>
                <a:ea typeface="Bahnschrift"/>
                <a:cs typeface="Bahnschrift"/>
              </a:defRPr>
            </a:pPr>
            <a:r>
              <a:rPr sz="1350" b="0" i="0">
                <a:solidFill>
                  <a:srgbClr val="1A1F25"/>
                </a:solidFill>
                <a:latin typeface="Bahnschrift"/>
                <a:ea typeface="Bahnschrift"/>
                <a:cs typeface="Bahnschrift"/>
              </a:rPr>
              <a:t>Engineering brief</a:t>
            </a:r>
          </a:p>
        </p:txBody>
      </p:sp>
      <p:sp>
        <p:nvSpPr>
          <p:cNvPr id="13" name="">
            <a:extLst xmlns:a="http://schemas.openxmlformats.org/drawingml/2006/main">
              <a:ext uri="{FF2B5EF4-FFF2-40B4-BE49-F238E27FC236}">
                <a16:creationId xmlns:a16="http://schemas.microsoft.com/office/drawing/2014/main" id="{37146F8B-8C27-4283-9E9F-FB74B432DAA6}"/>
              </a:ext>
            </a:extLst>
          </p:cNvPr>
          <p:cNvSpPr>
            <a:spLocks xmlns:a="http://schemas.openxmlformats.org/drawingml/2006/main" noGrp="1"/>
          </p:cNvSpPr>
          <p:nvPr/>
        </p:nvSpPr>
        <p:spPr>
          <a:xfrm xmlns:a="http://schemas.openxmlformats.org/drawingml/2006/main">
            <a:off x="7067550" y="1619250"/>
            <a:ext cx="4000500" cy="4171950"/>
          </a:xfrm>
          <a:prstGeom xmlns:a="http://schemas.openxmlformats.org/drawingml/2006/main" prst="roundRect">
            <a:avLst>
              <a:gd name="adj" fmla="val 3810"/>
            </a:avLst>
          </a:prstGeom>
          <a:solidFill xmlns:a="http://schemas.openxmlformats.org/drawingml/2006/main">
            <a:srgbClr val="1A1F2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3CAD257-5A00-4DB3-B90D-06EB81CCB221}"/>
              </a:ext>
            </a:extLst>
          </p:cNvPr>
          <p:cNvSpPr>
            <a:spLocks xmlns:a="http://schemas.openxmlformats.org/drawingml/2006/main" noGrp="1"/>
          </p:cNvSpPr>
          <p:nvPr/>
        </p:nvSpPr>
        <p:spPr>
          <a:xfrm xmlns:a="http://schemas.openxmlformats.org/drawingml/2006/main">
            <a:off x="7410450" y="19621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CBA36A"/>
                </a:solidFill>
                <a:latin typeface="Bahnschrift"/>
                <a:ea typeface="Bahnschrift"/>
                <a:cs typeface="Bahnschrift"/>
              </a:defRPr>
            </a:pPr>
            <a:r>
              <a:rPr sz="1050" b="1" i="0">
                <a:solidFill>
                  <a:srgbClr val="CBA36A"/>
                </a:solidFill>
                <a:latin typeface="Bahnschrift"/>
                <a:ea typeface="Bahnschrift"/>
                <a:cs typeface="Bahnschrift"/>
              </a:rPr>
              <a:t>DOCUMENT RHYTHM</a:t>
            </a:r>
          </a:p>
        </p:txBody>
      </p:sp>
      <p:sp>
        <p:nvSpPr>
          <p:cNvPr id="15" name="">
            <a:extLst xmlns:a="http://schemas.openxmlformats.org/drawingml/2006/main">
              <a:ext uri="{FF2B5EF4-FFF2-40B4-BE49-F238E27FC236}">
                <a16:creationId xmlns:a16="http://schemas.microsoft.com/office/drawing/2014/main" id="{989FD0E9-2883-4DD9-BE65-8BA77E91B422}"/>
              </a:ext>
            </a:extLst>
          </p:cNvPr>
          <p:cNvSpPr>
            <a:spLocks xmlns:a="http://schemas.openxmlformats.org/drawingml/2006/main" noGrp="1"/>
          </p:cNvSpPr>
          <p:nvPr/>
        </p:nvSpPr>
        <p:spPr>
          <a:xfrm xmlns:a="http://schemas.openxmlformats.org/drawingml/2006/main">
            <a:off x="7410450" y="2457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FCFAF6"/>
                </a:solidFill>
                <a:latin typeface="Bahnschrift"/>
                <a:ea typeface="Bahnschrift"/>
                <a:cs typeface="Bahnschrift"/>
              </a:defRPr>
            </a:pPr>
            <a:r>
              <a:rPr sz="1650" b="1" i="0">
                <a:solidFill>
                  <a:srgbClr val="FCFAF6"/>
                </a:solidFill>
                <a:latin typeface="Bahnschrift"/>
                <a:ea typeface="Bahnschrift"/>
                <a:cs typeface="Bahnschrift"/>
              </a:rPr>
              <a:t>01  Decision first</a:t>
            </a:r>
          </a:p>
        </p:txBody>
      </p:sp>
      <p:sp>
        <p:nvSpPr>
          <p:cNvPr id="16" name="">
            <a:extLst xmlns:a="http://schemas.openxmlformats.org/drawingml/2006/main">
              <a:ext uri="{FF2B5EF4-FFF2-40B4-BE49-F238E27FC236}">
                <a16:creationId xmlns:a16="http://schemas.microsoft.com/office/drawing/2014/main" id="{1B5DC8CB-C168-4730-9124-1AA2C17944DD}"/>
              </a:ext>
            </a:extLst>
          </p:cNvPr>
          <p:cNvSpPr>
            <a:spLocks xmlns:a="http://schemas.openxmlformats.org/drawingml/2006/main" noGrp="1"/>
          </p:cNvSpPr>
          <p:nvPr/>
        </p:nvSpPr>
        <p:spPr>
          <a:xfrm xmlns:a="http://schemas.openxmlformats.org/drawingml/2006/main">
            <a:off x="7410450" y="28003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FCFAF6">
                    <a:alpha val="72000"/>
                  </a:srgbClr>
                </a:solidFill>
                <a:latin typeface="Bahnschrift"/>
                <a:ea typeface="Bahnschrift"/>
                <a:cs typeface="Bahnschrift"/>
              </a:defRPr>
            </a:pPr>
            <a:r>
              <a:rPr sz="1275" b="0" i="0">
                <a:solidFill>
                  <a:srgbClr val="FCFAF6">
                    <a:alpha val="72000"/>
                  </a:srgbClr>
                </a:solidFill>
                <a:latin typeface="Bahnschrift"/>
                <a:ea typeface="Bahnschrift"/>
                <a:cs typeface="Bahnschrift"/>
              </a:rPr>
              <a:t>Open with the recommendation, status or question.</a:t>
            </a:r>
          </a:p>
        </p:txBody>
      </p:sp>
      <p:sp>
        <p:nvSpPr>
          <p:cNvPr id="17" name="">
            <a:extLst xmlns:a="http://schemas.openxmlformats.org/drawingml/2006/main">
              <a:ext uri="{FF2B5EF4-FFF2-40B4-BE49-F238E27FC236}">
                <a16:creationId xmlns:a16="http://schemas.microsoft.com/office/drawing/2014/main" id="{130A67D3-F9E0-4BCC-95BB-242899637533}"/>
              </a:ext>
            </a:extLst>
          </p:cNvPr>
          <p:cNvSpPr>
            <a:spLocks xmlns:a="http://schemas.openxmlformats.org/drawingml/2006/main" noGrp="1"/>
          </p:cNvSpPr>
          <p:nvPr/>
        </p:nvSpPr>
        <p:spPr>
          <a:xfrm xmlns:a="http://schemas.openxmlformats.org/drawingml/2006/main">
            <a:off x="7410450" y="34480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FCFAF6"/>
                </a:solidFill>
                <a:latin typeface="Bahnschrift"/>
                <a:ea typeface="Bahnschrift"/>
                <a:cs typeface="Bahnschrift"/>
              </a:defRPr>
            </a:pPr>
            <a:r>
              <a:rPr sz="1650" b="1" i="0">
                <a:solidFill>
                  <a:srgbClr val="FCFAF6"/>
                </a:solidFill>
                <a:latin typeface="Bahnschrift"/>
                <a:ea typeface="Bahnschrift"/>
                <a:cs typeface="Bahnschrift"/>
              </a:rPr>
              <a:t>02  Evidence next</a:t>
            </a:r>
          </a:p>
        </p:txBody>
      </p:sp>
      <p:sp>
        <p:nvSpPr>
          <p:cNvPr id="18" name="">
            <a:extLst xmlns:a="http://schemas.openxmlformats.org/drawingml/2006/main">
              <a:ext uri="{FF2B5EF4-FFF2-40B4-BE49-F238E27FC236}">
                <a16:creationId xmlns:a16="http://schemas.microsoft.com/office/drawing/2014/main" id="{38CFEF9C-F208-4CFD-A15B-818FAF52C810}"/>
              </a:ext>
            </a:extLst>
          </p:cNvPr>
          <p:cNvSpPr>
            <a:spLocks xmlns:a="http://schemas.openxmlformats.org/drawingml/2006/main" noGrp="1"/>
          </p:cNvSpPr>
          <p:nvPr/>
        </p:nvSpPr>
        <p:spPr>
          <a:xfrm xmlns:a="http://schemas.openxmlformats.org/drawingml/2006/main">
            <a:off x="7410450" y="37909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FCFAF6">
                    <a:alpha val="72000"/>
                  </a:srgbClr>
                </a:solidFill>
                <a:latin typeface="Bahnschrift"/>
                <a:ea typeface="Bahnschrift"/>
                <a:cs typeface="Bahnschrift"/>
              </a:defRPr>
            </a:pPr>
            <a:r>
              <a:rPr sz="1275" b="0" i="0">
                <a:solidFill>
                  <a:srgbClr val="FCFAF6">
                    <a:alpha val="72000"/>
                  </a:srgbClr>
                </a:solidFill>
                <a:latin typeface="Bahnschrift"/>
                <a:ea typeface="Bahnschrift"/>
                <a:cs typeface="Bahnschrift"/>
              </a:rPr>
              <a:t>Show technical and commercial evidence with traceable sources.</a:t>
            </a:r>
          </a:p>
        </p:txBody>
      </p:sp>
      <p:sp>
        <p:nvSpPr>
          <p:cNvPr id="19" name="">
            <a:extLst xmlns:a="http://schemas.openxmlformats.org/drawingml/2006/main">
              <a:ext uri="{FF2B5EF4-FFF2-40B4-BE49-F238E27FC236}">
                <a16:creationId xmlns:a16="http://schemas.microsoft.com/office/drawing/2014/main" id="{95DD39ED-0556-4EFE-A7F5-68621E73AFBD}"/>
              </a:ext>
            </a:extLst>
          </p:cNvPr>
          <p:cNvSpPr>
            <a:spLocks xmlns:a="http://schemas.openxmlformats.org/drawingml/2006/main" noGrp="1"/>
          </p:cNvSpPr>
          <p:nvPr/>
        </p:nvSpPr>
        <p:spPr>
          <a:xfrm xmlns:a="http://schemas.openxmlformats.org/drawingml/2006/main">
            <a:off x="7410450" y="44386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FCFAF6"/>
                </a:solidFill>
                <a:latin typeface="Bahnschrift"/>
                <a:ea typeface="Bahnschrift"/>
                <a:cs typeface="Bahnschrift"/>
              </a:defRPr>
            </a:pPr>
            <a:r>
              <a:rPr sz="1650" b="1" i="0">
                <a:solidFill>
                  <a:srgbClr val="FCFAF6"/>
                </a:solidFill>
                <a:latin typeface="Bahnschrift"/>
                <a:ea typeface="Bahnschrift"/>
                <a:cs typeface="Bahnschrift"/>
              </a:rPr>
              <a:t>03  Action clear</a:t>
            </a:r>
          </a:p>
        </p:txBody>
      </p:sp>
      <p:sp>
        <p:nvSpPr>
          <p:cNvPr id="20" name="">
            <a:extLst xmlns:a="http://schemas.openxmlformats.org/drawingml/2006/main">
              <a:ext uri="{FF2B5EF4-FFF2-40B4-BE49-F238E27FC236}">
                <a16:creationId xmlns:a16="http://schemas.microsoft.com/office/drawing/2014/main" id="{AE35586E-4B67-4A00-AC77-B95A0B759CA8}"/>
              </a:ext>
            </a:extLst>
          </p:cNvPr>
          <p:cNvSpPr>
            <a:spLocks xmlns:a="http://schemas.openxmlformats.org/drawingml/2006/main" noGrp="1"/>
          </p:cNvSpPr>
          <p:nvPr/>
        </p:nvSpPr>
        <p:spPr>
          <a:xfrm xmlns:a="http://schemas.openxmlformats.org/drawingml/2006/main">
            <a:off x="7410450" y="47815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i="0">
                <a:solidFill>
                  <a:srgbClr val="FCFAF6">
                    <a:alpha val="72000"/>
                  </a:srgbClr>
                </a:solidFill>
                <a:latin typeface="Bahnschrift"/>
                <a:ea typeface="Bahnschrift"/>
                <a:cs typeface="Bahnschrift"/>
              </a:defRPr>
            </a:pPr>
            <a:r>
              <a:rPr sz="1275" b="0" i="0">
                <a:solidFill>
                  <a:srgbClr val="FCFAF6">
                    <a:alpha val="72000"/>
                  </a:srgbClr>
                </a:solidFill>
                <a:latin typeface="Bahnschrift"/>
                <a:ea typeface="Bahnschrift"/>
                <a:cs typeface="Bahnschrift"/>
              </a:rPr>
              <a:t>Close with ownership, timing and unresolved conditions.</a:t>
            </a:r>
          </a:p>
        </p:txBody>
      </p:sp>
    </p:spTree>
    <p:extLst>
      <p:ext uri="{BB962C8B-B14F-4D97-AF65-F5344CB8AC3E}">
        <p14:creationId xmlns:p14="http://schemas.microsoft.com/office/powerpoint/2010/main" val="1492122403"/>
      </p:ext>
    </p:extLst>
  </p:cSld>
</p:sld>
</file>

<file path=ppt/slides/slide28.xml><?xml version="1.0" encoding="utf-8"?>
<p:sld xmlns:p="http://schemas.openxmlformats.org/presentationml/2006/main">
  <p:cSld>
    <p:bg>
      <p:bgPr>
        <a:solidFill xmlns:a="http://schemas.openxmlformats.org/drawingml/2006/main">
          <a:srgbClr val="1A1F25"/>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8293028362e43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06B30F-B634-4073-BAE7-C3DDAEF92A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01318">
                  <a:alpha val="96000"/>
                </a:srgbClr>
              </a:gs>
              <a:gs pos="43000">
                <a:srgbClr val="1A1F25">
                  <a:alpha val="90000"/>
                </a:srgbClr>
              </a:gs>
              <a:gs pos="78000">
                <a:srgbClr val="1A1F25">
                  <a:alpha val="22000"/>
                </a:srgbClr>
              </a:gs>
              <a:gs pos="100000">
                <a:srgbClr val="1A1F25">
                  <a:alpha val="12000"/>
                </a:srgbClr>
              </a:gs>
            </a:gsLst>
            <a:lin ang="54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A8845E-BBA8-445E-89A6-3FC219B31152}"/>
              </a:ext>
            </a:extLst>
          </p:cNvPr>
          <p:cNvSpPr>
            <a:spLocks xmlns:a="http://schemas.openxmlformats.org/drawingml/2006/main" noGrp="1"/>
          </p:cNvSpPr>
          <p:nvPr/>
        </p:nvSpPr>
        <p:spPr>
          <a:xfrm xmlns:a="http://schemas.openxmlformats.org/drawingml/2006/main">
            <a:off x="647700" y="4953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FCFAF6"/>
                </a:solidFill>
                <a:latin typeface="Bahnschrift"/>
                <a:ea typeface="Bahnschrift"/>
                <a:cs typeface="Bahnschrift"/>
              </a:defRPr>
            </a:pPr>
            <a:r>
              <a:rPr sz="3150" b="1" i="0">
                <a:solidFill>
                  <a:srgbClr val="FCFAF6"/>
                </a:solidFill>
                <a:latin typeface="Bahnschrift"/>
                <a:ea typeface="Bahnschrift"/>
                <a:cs typeface="Bahnschrift"/>
              </a:rPr>
              <a:t>Website and digital product</a:t>
            </a:r>
          </a:p>
        </p:txBody>
      </p:sp>
      <p:sp>
        <p:nvSpPr>
          <p:cNvPr id="4" name="">
            <a:extLst xmlns:a="http://schemas.openxmlformats.org/drawingml/2006/main">
              <a:ext uri="{FF2B5EF4-FFF2-40B4-BE49-F238E27FC236}">
                <a16:creationId xmlns:a16="http://schemas.microsoft.com/office/drawing/2014/main" id="{620ECCC4-EAF5-442E-96F8-389D3E3273BA}"/>
              </a:ext>
            </a:extLst>
          </p:cNvPr>
          <p:cNvSpPr>
            <a:spLocks xmlns:a="http://schemas.openxmlformats.org/drawingml/2006/main" noGrp="1"/>
          </p:cNvSpPr>
          <p:nvPr/>
        </p:nvSpPr>
        <p:spPr>
          <a:xfrm xmlns:a="http://schemas.openxmlformats.org/drawingml/2006/main">
            <a:off x="647700" y="1181100"/>
            <a:ext cx="800100" cy="38100"/>
          </a:xfrm>
          <a:prstGeom xmlns:a="http://schemas.openxmlformats.org/drawingml/2006/main" prst="rect">
            <a:avLst/>
          </a:prstGeom>
          <a:solidFill xmlns:a="http://schemas.openxmlformats.org/drawingml/2006/main">
            <a:srgbClr val="CBA36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D79EAE2-A60F-48C2-8503-4FB9671DE260}"/>
              </a:ext>
            </a:extLst>
          </p:cNvPr>
          <p:cNvSpPr>
            <a:spLocks xmlns:a="http://schemas.openxmlformats.org/drawingml/2006/main" noGrp="1"/>
          </p:cNvSpPr>
          <p:nvPr/>
        </p:nvSpPr>
        <p:spPr>
          <a:xfrm xmlns:a="http://schemas.openxmlformats.org/drawingml/2006/main">
            <a:off x="647700" y="152400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i="0">
                <a:solidFill>
                  <a:srgbClr val="FCFAF6"/>
                </a:solidFill>
                <a:latin typeface="Georgia"/>
                <a:ea typeface="Georgia"/>
                <a:cs typeface="Georgia"/>
              </a:defRPr>
            </a:pPr>
            <a:r>
              <a:rPr sz="2175" b="0" i="0">
                <a:solidFill>
                  <a:srgbClr val="FCFAF6"/>
                </a:solidFill>
                <a:latin typeface="Georgia"/>
                <a:ea typeface="Georgia"/>
                <a:cs typeface="Georgia"/>
              </a:rPr>
              <a:t>Structure the experience around Engineering Intelligence, Procurement and Fleet Intelligence.</a:t>
            </a:r>
          </a:p>
        </p:txBody>
      </p:sp>
      <p:sp>
        <p:nvSpPr>
          <p:cNvPr id="6" name="">
            <a:extLst xmlns:a="http://schemas.openxmlformats.org/drawingml/2006/main">
              <a:ext uri="{FF2B5EF4-FFF2-40B4-BE49-F238E27FC236}">
                <a16:creationId xmlns:a16="http://schemas.microsoft.com/office/drawing/2014/main" id="{A2E34127-D937-4F2C-8C8E-0237EAE0B6E6}"/>
              </a:ext>
            </a:extLst>
          </p:cNvPr>
          <p:cNvSpPr>
            <a:spLocks xmlns:a="http://schemas.openxmlformats.org/drawingml/2006/main" noGrp="1"/>
          </p:cNvSpPr>
          <p:nvPr/>
        </p:nvSpPr>
        <p:spPr>
          <a:xfrm xmlns:a="http://schemas.openxmlformats.org/drawingml/2006/main">
            <a:off x="666750" y="30099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CBA36A"/>
                </a:solidFill>
                <a:latin typeface="Bahnschrift"/>
                <a:ea typeface="Bahnschrift"/>
                <a:cs typeface="Bahnschrift"/>
              </a:defRPr>
            </a:pPr>
            <a:r>
              <a:rPr sz="1650" b="1" i="0">
                <a:solidFill>
                  <a:srgbClr val="CBA36A"/>
                </a:solidFill>
                <a:latin typeface="Bahnschrift"/>
                <a:ea typeface="Bahnschrift"/>
                <a:cs typeface="Bahnschrift"/>
              </a:rPr>
              <a:t>Navigation</a:t>
            </a:r>
          </a:p>
        </p:txBody>
      </p:sp>
      <p:sp>
        <p:nvSpPr>
          <p:cNvPr id="7" name="">
            <a:extLst xmlns:a="http://schemas.openxmlformats.org/drawingml/2006/main">
              <a:ext uri="{FF2B5EF4-FFF2-40B4-BE49-F238E27FC236}">
                <a16:creationId xmlns:a16="http://schemas.microsoft.com/office/drawing/2014/main" id="{733D31FF-7525-4254-9BC7-57D87C8298F1}"/>
              </a:ext>
            </a:extLst>
          </p:cNvPr>
          <p:cNvSpPr>
            <a:spLocks xmlns:a="http://schemas.openxmlformats.org/drawingml/2006/main" noGrp="1"/>
          </p:cNvSpPr>
          <p:nvPr/>
        </p:nvSpPr>
        <p:spPr>
          <a:xfrm xmlns:a="http://schemas.openxmlformats.org/drawingml/2006/main">
            <a:off x="2076450" y="300990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8000"/>
                  </a:srgbClr>
                </a:solidFill>
                <a:latin typeface="Bahnschrift"/>
                <a:ea typeface="Bahnschrift"/>
                <a:cs typeface="Bahnschrift"/>
              </a:defRPr>
            </a:pPr>
            <a:r>
              <a:rPr sz="1350" b="0" i="0">
                <a:solidFill>
                  <a:srgbClr val="FCFAF6">
                    <a:alpha val="78000"/>
                  </a:srgbClr>
                </a:solidFill>
                <a:latin typeface="Bahnschrift"/>
                <a:ea typeface="Bahnschrift"/>
                <a:cs typeface="Bahnschrift"/>
              </a:rPr>
              <a:t>Keep the main routes few and explicit. Surface capabilities, insights, the Aviatrix story and platform access.</a:t>
            </a:r>
          </a:p>
        </p:txBody>
      </p:sp>
      <p:sp>
        <p:nvSpPr>
          <p:cNvPr id="8" name="">
            <a:extLst xmlns:a="http://schemas.openxmlformats.org/drawingml/2006/main">
              <a:ext uri="{FF2B5EF4-FFF2-40B4-BE49-F238E27FC236}">
                <a16:creationId xmlns:a16="http://schemas.microsoft.com/office/drawing/2014/main" id="{0671E75E-B0A0-479D-9352-49318A0267B6}"/>
              </a:ext>
            </a:extLst>
          </p:cNvPr>
          <p:cNvSpPr>
            <a:spLocks xmlns:a="http://schemas.openxmlformats.org/drawingml/2006/main" noGrp="1"/>
          </p:cNvSpPr>
          <p:nvPr/>
        </p:nvSpPr>
        <p:spPr>
          <a:xfrm xmlns:a="http://schemas.openxmlformats.org/drawingml/2006/main">
            <a:off x="666750" y="40005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CBA36A"/>
                </a:solidFill>
                <a:latin typeface="Bahnschrift"/>
                <a:ea typeface="Bahnschrift"/>
                <a:cs typeface="Bahnschrift"/>
              </a:defRPr>
            </a:pPr>
            <a:r>
              <a:rPr sz="1650" b="1" i="0">
                <a:solidFill>
                  <a:srgbClr val="CBA36A"/>
                </a:solidFill>
                <a:latin typeface="Bahnschrift"/>
                <a:ea typeface="Bahnschrift"/>
                <a:cs typeface="Bahnschrift"/>
              </a:rPr>
              <a:t>Product UI</a:t>
            </a:r>
          </a:p>
        </p:txBody>
      </p:sp>
      <p:sp>
        <p:nvSpPr>
          <p:cNvPr id="9" name="">
            <a:extLst xmlns:a="http://schemas.openxmlformats.org/drawingml/2006/main">
              <a:ext uri="{FF2B5EF4-FFF2-40B4-BE49-F238E27FC236}">
                <a16:creationId xmlns:a16="http://schemas.microsoft.com/office/drawing/2014/main" id="{6DF0E2D2-5BDF-4238-8E14-DB7B71C8144D}"/>
              </a:ext>
            </a:extLst>
          </p:cNvPr>
          <p:cNvSpPr>
            <a:spLocks xmlns:a="http://schemas.openxmlformats.org/drawingml/2006/main" noGrp="1"/>
          </p:cNvSpPr>
          <p:nvPr/>
        </p:nvSpPr>
        <p:spPr>
          <a:xfrm xmlns:a="http://schemas.openxmlformats.org/drawingml/2006/main">
            <a:off x="2076450" y="400050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8000"/>
                  </a:srgbClr>
                </a:solidFill>
                <a:latin typeface="Bahnschrift"/>
                <a:ea typeface="Bahnschrift"/>
                <a:cs typeface="Bahnschrift"/>
              </a:defRPr>
            </a:pPr>
            <a:r>
              <a:rPr sz="1350" b="0" i="0">
                <a:solidFill>
                  <a:srgbClr val="FCFAF6">
                    <a:alpha val="78000"/>
                  </a:srgbClr>
                </a:solidFill>
                <a:latin typeface="Bahnschrift"/>
                <a:ea typeface="Bahnschrift"/>
                <a:cs typeface="Bahnschrift"/>
              </a:rPr>
              <a:t>Navy dominates. Copper identifies decisions, selected states and high-value insight. Cream supports long-form reading.</a:t>
            </a:r>
          </a:p>
        </p:txBody>
      </p:sp>
      <p:sp>
        <p:nvSpPr>
          <p:cNvPr id="10" name="">
            <a:extLst xmlns:a="http://schemas.openxmlformats.org/drawingml/2006/main">
              <a:ext uri="{FF2B5EF4-FFF2-40B4-BE49-F238E27FC236}">
                <a16:creationId xmlns:a16="http://schemas.microsoft.com/office/drawing/2014/main" id="{C5A9091C-7479-4400-B2D6-BBE9A41A3708}"/>
              </a:ext>
            </a:extLst>
          </p:cNvPr>
          <p:cNvSpPr>
            <a:spLocks xmlns:a="http://schemas.openxmlformats.org/drawingml/2006/main" noGrp="1"/>
          </p:cNvSpPr>
          <p:nvPr/>
        </p:nvSpPr>
        <p:spPr>
          <a:xfrm xmlns:a="http://schemas.openxmlformats.org/drawingml/2006/main">
            <a:off x="666750" y="49911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i="0">
                <a:solidFill>
                  <a:srgbClr val="CBA36A"/>
                </a:solidFill>
                <a:latin typeface="Bahnschrift"/>
                <a:ea typeface="Bahnschrift"/>
                <a:cs typeface="Bahnschrift"/>
              </a:defRPr>
            </a:pPr>
            <a:r>
              <a:rPr sz="1650" b="1" i="0">
                <a:solidFill>
                  <a:srgbClr val="CBA36A"/>
                </a:solidFill>
                <a:latin typeface="Bahnschrift"/>
                <a:ea typeface="Bahnschrift"/>
                <a:cs typeface="Bahnschrift"/>
              </a:rPr>
              <a:t>Data</a:t>
            </a:r>
          </a:p>
        </p:txBody>
      </p:sp>
      <p:sp>
        <p:nvSpPr>
          <p:cNvPr id="11" name="">
            <a:extLst xmlns:a="http://schemas.openxmlformats.org/drawingml/2006/main">
              <a:ext uri="{FF2B5EF4-FFF2-40B4-BE49-F238E27FC236}">
                <a16:creationId xmlns:a16="http://schemas.microsoft.com/office/drawing/2014/main" id="{6CDEA56A-99EA-4E35-9B6E-EBD35A3CBE85}"/>
              </a:ext>
            </a:extLst>
          </p:cNvPr>
          <p:cNvSpPr>
            <a:spLocks xmlns:a="http://schemas.openxmlformats.org/drawingml/2006/main" noGrp="1"/>
          </p:cNvSpPr>
          <p:nvPr/>
        </p:nvSpPr>
        <p:spPr>
          <a:xfrm xmlns:a="http://schemas.openxmlformats.org/drawingml/2006/main">
            <a:off x="2076450" y="499110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alpha val="78000"/>
                  </a:srgbClr>
                </a:solidFill>
                <a:latin typeface="Bahnschrift"/>
                <a:ea typeface="Bahnschrift"/>
                <a:cs typeface="Bahnschrift"/>
              </a:defRPr>
            </a:pPr>
            <a:r>
              <a:rPr sz="1350" b="0" i="0">
                <a:solidFill>
                  <a:srgbClr val="FCFAF6">
                    <a:alpha val="78000"/>
                  </a:srgbClr>
                </a:solidFill>
                <a:latin typeface="Bahnschrift"/>
                <a:ea typeface="Bahnschrift"/>
                <a:cs typeface="Bahnschrift"/>
              </a:rPr>
              <a:t>Tables, filters and charts must remain legible under pressure. Status and confidence should never rely on colour alone.</a:t>
            </a:r>
          </a:p>
        </p:txBody>
      </p:sp>
      <p:sp>
        <p:nvSpPr>
          <p:cNvPr id="12" name="">
            <a:extLst xmlns:a="http://schemas.openxmlformats.org/drawingml/2006/main">
              <a:ext uri="{FF2B5EF4-FFF2-40B4-BE49-F238E27FC236}">
                <a16:creationId xmlns:a16="http://schemas.microsoft.com/office/drawing/2014/main" id="{3DBC5FB4-7E75-4C8B-B706-1185EA12CAD8}"/>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FCFAF6">
                    <a:alpha val="72000"/>
                  </a:srgbClr>
                </a:solidFill>
                <a:latin typeface="Bahnschrift"/>
                <a:ea typeface="Bahnschrift"/>
                <a:cs typeface="Bahnschrift"/>
              </a:defRPr>
            </a:pPr>
            <a:r>
              <a:rPr sz="900" b="1" i="0">
                <a:solidFill>
                  <a:srgbClr val="FCFAF6">
                    <a:alpha val="72000"/>
                  </a:srgbClr>
                </a:solidFill>
                <a:latin typeface="Bahnschrift"/>
                <a:ea typeface="Bahnschrift"/>
                <a:cs typeface="Bahnschrift"/>
              </a:rPr>
              <a:t>AVTRIX BRAND BOOK</a:t>
            </a:r>
          </a:p>
        </p:txBody>
      </p:sp>
      <p:sp>
        <p:nvSpPr>
          <p:cNvPr id="13" name="">
            <a:extLst xmlns:a="http://schemas.openxmlformats.org/drawingml/2006/main">
              <a:ext uri="{FF2B5EF4-FFF2-40B4-BE49-F238E27FC236}">
                <a16:creationId xmlns:a16="http://schemas.microsoft.com/office/drawing/2014/main" id="{28E1A5FC-4C90-47F8-BB14-B14F6F5346AF}"/>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CBA36A"/>
                </a:solidFill>
                <a:latin typeface="Bahnschrift"/>
                <a:ea typeface="Bahnschrift"/>
                <a:cs typeface="Bahnschrift"/>
              </a:defRPr>
            </a:pPr>
            <a:r>
              <a:rPr sz="975" b="1" i="0">
                <a:solidFill>
                  <a:srgbClr val="CBA36A"/>
                </a:solidFill>
                <a:latin typeface="Bahnschrift"/>
                <a:ea typeface="Bahnschrift"/>
                <a:cs typeface="Bahnschrift"/>
              </a:rPr>
              <a:t>28</a:t>
            </a:r>
          </a:p>
        </p:txBody>
      </p:sp>
    </p:spTree>
    <p:extLst>
      <p:ext uri="{BB962C8B-B14F-4D97-AF65-F5344CB8AC3E}">
        <p14:creationId xmlns:p14="http://schemas.microsoft.com/office/powerpoint/2010/main" val="638723345"/>
      </p:ext>
    </p:extLst>
  </p:cSld>
</p:sld>
</file>

<file path=ppt/slides/slide29.xml><?xml version="1.0" encoding="utf-8"?>
<p:sld xmlns:p="http://schemas.openxmlformats.org/presentationml/2006/main">
  <p:cSld>
    <p:bg>
      <p:bgPr>
        <a:solidFill xmlns:a="http://schemas.openxmlformats.org/drawingml/2006/main">
          <a:srgbClr val="F5EDD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B62B84E-1B28-4A64-8828-9D0B8300FC45}"/>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75E7C7D1-FB4F-452E-9802-3A5D5F4CC6CA}"/>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29</a:t>
            </a:r>
          </a:p>
        </p:txBody>
      </p:sp>
      <p:sp>
        <p:nvSpPr>
          <p:cNvPr id="3" name="">
            <a:extLst xmlns:a="http://schemas.openxmlformats.org/drawingml/2006/main">
              <a:ext uri="{FF2B5EF4-FFF2-40B4-BE49-F238E27FC236}">
                <a16:creationId xmlns:a16="http://schemas.microsoft.com/office/drawing/2014/main" id="{8B4F1F1C-94D8-46B7-B302-19A41E009784}"/>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Applications</a:t>
            </a:r>
          </a:p>
        </p:txBody>
      </p:sp>
      <p:sp>
        <p:nvSpPr>
          <p:cNvPr id="4" name="">
            <a:extLst xmlns:a="http://schemas.openxmlformats.org/drawingml/2006/main">
              <a:ext uri="{FF2B5EF4-FFF2-40B4-BE49-F238E27FC236}">
                <a16:creationId xmlns:a16="http://schemas.microsoft.com/office/drawing/2014/main" id="{285AD62E-433C-4E86-B90C-9A0E29360218}"/>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F59AD2-187B-489B-80EE-2D12A74805A7}"/>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Consistency comes from restraint across every touchpoint</a:t>
            </a:r>
          </a:p>
        </p:txBody>
      </p:sp>
      <p:sp>
        <p:nvSpPr>
          <p:cNvPr id="6" name="">
            <a:extLst xmlns:a="http://schemas.openxmlformats.org/drawingml/2006/main">
              <a:ext uri="{FF2B5EF4-FFF2-40B4-BE49-F238E27FC236}">
                <a16:creationId xmlns:a16="http://schemas.microsoft.com/office/drawing/2014/main" id="{90844D5D-4A2D-4F71-BD5D-AA0FCAD10579}"/>
              </a:ext>
            </a:extLst>
          </p:cNvPr>
          <p:cNvSpPr>
            <a:spLocks xmlns:a="http://schemas.openxmlformats.org/drawingml/2006/main" noGrp="1"/>
          </p:cNvSpPr>
          <p:nvPr/>
        </p:nvSpPr>
        <p:spPr>
          <a:xfrm xmlns:a="http://schemas.openxmlformats.org/drawingml/2006/main">
            <a:off x="666750" y="16764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1E241240-46E8-43FD-ACB1-D6DF4505BA59}"/>
              </a:ext>
            </a:extLst>
          </p:cNvPr>
          <p:cNvSpPr>
            <a:spLocks xmlns:a="http://schemas.openxmlformats.org/drawingml/2006/main" noGrp="1"/>
          </p:cNvSpPr>
          <p:nvPr/>
        </p:nvSpPr>
        <p:spPr>
          <a:xfrm xmlns:a="http://schemas.openxmlformats.org/drawingml/2006/main">
            <a:off x="666750" y="2114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Report covers</a:t>
            </a:r>
          </a:p>
        </p:txBody>
      </p:sp>
      <p:sp>
        <p:nvSpPr>
          <p:cNvPr id="8" name="">
            <a:extLst xmlns:a="http://schemas.openxmlformats.org/drawingml/2006/main">
              <a:ext uri="{FF2B5EF4-FFF2-40B4-BE49-F238E27FC236}">
                <a16:creationId xmlns:a16="http://schemas.microsoft.com/office/drawing/2014/main" id="{E1CDAB8E-4591-4361-8B00-9088105FE954}"/>
              </a:ext>
            </a:extLst>
          </p:cNvPr>
          <p:cNvSpPr>
            <a:spLocks xmlns:a="http://schemas.openxmlformats.org/drawingml/2006/main" noGrp="1"/>
          </p:cNvSpPr>
          <p:nvPr/>
        </p:nvSpPr>
        <p:spPr>
          <a:xfrm xmlns:a="http://schemas.openxmlformats.org/drawingml/2006/main">
            <a:off x="666750" y="25908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02415A-3B90-4257-932A-E3065844D5BB}"/>
              </a:ext>
            </a:extLst>
          </p:cNvPr>
          <p:cNvSpPr>
            <a:spLocks xmlns:a="http://schemas.openxmlformats.org/drawingml/2006/main" noGrp="1"/>
          </p:cNvSpPr>
          <p:nvPr/>
        </p:nvSpPr>
        <p:spPr>
          <a:xfrm xmlns:a="http://schemas.openxmlformats.org/drawingml/2006/main">
            <a:off x="666750" y="28194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Large title, strong negative space, one copper signal.</a:t>
            </a:r>
          </a:p>
        </p:txBody>
      </p:sp>
      <p:sp>
        <p:nvSpPr>
          <p:cNvPr id="10" name="">
            <a:extLst xmlns:a="http://schemas.openxmlformats.org/drawingml/2006/main">
              <a:ext uri="{FF2B5EF4-FFF2-40B4-BE49-F238E27FC236}">
                <a16:creationId xmlns:a16="http://schemas.microsoft.com/office/drawing/2014/main" id="{0844EA05-4861-438D-BED6-72DE41211057}"/>
              </a:ext>
            </a:extLst>
          </p:cNvPr>
          <p:cNvSpPr>
            <a:spLocks xmlns:a="http://schemas.openxmlformats.org/drawingml/2006/main" noGrp="1"/>
          </p:cNvSpPr>
          <p:nvPr/>
        </p:nvSpPr>
        <p:spPr>
          <a:xfrm xmlns:a="http://schemas.openxmlformats.org/drawingml/2006/main">
            <a:off x="4191000" y="16764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AE34E9F4-0224-4043-95B7-55A93C2D9078}"/>
              </a:ext>
            </a:extLst>
          </p:cNvPr>
          <p:cNvSpPr>
            <a:spLocks xmlns:a="http://schemas.openxmlformats.org/drawingml/2006/main" noGrp="1"/>
          </p:cNvSpPr>
          <p:nvPr/>
        </p:nvSpPr>
        <p:spPr>
          <a:xfrm xmlns:a="http://schemas.openxmlformats.org/drawingml/2006/main">
            <a:off x="4191000" y="2114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Proposals</a:t>
            </a:r>
          </a:p>
        </p:txBody>
      </p:sp>
      <p:sp>
        <p:nvSpPr>
          <p:cNvPr id="12" name="">
            <a:extLst xmlns:a="http://schemas.openxmlformats.org/drawingml/2006/main">
              <a:ext uri="{FF2B5EF4-FFF2-40B4-BE49-F238E27FC236}">
                <a16:creationId xmlns:a16="http://schemas.microsoft.com/office/drawing/2014/main" id="{CAAF6B7C-05C1-4C2E-BAB6-3B6B3568825E}"/>
              </a:ext>
            </a:extLst>
          </p:cNvPr>
          <p:cNvSpPr>
            <a:spLocks xmlns:a="http://schemas.openxmlformats.org/drawingml/2006/main" noGrp="1"/>
          </p:cNvSpPr>
          <p:nvPr/>
        </p:nvSpPr>
        <p:spPr>
          <a:xfrm xmlns:a="http://schemas.openxmlformats.org/drawingml/2006/main">
            <a:off x="4191000" y="25908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6288F5-06DC-48E5-AF27-6154D43CD72F}"/>
              </a:ext>
            </a:extLst>
          </p:cNvPr>
          <p:cNvSpPr>
            <a:spLocks xmlns:a="http://schemas.openxmlformats.org/drawingml/2006/main" noGrp="1"/>
          </p:cNvSpPr>
          <p:nvPr/>
        </p:nvSpPr>
        <p:spPr>
          <a:xfrm xmlns:a="http://schemas.openxmlformats.org/drawingml/2006/main">
            <a:off x="4191000" y="28194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Clear decision structure and disciplined evidence.</a:t>
            </a:r>
          </a:p>
        </p:txBody>
      </p:sp>
      <p:sp>
        <p:nvSpPr>
          <p:cNvPr id="14" name="">
            <a:extLst xmlns:a="http://schemas.openxmlformats.org/drawingml/2006/main">
              <a:ext uri="{FF2B5EF4-FFF2-40B4-BE49-F238E27FC236}">
                <a16:creationId xmlns:a16="http://schemas.microsoft.com/office/drawing/2014/main" id="{B1818C2A-5EE3-4E5C-BA4C-C5DFC2A59133}"/>
              </a:ext>
            </a:extLst>
          </p:cNvPr>
          <p:cNvSpPr>
            <a:spLocks xmlns:a="http://schemas.openxmlformats.org/drawingml/2006/main" noGrp="1"/>
          </p:cNvSpPr>
          <p:nvPr/>
        </p:nvSpPr>
        <p:spPr>
          <a:xfrm xmlns:a="http://schemas.openxmlformats.org/drawingml/2006/main">
            <a:off x="7715250" y="16764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03</a:t>
            </a:r>
          </a:p>
        </p:txBody>
      </p:sp>
      <p:sp>
        <p:nvSpPr>
          <p:cNvPr id="15" name="">
            <a:extLst xmlns:a="http://schemas.openxmlformats.org/drawingml/2006/main">
              <a:ext uri="{FF2B5EF4-FFF2-40B4-BE49-F238E27FC236}">
                <a16:creationId xmlns:a16="http://schemas.microsoft.com/office/drawing/2014/main" id="{9BE6D9B4-8ABE-40AA-B072-E02F5CD26BC8}"/>
              </a:ext>
            </a:extLst>
          </p:cNvPr>
          <p:cNvSpPr>
            <a:spLocks xmlns:a="http://schemas.openxmlformats.org/drawingml/2006/main" noGrp="1"/>
          </p:cNvSpPr>
          <p:nvPr/>
        </p:nvSpPr>
        <p:spPr>
          <a:xfrm xmlns:a="http://schemas.openxmlformats.org/drawingml/2006/main">
            <a:off x="7715250" y="2114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Presentations</a:t>
            </a:r>
          </a:p>
        </p:txBody>
      </p:sp>
      <p:sp>
        <p:nvSpPr>
          <p:cNvPr id="16" name="">
            <a:extLst xmlns:a="http://schemas.openxmlformats.org/drawingml/2006/main">
              <a:ext uri="{FF2B5EF4-FFF2-40B4-BE49-F238E27FC236}">
                <a16:creationId xmlns:a16="http://schemas.microsoft.com/office/drawing/2014/main" id="{7A7D2C55-B3E6-4FFD-A3D7-BFD0D73055B1}"/>
              </a:ext>
            </a:extLst>
          </p:cNvPr>
          <p:cNvSpPr>
            <a:spLocks xmlns:a="http://schemas.openxmlformats.org/drawingml/2006/main" noGrp="1"/>
          </p:cNvSpPr>
          <p:nvPr/>
        </p:nvSpPr>
        <p:spPr>
          <a:xfrm xmlns:a="http://schemas.openxmlformats.org/drawingml/2006/main">
            <a:off x="7715250" y="25908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8A6C18-4352-444D-93BC-232ADF4DECDF}"/>
              </a:ext>
            </a:extLst>
          </p:cNvPr>
          <p:cNvSpPr>
            <a:spLocks xmlns:a="http://schemas.openxmlformats.org/drawingml/2006/main" noGrp="1"/>
          </p:cNvSpPr>
          <p:nvPr/>
        </p:nvSpPr>
        <p:spPr>
          <a:xfrm xmlns:a="http://schemas.openxmlformats.org/drawingml/2006/main">
            <a:off x="7715250" y="28194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Editorial pacing with data-led conclusions.</a:t>
            </a:r>
          </a:p>
        </p:txBody>
      </p:sp>
      <p:sp>
        <p:nvSpPr>
          <p:cNvPr id="18" name="">
            <a:extLst xmlns:a="http://schemas.openxmlformats.org/drawingml/2006/main">
              <a:ext uri="{FF2B5EF4-FFF2-40B4-BE49-F238E27FC236}">
                <a16:creationId xmlns:a16="http://schemas.microsoft.com/office/drawing/2014/main" id="{258F635D-1E87-4C78-9B9B-F769F52A1DC9}"/>
              </a:ext>
            </a:extLst>
          </p:cNvPr>
          <p:cNvSpPr>
            <a:spLocks xmlns:a="http://schemas.openxmlformats.org/drawingml/2006/main" noGrp="1"/>
          </p:cNvSpPr>
          <p:nvPr/>
        </p:nvSpPr>
        <p:spPr>
          <a:xfrm xmlns:a="http://schemas.openxmlformats.org/drawingml/2006/main">
            <a:off x="666750" y="37719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04</a:t>
            </a:r>
          </a:p>
        </p:txBody>
      </p:sp>
      <p:sp>
        <p:nvSpPr>
          <p:cNvPr id="19" name="">
            <a:extLst xmlns:a="http://schemas.openxmlformats.org/drawingml/2006/main">
              <a:ext uri="{FF2B5EF4-FFF2-40B4-BE49-F238E27FC236}">
                <a16:creationId xmlns:a16="http://schemas.microsoft.com/office/drawing/2014/main" id="{B08AB4FF-CDFA-4283-813E-BAE460E66965}"/>
              </a:ext>
            </a:extLst>
          </p:cNvPr>
          <p:cNvSpPr>
            <a:spLocks xmlns:a="http://schemas.openxmlformats.org/drawingml/2006/main" noGrp="1"/>
          </p:cNvSpPr>
          <p:nvPr/>
        </p:nvSpPr>
        <p:spPr>
          <a:xfrm xmlns:a="http://schemas.openxmlformats.org/drawingml/2006/main">
            <a:off x="666750" y="4210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LinkedIn</a:t>
            </a:r>
          </a:p>
        </p:txBody>
      </p:sp>
      <p:sp>
        <p:nvSpPr>
          <p:cNvPr id="20" name="">
            <a:extLst xmlns:a="http://schemas.openxmlformats.org/drawingml/2006/main">
              <a:ext uri="{FF2B5EF4-FFF2-40B4-BE49-F238E27FC236}">
                <a16:creationId xmlns:a16="http://schemas.microsoft.com/office/drawing/2014/main" id="{690301DC-F9CC-4BC7-A563-A5FA74A55852}"/>
              </a:ext>
            </a:extLst>
          </p:cNvPr>
          <p:cNvSpPr>
            <a:spLocks xmlns:a="http://schemas.openxmlformats.org/drawingml/2006/main" noGrp="1"/>
          </p:cNvSpPr>
          <p:nvPr/>
        </p:nvSpPr>
        <p:spPr>
          <a:xfrm xmlns:a="http://schemas.openxmlformats.org/drawingml/2006/main">
            <a:off x="666750" y="46863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150002D-D2BE-4E4B-8E01-F7BD12A8592B}"/>
              </a:ext>
            </a:extLst>
          </p:cNvPr>
          <p:cNvSpPr>
            <a:spLocks xmlns:a="http://schemas.openxmlformats.org/drawingml/2006/main" noGrp="1"/>
          </p:cNvSpPr>
          <p:nvPr/>
        </p:nvSpPr>
        <p:spPr>
          <a:xfrm xmlns:a="http://schemas.openxmlformats.org/drawingml/2006/main">
            <a:off x="666750" y="4914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One idea per post, strong crop, minimal copy.</a:t>
            </a:r>
          </a:p>
        </p:txBody>
      </p:sp>
      <p:sp>
        <p:nvSpPr>
          <p:cNvPr id="22" name="">
            <a:extLst xmlns:a="http://schemas.openxmlformats.org/drawingml/2006/main">
              <a:ext uri="{FF2B5EF4-FFF2-40B4-BE49-F238E27FC236}">
                <a16:creationId xmlns:a16="http://schemas.microsoft.com/office/drawing/2014/main" id="{D51D6643-3769-4440-82A2-92A29600C19E}"/>
              </a:ext>
            </a:extLst>
          </p:cNvPr>
          <p:cNvSpPr>
            <a:spLocks xmlns:a="http://schemas.openxmlformats.org/drawingml/2006/main" noGrp="1"/>
          </p:cNvSpPr>
          <p:nvPr/>
        </p:nvSpPr>
        <p:spPr>
          <a:xfrm xmlns:a="http://schemas.openxmlformats.org/drawingml/2006/main">
            <a:off x="4191000" y="37719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05</a:t>
            </a:r>
          </a:p>
        </p:txBody>
      </p:sp>
      <p:sp>
        <p:nvSpPr>
          <p:cNvPr id="23" name="">
            <a:extLst xmlns:a="http://schemas.openxmlformats.org/drawingml/2006/main">
              <a:ext uri="{FF2B5EF4-FFF2-40B4-BE49-F238E27FC236}">
                <a16:creationId xmlns:a16="http://schemas.microsoft.com/office/drawing/2014/main" id="{D22B2727-43D8-4729-BE24-DDF51AC13B3F}"/>
              </a:ext>
            </a:extLst>
          </p:cNvPr>
          <p:cNvSpPr>
            <a:spLocks xmlns:a="http://schemas.openxmlformats.org/drawingml/2006/main" noGrp="1"/>
          </p:cNvSpPr>
          <p:nvPr/>
        </p:nvSpPr>
        <p:spPr>
          <a:xfrm xmlns:a="http://schemas.openxmlformats.org/drawingml/2006/main">
            <a:off x="4191000" y="4210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Email</a:t>
            </a:r>
          </a:p>
        </p:txBody>
      </p:sp>
      <p:sp>
        <p:nvSpPr>
          <p:cNvPr id="24" name="">
            <a:extLst xmlns:a="http://schemas.openxmlformats.org/drawingml/2006/main">
              <a:ext uri="{FF2B5EF4-FFF2-40B4-BE49-F238E27FC236}">
                <a16:creationId xmlns:a16="http://schemas.microsoft.com/office/drawing/2014/main" id="{37AE7C48-F563-4747-9F45-B6157193095C}"/>
              </a:ext>
            </a:extLst>
          </p:cNvPr>
          <p:cNvSpPr>
            <a:spLocks xmlns:a="http://schemas.openxmlformats.org/drawingml/2006/main" noGrp="1"/>
          </p:cNvSpPr>
          <p:nvPr/>
        </p:nvSpPr>
        <p:spPr>
          <a:xfrm xmlns:a="http://schemas.openxmlformats.org/drawingml/2006/main">
            <a:off x="4191000" y="46863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7919F70-4BD6-4252-A430-622774B8CFFA}"/>
              </a:ext>
            </a:extLst>
          </p:cNvPr>
          <p:cNvSpPr>
            <a:spLocks xmlns:a="http://schemas.openxmlformats.org/drawingml/2006/main" noGrp="1"/>
          </p:cNvSpPr>
          <p:nvPr/>
        </p:nvSpPr>
        <p:spPr>
          <a:xfrm xmlns:a="http://schemas.openxmlformats.org/drawingml/2006/main">
            <a:off x="4191000" y="4914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Wordmark, contact details and no decorative banners.</a:t>
            </a:r>
          </a:p>
        </p:txBody>
      </p:sp>
      <p:sp>
        <p:nvSpPr>
          <p:cNvPr id="26" name="">
            <a:extLst xmlns:a="http://schemas.openxmlformats.org/drawingml/2006/main">
              <a:ext uri="{FF2B5EF4-FFF2-40B4-BE49-F238E27FC236}">
                <a16:creationId xmlns:a16="http://schemas.microsoft.com/office/drawing/2014/main" id="{C5288247-CC95-4F9A-9039-4C0AA13BE6F7}"/>
              </a:ext>
            </a:extLst>
          </p:cNvPr>
          <p:cNvSpPr>
            <a:spLocks xmlns:a="http://schemas.openxmlformats.org/drawingml/2006/main" noGrp="1"/>
          </p:cNvSpPr>
          <p:nvPr/>
        </p:nvSpPr>
        <p:spPr>
          <a:xfrm xmlns:a="http://schemas.openxmlformats.org/drawingml/2006/main">
            <a:off x="7715250" y="377190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i="0">
                <a:solidFill>
                  <a:srgbClr val="B8864F"/>
                </a:solidFill>
                <a:latin typeface="Bahnschrift"/>
                <a:ea typeface="Bahnschrift"/>
                <a:cs typeface="Bahnschrift"/>
              </a:defRPr>
            </a:pPr>
            <a:r>
              <a:rPr sz="1500" b="1" i="0">
                <a:solidFill>
                  <a:srgbClr val="B8864F"/>
                </a:solidFill>
                <a:latin typeface="Bahnschrift"/>
                <a:ea typeface="Bahnschrift"/>
                <a:cs typeface="Bahnschrift"/>
              </a:rPr>
              <a:t>06</a:t>
            </a:r>
          </a:p>
        </p:txBody>
      </p:sp>
      <p:sp>
        <p:nvSpPr>
          <p:cNvPr id="27" name="">
            <a:extLst xmlns:a="http://schemas.openxmlformats.org/drawingml/2006/main">
              <a:ext uri="{FF2B5EF4-FFF2-40B4-BE49-F238E27FC236}">
                <a16:creationId xmlns:a16="http://schemas.microsoft.com/office/drawing/2014/main" id="{6AF280E7-7351-4EC9-8D5B-D5FA27BA7F7F}"/>
              </a:ext>
            </a:extLst>
          </p:cNvPr>
          <p:cNvSpPr>
            <a:spLocks xmlns:a="http://schemas.openxmlformats.org/drawingml/2006/main" noGrp="1"/>
          </p:cNvSpPr>
          <p:nvPr/>
        </p:nvSpPr>
        <p:spPr>
          <a:xfrm xmlns:a="http://schemas.openxmlformats.org/drawingml/2006/main">
            <a:off x="7715250" y="42100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i="0">
                <a:solidFill>
                  <a:srgbClr val="1A1F25"/>
                </a:solidFill>
                <a:latin typeface="Bahnschrift"/>
                <a:ea typeface="Bahnschrift"/>
                <a:cs typeface="Bahnschrift"/>
              </a:defRPr>
            </a:pPr>
            <a:r>
              <a:rPr sz="2025" b="1" i="0">
                <a:solidFill>
                  <a:srgbClr val="1A1F25"/>
                </a:solidFill>
                <a:latin typeface="Bahnschrift"/>
                <a:ea typeface="Bahnschrift"/>
                <a:cs typeface="Bahnschrift"/>
              </a:rPr>
              <a:t>Business cards</a:t>
            </a:r>
          </a:p>
        </p:txBody>
      </p:sp>
      <p:sp>
        <p:nvSpPr>
          <p:cNvPr id="28" name="">
            <a:extLst xmlns:a="http://schemas.openxmlformats.org/drawingml/2006/main">
              <a:ext uri="{FF2B5EF4-FFF2-40B4-BE49-F238E27FC236}">
                <a16:creationId xmlns:a16="http://schemas.microsoft.com/office/drawing/2014/main" id="{D38C2A47-473A-47DF-BB3E-BC091A7D5B7B}"/>
              </a:ext>
            </a:extLst>
          </p:cNvPr>
          <p:cNvSpPr>
            <a:spLocks xmlns:a="http://schemas.openxmlformats.org/drawingml/2006/main" noGrp="1"/>
          </p:cNvSpPr>
          <p:nvPr/>
        </p:nvSpPr>
        <p:spPr>
          <a:xfrm xmlns:a="http://schemas.openxmlformats.org/drawingml/2006/main">
            <a:off x="7715250" y="4686300"/>
            <a:ext cx="7239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75A0D1E-2CCD-4B2F-B895-3D9BBB0A3C0F}"/>
              </a:ext>
            </a:extLst>
          </p:cNvPr>
          <p:cNvSpPr>
            <a:spLocks xmlns:a="http://schemas.openxmlformats.org/drawingml/2006/main" noGrp="1"/>
          </p:cNvSpPr>
          <p:nvPr/>
        </p:nvSpPr>
        <p:spPr>
          <a:xfrm xmlns:a="http://schemas.openxmlformats.org/drawingml/2006/main">
            <a:off x="7715250" y="49149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Navy field, cream type, copper X or edge detail.</a:t>
            </a:r>
          </a:p>
        </p:txBody>
      </p:sp>
      <p:sp>
        <p:nvSpPr>
          <p:cNvPr id="30" name="">
            <a:extLst xmlns:a="http://schemas.openxmlformats.org/drawingml/2006/main">
              <a:ext uri="{FF2B5EF4-FFF2-40B4-BE49-F238E27FC236}">
                <a16:creationId xmlns:a16="http://schemas.microsoft.com/office/drawing/2014/main" id="{DEEAED9F-4121-4963-A76D-9349DCE20913}"/>
              </a:ext>
            </a:extLst>
          </p:cNvPr>
          <p:cNvSpPr>
            <a:spLocks xmlns:a="http://schemas.openxmlformats.org/drawingml/2006/main" noGrp="1"/>
          </p:cNvSpPr>
          <p:nvPr/>
        </p:nvSpPr>
        <p:spPr>
          <a:xfrm xmlns:a="http://schemas.openxmlformats.org/drawingml/2006/main">
            <a:off x="666750" y="5905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i="1">
                <a:solidFill>
                  <a:srgbClr val="1A1F25"/>
                </a:solidFill>
                <a:latin typeface="Georgia"/>
                <a:ea typeface="Georgia"/>
                <a:cs typeface="Georgia"/>
              </a:defRPr>
            </a:pPr>
            <a:r>
              <a:rPr sz="1800" b="0" i="1">
                <a:solidFill>
                  <a:srgbClr val="1A1F25"/>
                </a:solidFill>
                <a:latin typeface="Georgia"/>
                <a:ea typeface="Georgia"/>
                <a:cs typeface="Georgia"/>
              </a:rPr>
              <a:t>The logo should sign the work. It should not become the work.</a:t>
            </a:r>
          </a:p>
        </p:txBody>
      </p:sp>
    </p:spTree>
    <p:extLst>
      <p:ext uri="{BB962C8B-B14F-4D97-AF65-F5344CB8AC3E}">
        <p14:creationId xmlns:p14="http://schemas.microsoft.com/office/powerpoint/2010/main" val="1068180610"/>
      </p:ext>
    </p:extLst>
  </p:cSld>
</p:sld>
</file>

<file path=ppt/slides/slide30.xml><?xml version="1.0" encoding="utf-8"?>
<p:sld xmlns:p="http://schemas.openxmlformats.org/presentationml/2006/main">
  <p:cSld>
    <p:bg>
      <p:bgPr>
        <a:solidFill xmlns:a="http://schemas.openxmlformats.org/drawingml/2006/main">
          <a:srgbClr val="FCFA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75349F2-8671-4257-AC66-9DE7B22014C4}"/>
              </a:ext>
            </a:extLst>
          </p:cNvPr>
          <p:cNvSpPr>
            <a:spLocks xmlns:a="http://schemas.openxmlformats.org/drawingml/2006/main" noGrp="1"/>
          </p:cNvSpPr>
          <p:nvPr/>
        </p:nvSpPr>
        <p:spPr>
          <a:xfrm xmlns:a="http://schemas.openxmlformats.org/drawingml/2006/main">
            <a:off x="647700" y="6496050"/>
            <a:ext cx="276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i="0">
                <a:solidFill>
                  <a:srgbClr val="1A1F25">
                    <a:alpha val="62000"/>
                  </a:srgbClr>
                </a:solidFill>
                <a:latin typeface="Bahnschrift"/>
                <a:ea typeface="Bahnschrift"/>
                <a:cs typeface="Bahnschrift"/>
              </a:defRPr>
            </a:pPr>
            <a:r>
              <a:rPr sz="900" b="1" i="0">
                <a:solidFill>
                  <a:srgbClr val="1A1F25">
                    <a:alpha val="62000"/>
                  </a:srgbClr>
                </a:solidFill>
                <a:latin typeface="Bahnschrift"/>
                <a:ea typeface="Bahnschrift"/>
                <a:cs typeface="Bahnschrift"/>
              </a:rPr>
              <a:t>AVTRIX BRAND BOOK</a:t>
            </a:r>
          </a:p>
        </p:txBody>
      </p:sp>
      <p:sp>
        <p:nvSpPr>
          <p:cNvPr id="2" name="">
            <a:extLst xmlns:a="http://schemas.openxmlformats.org/drawingml/2006/main">
              <a:ext uri="{FF2B5EF4-FFF2-40B4-BE49-F238E27FC236}">
                <a16:creationId xmlns:a16="http://schemas.microsoft.com/office/drawing/2014/main" id="{5CEB68C0-BE28-456F-89C4-015B1959D66D}"/>
              </a:ext>
            </a:extLst>
          </p:cNvPr>
          <p:cNvSpPr>
            <a:spLocks xmlns:a="http://schemas.openxmlformats.org/drawingml/2006/main" noGrp="1"/>
          </p:cNvSpPr>
          <p:nvPr/>
        </p:nvSpPr>
        <p:spPr>
          <a:xfrm xmlns:a="http://schemas.openxmlformats.org/drawingml/2006/main">
            <a:off x="11258550" y="648652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30</a:t>
            </a:r>
          </a:p>
        </p:txBody>
      </p:sp>
      <p:sp>
        <p:nvSpPr>
          <p:cNvPr id="3" name="">
            <a:extLst xmlns:a="http://schemas.openxmlformats.org/drawingml/2006/main">
              <a:ext uri="{FF2B5EF4-FFF2-40B4-BE49-F238E27FC236}">
                <a16:creationId xmlns:a16="http://schemas.microsoft.com/office/drawing/2014/main" id="{9B3C9021-15A3-4957-BBAA-0A780C46C33C}"/>
              </a:ext>
            </a:extLst>
          </p:cNvPr>
          <p:cNvSpPr>
            <a:spLocks xmlns:a="http://schemas.openxmlformats.org/drawingml/2006/main" noGrp="1"/>
          </p:cNvSpPr>
          <p:nvPr/>
        </p:nvSpPr>
        <p:spPr>
          <a:xfrm xmlns:a="http://schemas.openxmlformats.org/drawingml/2006/main">
            <a:off x="647700" y="4953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i="0">
                <a:solidFill>
                  <a:srgbClr val="1A1F25"/>
                </a:solidFill>
                <a:latin typeface="Bahnschrift"/>
                <a:ea typeface="Bahnschrift"/>
                <a:cs typeface="Bahnschrift"/>
              </a:defRPr>
            </a:pPr>
            <a:r>
              <a:rPr sz="3150" b="1" i="0">
                <a:solidFill>
                  <a:srgbClr val="1A1F25"/>
                </a:solidFill>
                <a:latin typeface="Bahnschrift"/>
                <a:ea typeface="Bahnschrift"/>
                <a:cs typeface="Bahnschrift"/>
              </a:rPr>
              <a:t>Guardrails and production handoff</a:t>
            </a:r>
          </a:p>
        </p:txBody>
      </p:sp>
      <p:sp>
        <p:nvSpPr>
          <p:cNvPr id="4" name="">
            <a:extLst xmlns:a="http://schemas.openxmlformats.org/drawingml/2006/main">
              <a:ext uri="{FF2B5EF4-FFF2-40B4-BE49-F238E27FC236}">
                <a16:creationId xmlns:a16="http://schemas.microsoft.com/office/drawing/2014/main" id="{7C6BEBDC-2DD6-44B8-822C-E57D9AD60F88}"/>
              </a:ext>
            </a:extLst>
          </p:cNvPr>
          <p:cNvSpPr>
            <a:spLocks xmlns:a="http://schemas.openxmlformats.org/drawingml/2006/main" noGrp="1"/>
          </p:cNvSpPr>
          <p:nvPr/>
        </p:nvSpPr>
        <p:spPr>
          <a:xfrm xmlns:a="http://schemas.openxmlformats.org/drawingml/2006/main">
            <a:off x="647700" y="1162050"/>
            <a:ext cx="762000" cy="38100"/>
          </a:xfrm>
          <a:prstGeom xmlns:a="http://schemas.openxmlformats.org/drawingml/2006/main" prst="rect">
            <a:avLst/>
          </a:prstGeom>
          <a:solidFill xmlns:a="http://schemas.openxmlformats.org/drawingml/2006/main">
            <a:srgbClr val="B8864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BB4FD6-405C-4558-8AEE-5F8EEFEA0C34}"/>
              </a:ext>
            </a:extLst>
          </p:cNvPr>
          <p:cNvSpPr>
            <a:spLocks xmlns:a="http://schemas.openxmlformats.org/drawingml/2006/main" noGrp="1"/>
          </p:cNvSpPr>
          <p:nvPr/>
        </p:nvSpPr>
        <p:spPr>
          <a:xfrm xmlns:a="http://schemas.openxmlformats.org/drawingml/2006/main">
            <a:off x="1581150" y="10668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6C737A"/>
                </a:solidFill>
                <a:latin typeface="Bahnschrift"/>
                <a:ea typeface="Bahnschrift"/>
                <a:cs typeface="Bahnschrift"/>
              </a:defRPr>
            </a:pPr>
            <a:r>
              <a:rPr sz="1350" b="0" i="0">
                <a:solidFill>
                  <a:srgbClr val="6C737A"/>
                </a:solidFill>
                <a:latin typeface="Bahnschrift"/>
                <a:ea typeface="Bahnschrift"/>
                <a:cs typeface="Bahnschrift"/>
              </a:rPr>
              <a:t>Protect the selected identity at every scale</a:t>
            </a:r>
          </a:p>
        </p:txBody>
      </p:sp>
      <p:sp>
        <p:nvSpPr>
          <p:cNvPr id="6" name="">
            <a:extLst xmlns:a="http://schemas.openxmlformats.org/drawingml/2006/main">
              <a:ext uri="{FF2B5EF4-FFF2-40B4-BE49-F238E27FC236}">
                <a16:creationId xmlns:a16="http://schemas.microsoft.com/office/drawing/2014/main" id="{CB87F295-5CAD-43AC-BAB6-18FBD8EDE87F}"/>
              </a:ext>
            </a:extLst>
          </p:cNvPr>
          <p:cNvSpPr>
            <a:spLocks xmlns:a="http://schemas.openxmlformats.org/drawingml/2006/main" noGrp="1"/>
          </p:cNvSpPr>
          <p:nvPr/>
        </p:nvSpPr>
        <p:spPr>
          <a:xfrm xmlns:a="http://schemas.openxmlformats.org/drawingml/2006/main">
            <a:off x="666750" y="1657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DO</a:t>
            </a:r>
          </a:p>
        </p:txBody>
      </p:sp>
      <p:sp>
        <p:nvSpPr>
          <p:cNvPr id="7" name="">
            <a:extLst xmlns:a="http://schemas.openxmlformats.org/drawingml/2006/main">
              <a:ext uri="{FF2B5EF4-FFF2-40B4-BE49-F238E27FC236}">
                <a16:creationId xmlns:a16="http://schemas.microsoft.com/office/drawing/2014/main" id="{1642A13E-5E90-42E6-A568-780CA8477B52}"/>
              </a:ext>
            </a:extLst>
          </p:cNvPr>
          <p:cNvSpPr>
            <a:spLocks xmlns:a="http://schemas.openxmlformats.org/drawingml/2006/main" noGrp="1"/>
          </p:cNvSpPr>
          <p:nvPr/>
        </p:nvSpPr>
        <p:spPr>
          <a:xfrm xmlns:a="http://schemas.openxmlformats.org/drawingml/2006/main">
            <a:off x="6191250" y="16573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i="0">
                <a:solidFill>
                  <a:srgbClr val="B8864F"/>
                </a:solidFill>
                <a:latin typeface="Bahnschrift"/>
                <a:ea typeface="Bahnschrift"/>
                <a:cs typeface="Bahnschrift"/>
              </a:defRPr>
            </a:pPr>
            <a:r>
              <a:rPr sz="1050" b="1" i="0">
                <a:solidFill>
                  <a:srgbClr val="B8864F"/>
                </a:solidFill>
                <a:latin typeface="Bahnschrift"/>
                <a:ea typeface="Bahnschrift"/>
                <a:cs typeface="Bahnschrift"/>
              </a:rPr>
              <a:t>DON'T</a:t>
            </a:r>
          </a:p>
        </p:txBody>
      </p:sp>
      <p:sp>
        <p:nvSpPr>
          <p:cNvPr id="8" name="">
            <a:extLst xmlns:a="http://schemas.openxmlformats.org/drawingml/2006/main">
              <a:ext uri="{FF2B5EF4-FFF2-40B4-BE49-F238E27FC236}">
                <a16:creationId xmlns:a16="http://schemas.microsoft.com/office/drawing/2014/main" id="{DA3F3387-73C7-4538-99AB-C62DF935EBFB}"/>
              </a:ext>
            </a:extLst>
          </p:cNvPr>
          <p:cNvSpPr>
            <a:spLocks xmlns:a="http://schemas.openxmlformats.org/drawingml/2006/main" noGrp="1"/>
          </p:cNvSpPr>
          <p:nvPr/>
        </p:nvSpPr>
        <p:spPr>
          <a:xfrm xmlns:a="http://schemas.openxmlformats.org/drawingml/2006/main">
            <a:off x="666750" y="2038350"/>
            <a:ext cx="47625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Use the approved Aviatrix master</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Keep proportions and clear space</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Lead with navy and cream</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Use copper for insight and emphasis</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Write with calm technical authority</a:t>
            </a:r>
          </a:p>
          <a:p xmlns:a="http://schemas.openxmlformats.org/drawingml/2006/main">
            <a:pPr>
              <a:defRPr sz="1575" b="0" i="0">
                <a:solidFill>
                  <a:srgbClr val="1A1F25"/>
                </a:solidFill>
                <a:latin typeface="Bahnschrift"/>
                <a:ea typeface="Bahnschrift"/>
                <a:cs typeface="Bahnschrift"/>
              </a:defRPr>
            </a:pPr>
            <a:r>
              <a:rPr sz="1575" b="0" i="0">
                <a:solidFill>
                  <a:srgbClr val="1A1F25"/>
                </a:solidFill>
                <a:latin typeface="Bahnschrift"/>
                <a:ea typeface="Bahnschrift"/>
                <a:cs typeface="Bahnschrift"/>
              </a:rPr>
              <a:t>Verify technical and commercial claims</a:t>
            </a:r>
          </a:p>
        </p:txBody>
      </p:sp>
      <p:sp>
        <p:nvSpPr>
          <p:cNvPr id="9" name="">
            <a:extLst xmlns:a="http://schemas.openxmlformats.org/drawingml/2006/main">
              <a:ext uri="{FF2B5EF4-FFF2-40B4-BE49-F238E27FC236}">
                <a16:creationId xmlns:a16="http://schemas.microsoft.com/office/drawing/2014/main" id="{EC36B6A5-F02A-4CEA-A585-A911DF205BC5}"/>
              </a:ext>
            </a:extLst>
          </p:cNvPr>
          <p:cNvSpPr>
            <a:spLocks xmlns:a="http://schemas.openxmlformats.org/drawingml/2006/main" noGrp="1"/>
          </p:cNvSpPr>
          <p:nvPr/>
        </p:nvSpPr>
        <p:spPr>
          <a:xfrm xmlns:a="http://schemas.openxmlformats.org/drawingml/2006/main">
            <a:off x="6191250" y="2038350"/>
            <a:ext cx="47625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Trace or reinterpret the concept mark</a:t>
            </a:r>
          </a:p>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Stretch, rotate or add effects</a:t>
            </a:r>
          </a:p>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Turn copper into a dominant background</a:t>
            </a:r>
          </a:p>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Use generic flight or speed clichés</a:t>
            </a:r>
          </a:p>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Make unsupported superlative claims</a:t>
            </a:r>
          </a:p>
          <a:p xmlns:a="http://schemas.openxmlformats.org/drawingml/2006/main">
            <a:pPr>
              <a:defRPr sz="1575" b="0" i="0">
                <a:solidFill>
                  <a:srgbClr val="6C737A"/>
                </a:solidFill>
                <a:latin typeface="Bahnschrift"/>
                <a:ea typeface="Bahnschrift"/>
                <a:cs typeface="Bahnschrift"/>
              </a:defRPr>
            </a:pPr>
            <a:r>
              <a:rPr sz="1575" b="0" i="0">
                <a:solidFill>
                  <a:srgbClr val="6C737A"/>
                </a:solidFill>
                <a:latin typeface="Bahnschrift"/>
                <a:ea typeface="Bahnschrift"/>
                <a:cs typeface="Bahnschrift"/>
              </a:rPr>
              <a:t>Present concept files as production vectors</a:t>
            </a:r>
          </a:p>
        </p:txBody>
      </p:sp>
      <p:sp>
        <p:nvSpPr>
          <p:cNvPr id="10" name="">
            <a:extLst xmlns:a="http://schemas.openxmlformats.org/drawingml/2006/main">
              <a:ext uri="{FF2B5EF4-FFF2-40B4-BE49-F238E27FC236}">
                <a16:creationId xmlns:a16="http://schemas.microsoft.com/office/drawing/2014/main" id="{239B4AF2-C3E4-4C7E-8C47-66FACB463914}"/>
              </a:ext>
            </a:extLst>
          </p:cNvPr>
          <p:cNvSpPr>
            <a:spLocks xmlns:a="http://schemas.openxmlformats.org/drawingml/2006/main" noGrp="1"/>
          </p:cNvSpPr>
          <p:nvPr/>
        </p:nvSpPr>
        <p:spPr>
          <a:xfrm xmlns:a="http://schemas.openxmlformats.org/drawingml/2006/main">
            <a:off x="666750" y="4629150"/>
            <a:ext cx="10287000" cy="1219200"/>
          </a:xfrm>
          <a:prstGeom xmlns:a="http://schemas.openxmlformats.org/drawingml/2006/main" prst="roundRect">
            <a:avLst>
              <a:gd name="adj" fmla="val 10938"/>
            </a:avLst>
          </a:prstGeom>
          <a:solidFill xmlns:a="http://schemas.openxmlformats.org/drawingml/2006/main">
            <a:srgbClr val="1A1F2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62F75D-F738-4051-8E2E-532C493A98DA}"/>
              </a:ext>
            </a:extLst>
          </p:cNvPr>
          <p:cNvSpPr>
            <a:spLocks xmlns:a="http://schemas.openxmlformats.org/drawingml/2006/main" noGrp="1"/>
          </p:cNvSpPr>
          <p:nvPr/>
        </p:nvSpPr>
        <p:spPr>
          <a:xfrm xmlns:a="http://schemas.openxmlformats.org/drawingml/2006/main">
            <a:off x="952500" y="4876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i="0">
                <a:solidFill>
                  <a:srgbClr val="CBA36A"/>
                </a:solidFill>
                <a:latin typeface="Bahnschrift"/>
                <a:ea typeface="Bahnschrift"/>
                <a:cs typeface="Bahnschrift"/>
              </a:defRPr>
            </a:pPr>
            <a:r>
              <a:rPr sz="1800" b="1" i="0">
                <a:solidFill>
                  <a:srgbClr val="CBA36A"/>
                </a:solidFill>
                <a:latin typeface="Bahnschrift"/>
                <a:ea typeface="Bahnschrift"/>
                <a:cs typeface="Bahnschrift"/>
              </a:rPr>
              <a:t>Production requirement</a:t>
            </a:r>
          </a:p>
        </p:txBody>
      </p:sp>
      <p:sp>
        <p:nvSpPr>
          <p:cNvPr id="12" name="">
            <a:extLst xmlns:a="http://schemas.openxmlformats.org/drawingml/2006/main">
              <a:ext uri="{FF2B5EF4-FFF2-40B4-BE49-F238E27FC236}">
                <a16:creationId xmlns:a16="http://schemas.microsoft.com/office/drawing/2014/main" id="{5052A71C-852C-469F-A051-D99830377036}"/>
              </a:ext>
            </a:extLst>
          </p:cNvPr>
          <p:cNvSpPr>
            <a:spLocks xmlns:a="http://schemas.openxmlformats.org/drawingml/2006/main" noGrp="1"/>
          </p:cNvSpPr>
          <p:nvPr/>
        </p:nvSpPr>
        <p:spPr>
          <a:xfrm xmlns:a="http://schemas.openxmlformats.org/drawingml/2006/main">
            <a:off x="3619500" y="4819650"/>
            <a:ext cx="695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i="0">
                <a:solidFill>
                  <a:srgbClr val="FCFAF6"/>
                </a:solidFill>
                <a:latin typeface="Bahnschrift"/>
                <a:ea typeface="Bahnschrift"/>
                <a:cs typeface="Bahnschrift"/>
              </a:defRPr>
            </a:pPr>
            <a:r>
              <a:rPr sz="1350" b="0" i="0">
                <a:solidFill>
                  <a:srgbClr val="FCFAF6"/>
                </a:solidFill>
                <a:latin typeface="Bahnschrift"/>
                <a:ea typeface="Bahnschrift"/>
                <a:cs typeface="Bahnschrift"/>
              </a:rPr>
              <a:t>The selected AI-generated logo board is concept artwork. Before production, commission precise vector master artwork, standardise the Aviatrix geometry, confirm typefaces and gradient stops, test small sizes, and export controlled SVG, EPS, PDF and PNG masters.</a:t>
            </a:r>
          </a:p>
        </p:txBody>
      </p:sp>
      <p:sp>
        <p:nvSpPr>
          <p:cNvPr id="13" name="">
            <a:extLst xmlns:a="http://schemas.openxmlformats.org/drawingml/2006/main">
              <a:ext uri="{FF2B5EF4-FFF2-40B4-BE49-F238E27FC236}">
                <a16:creationId xmlns:a16="http://schemas.microsoft.com/office/drawing/2014/main" id="{1A823924-A026-4298-A11D-B4FAC0C2E44D}"/>
              </a:ext>
            </a:extLst>
          </p:cNvPr>
          <p:cNvSpPr>
            <a:spLocks xmlns:a="http://schemas.openxmlformats.org/drawingml/2006/main" noGrp="1"/>
          </p:cNvSpPr>
          <p:nvPr/>
        </p:nvSpPr>
        <p:spPr>
          <a:xfrm xmlns:a="http://schemas.openxmlformats.org/drawingml/2006/main">
            <a:off x="666750" y="61531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i="0">
                <a:solidFill>
                  <a:srgbClr val="B8864F"/>
                </a:solidFill>
                <a:latin typeface="Bahnschrift"/>
                <a:ea typeface="Bahnschrift"/>
                <a:cs typeface="Bahnschrift"/>
              </a:defRPr>
            </a:pPr>
            <a:r>
              <a:rPr sz="975" b="1" i="0">
                <a:solidFill>
                  <a:srgbClr val="B8864F"/>
                </a:solidFill>
                <a:latin typeface="Bahnschrift"/>
                <a:ea typeface="Bahnschrift"/>
                <a:cs typeface="Bahnschrift"/>
              </a:rPr>
              <a:t>END OF MASTER GUIDE  |  AVTRIX BRAND BOOK V1.0</a:t>
            </a:r>
          </a:p>
        </p:txBody>
      </p:sp>
    </p:spTree>
    <p:extLst>
      <p:ext uri="{BB962C8B-B14F-4D97-AF65-F5344CB8AC3E}">
        <p14:creationId xmlns:p14="http://schemas.microsoft.com/office/powerpoint/2010/main" val="548534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2026-10-07T22:18:14.9210000Z</dcterms:created>
  <dcterms:modified xsi:type="dcterms:W3CDTF">2026-10-07T22:18:14.9220000Z</dcterms:modified>
</coreProperties>
</file>